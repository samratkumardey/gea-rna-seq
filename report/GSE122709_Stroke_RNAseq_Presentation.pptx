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Alignment Rate (%)</c:v>
                </c:pt>
              </c:strCache>
            </c:strRef>
          </c:tx>
          <c:spPr>
            <a:solidFill>
              <a:srgbClr val="0D7377"/>
            </a:solidFill>
            <a:effectLst/>
          </c:spPr>
          <c:invertIfNegative val="0"/>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0D7377"/>
              </a:solidFill>
              <a:effectLst/>
            </c:spPr>
          </c:dPt>
          <c:dPt>
            <c:idx val="1"/>
            <c:invertIfNegative val="0"/>
            <c:bubble3D val="0"/>
            <c:spPr>
              <a:solidFill>
                <a:srgbClr val="0D7377"/>
              </a:solidFill>
              <a:effectLst/>
            </c:spPr>
          </c:dPt>
          <c:dPt>
            <c:idx val="2"/>
            <c:invertIfNegative val="0"/>
            <c:bubble3D val="0"/>
            <c:spPr>
              <a:solidFill>
                <a:srgbClr val="0D7377"/>
              </a:solidFill>
              <a:effectLst/>
            </c:spPr>
          </c:dPt>
          <c:dPt>
            <c:idx val="3"/>
            <c:invertIfNegative val="0"/>
            <c:bubble3D val="0"/>
            <c:spPr>
              <a:solidFill>
                <a:srgbClr val="0D7377"/>
              </a:solidFill>
              <a:effectLst/>
            </c:spPr>
          </c:dPt>
          <c:dPt>
            <c:idx val="4"/>
            <c:invertIfNegative val="0"/>
            <c:bubble3D val="0"/>
            <c:spPr>
              <a:solidFill>
                <a:srgbClr val="0D7377"/>
              </a:solidFill>
              <a:effectLst/>
            </c:spPr>
          </c:dPt>
          <c:dPt>
            <c:idx val="5"/>
            <c:invertIfNegative val="0"/>
            <c:bubble3D val="0"/>
            <c:spPr>
              <a:solidFill>
                <a:srgbClr val="1368AA"/>
              </a:solidFill>
              <a:effectLst/>
            </c:spPr>
          </c:dPt>
          <c:dPt>
            <c:idx val="6"/>
            <c:invertIfNegative val="0"/>
            <c:bubble3D val="0"/>
            <c:spPr>
              <a:solidFill>
                <a:srgbClr val="1368AA"/>
              </a:solidFill>
              <a:effectLst/>
            </c:spPr>
          </c:dPt>
          <c:dPt>
            <c:idx val="7"/>
            <c:invertIfNegative val="0"/>
            <c:bubble3D val="0"/>
            <c:spPr>
              <a:solidFill>
                <a:srgbClr val="1368AA"/>
              </a:solidFill>
              <a:effectLst/>
            </c:spPr>
          </c:dPt>
          <c:dPt>
            <c:idx val="8"/>
            <c:invertIfNegative val="0"/>
            <c:bubble3D val="0"/>
            <c:spPr>
              <a:solidFill>
                <a:srgbClr val="1368AA"/>
              </a:solidFill>
              <a:effectLst/>
            </c:spPr>
          </c:dPt>
          <c:dPt>
            <c:idx val="9"/>
            <c:invertIfNegative val="0"/>
            <c:bubble3D val="0"/>
            <c:spPr>
              <a:solidFill>
                <a:srgbClr val="1368AA"/>
              </a:solidFill>
              <a:effectLst/>
            </c:spPr>
          </c:dPt>
          <c:dPt>
            <c:idx val="10"/>
            <c:invertIfNegative val="0"/>
            <c:bubble3D val="0"/>
            <c:spPr>
              <a:solidFill>
                <a:srgbClr val="C0392B"/>
              </a:solidFill>
              <a:effectLst/>
            </c:spPr>
          </c:dPt>
          <c:dPt>
            <c:idx val="11"/>
            <c:invertIfNegative val="0"/>
            <c:bubble3D val="0"/>
            <c:spPr>
              <a:solidFill>
                <a:srgbClr val="C0392B"/>
              </a:solidFill>
              <a:effectLst/>
            </c:spPr>
          </c:dPt>
          <c:dPt>
            <c:idx val="12"/>
            <c:invertIfNegative val="0"/>
            <c:bubble3D val="0"/>
            <c:spPr>
              <a:solidFill>
                <a:srgbClr val="C0392B"/>
              </a:solidFill>
              <a:effectLst/>
            </c:spPr>
          </c:dPt>
          <c:dPt>
            <c:idx val="13"/>
            <c:invertIfNegative val="0"/>
            <c:bubble3D val="0"/>
            <c:spPr>
              <a:solidFill>
                <a:srgbClr val="C0392B"/>
              </a:solidFill>
              <a:effectLst/>
            </c:spPr>
          </c:dPt>
          <c:dPt>
            <c:idx val="14"/>
            <c:invertIfNegative val="0"/>
            <c:bubble3D val="0"/>
            <c:spPr>
              <a:solidFill>
                <a:srgbClr val="C0392B"/>
              </a:solidFill>
              <a:effectLst/>
            </c:spPr>
          </c:dPt>
          <c:cat>
            <c:multiLvlStrRef>
              <c:f>Sheet1!$A$2:$A$16</c:f>
              <c:multiLvlStrCache>
                <c:ptCount val="15"/>
                <c:lvl>
                  <c:pt idx="0">
                    <c:v>NC_1</c:v>
                  </c:pt>
                  <c:pt idx="1">
                    <c:v>NC_3</c:v>
                  </c:pt>
                  <c:pt idx="2">
                    <c:v>NC_4</c:v>
                  </c:pt>
                  <c:pt idx="3">
                    <c:v>NC_5</c:v>
                  </c:pt>
                  <c:pt idx="4">
                    <c:v>NC_6</c:v>
                  </c:pt>
                  <c:pt idx="5">
                    <c:v>D1_1</c:v>
                  </c:pt>
                  <c:pt idx="6">
                    <c:v>D1_2</c:v>
                  </c:pt>
                  <c:pt idx="7">
                    <c:v>D1_3</c:v>
                  </c:pt>
                  <c:pt idx="8">
                    <c:v>D1_4</c:v>
                  </c:pt>
                  <c:pt idx="9">
                    <c:v>D1_5</c:v>
                  </c:pt>
                  <c:pt idx="10">
                    <c:v>D2_1</c:v>
                  </c:pt>
                  <c:pt idx="11">
                    <c:v>D2_2</c:v>
                  </c:pt>
                  <c:pt idx="12">
                    <c:v>D2_3</c:v>
                  </c:pt>
                  <c:pt idx="13">
                    <c:v>D2_4</c:v>
                  </c:pt>
                  <c:pt idx="14">
                    <c:v>D2_6</c:v>
                  </c:pt>
                </c:lvl>
              </c:multiLvlStrCache>
            </c:multiLvlStrRef>
          </c:cat>
          <c:val>
            <c:numRef>
              <c:f>Sheet1!$B$2:$B$16</c:f>
              <c:numCache>
                <c:formatCode>General</c:formatCode>
                <c:ptCount val="15"/>
                <c:pt idx="0">
                  <c:v>94.82</c:v>
                </c:pt>
                <c:pt idx="1">
                  <c:v>95.71</c:v>
                </c:pt>
                <c:pt idx="2">
                  <c:v>95.78</c:v>
                </c:pt>
                <c:pt idx="3">
                  <c:v>95.19</c:v>
                </c:pt>
                <c:pt idx="4">
                  <c:v>92.45</c:v>
                </c:pt>
                <c:pt idx="5">
                  <c:v>95.28</c:v>
                </c:pt>
                <c:pt idx="6">
                  <c:v>95.85</c:v>
                </c:pt>
                <c:pt idx="7">
                  <c:v>94.69</c:v>
                </c:pt>
                <c:pt idx="8">
                  <c:v>95.52</c:v>
                </c:pt>
                <c:pt idx="9">
                  <c:v>95.56</c:v>
                </c:pt>
                <c:pt idx="10">
                  <c:v>95.48</c:v>
                </c:pt>
                <c:pt idx="11">
                  <c:v>95.42</c:v>
                </c:pt>
                <c:pt idx="12">
                  <c:v>95.22</c:v>
                </c:pt>
                <c:pt idx="13">
                  <c:v>94.84</c:v>
                </c:pt>
                <c:pt idx="14">
                  <c:v>96.04</c:v>
                </c:pt>
              </c:numCache>
            </c:numRef>
          </c:val>
        </c:ser>
        <c:dLbls>
          <c:numFmt formatCode="#,##0" sourceLinked="0"/>
          <c:txPr>
            <a:bodyPr/>
            <a:lstStyle/>
            <a:p>
              <a:pPr>
                <a:defRPr b="0" i="0" strike="noStrike" sz="8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97"/>
          <c:min val="90"/>
        </c:scaling>
        <c:delete val="0"/>
        <c:axPos val="l"/>
        <c:majorGridlines>
          <c:spPr>
            <a:ln w="6350" cap="flat">
              <a:solidFill>
                <a:srgbClr val="E2E8F0"/>
              </a:solidFill>
              <a:prstDash val="solid"/>
              <a:round/>
            </a:ln>
          </c:spPr>
        </c:majorGridlines>
        <c:title>
          <c:tx>
            <c:rich>
              <a:bodyPr/>
              <a:lstStyle/>
              <a:p>
                <a:pPr>
                  <a:defRPr sz="1000" b="0" i="0" u="none" strike="noStrike">
                    <a:solidFill>
                      <a:srgbClr val="64748B"/>
                    </a:solidFill>
                    <a:latin typeface="Arial"/>
                  </a:defRPr>
                </a:pPr>
                <a:r>
                  <a:rPr sz="1000" b="0" i="0" u="none" strike="noStrike">
                    <a:solidFill>
                      <a:srgbClr val="64748B"/>
                    </a:solidFill>
                    <a:latin typeface="Arial"/>
                  </a:rPr>
                  <a:t>Alignment Rate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DEG Count</c:v>
                </c:pt>
              </c:strCache>
            </c:strRef>
          </c:tx>
          <c:spPr>
            <a:solidFill>
              <a:srgbClr val="1368AA"/>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368AA"/>
              </a:solidFill>
              <a:effectLst/>
            </c:spPr>
          </c:dPt>
          <c:dPt>
            <c:idx val="1"/>
            <c:invertIfNegative val="0"/>
            <c:bubble3D val="0"/>
            <c:spPr>
              <a:solidFill>
                <a:srgbClr val="C0392B"/>
              </a:solidFill>
              <a:effectLst/>
            </c:spPr>
          </c:dPt>
          <c:dPt>
            <c:idx val="2"/>
            <c:invertIfNegative val="0"/>
            <c:bubble3D val="0"/>
            <c:spPr>
              <a:solidFill>
                <a:srgbClr val="F2A900"/>
              </a:solidFill>
              <a:effectLst/>
            </c:spPr>
          </c:dPt>
          <c:dPt>
            <c:idx val="3"/>
            <c:invertIfNegative val="0"/>
            <c:bubble3D val="0"/>
            <c:spPr>
              <a:solidFill>
                <a:srgbClr val="1368AA"/>
              </a:solidFill>
              <a:effectLst/>
            </c:spPr>
          </c:dPt>
          <c:dPt>
            <c:idx val="4"/>
            <c:invertIfNegative val="0"/>
            <c:bubble3D val="0"/>
            <c:spPr>
              <a:solidFill>
                <a:srgbClr val="C0392B"/>
              </a:solidFill>
              <a:effectLst/>
            </c:spPr>
          </c:dPt>
          <c:cat>
            <c:multiLvlStrRef>
              <c:f>Sheet1!$A$2:$A$6</c:f>
              <c:multiLvlStrCache>
                <c:ptCount val="5"/>
                <c:lvl>
                  <c:pt idx="0">
                    <c:v>Day 1 — Acute</c:v>
                  </c:pt>
                  <c:pt idx="1">
                    <c:v>Day 2 — Subacute</c:v>
                  </c:pt>
                  <c:pt idx="2">
                    <c:v>Shared (D1∩D2)</c:v>
                  </c:pt>
                  <c:pt idx="3">
                    <c:v>D1 Only</c:v>
                  </c:pt>
                  <c:pt idx="4">
                    <c:v>D2 Only</c:v>
                  </c:pt>
                </c:lvl>
              </c:multiLvlStrCache>
            </c:multiLvlStrRef>
          </c:cat>
          <c:val>
            <c:numRef>
              <c:f>Sheet1!$B$2:$B$6</c:f>
              <c:numCache>
                <c:formatCode>General</c:formatCode>
                <c:ptCount val="5"/>
                <c:pt idx="0">
                  <c:v>8594</c:v>
                </c:pt>
                <c:pt idx="1">
                  <c:v>60</c:v>
                </c:pt>
                <c:pt idx="2">
                  <c:v>55</c:v>
                </c:pt>
                <c:pt idx="3">
                  <c:v>8539</c:v>
                </c:pt>
                <c:pt idx="4">
                  <c:v>5</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Number of DEGs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Welcome. This presentation covers a complete bulk RNA-seq analysis of peripheral blood transcriptomes from acute ischemic stroke patients. We used publicly available data from NCBI GEO (accession GSE122709), encompassing 15 subjects: 5 healthy controls, 5 patients at Day 1 post-stroke (acute phase), and 5 at Day 2 (subacute phase). All analysis was performed from raw FASTQ files through differential expression and pathway enrichment — a fully reproducible pipeline run on a standard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(Agenda)
This presentation follows the structure of a scientific paper: background, methods, results, and discussion. We will walk through each step of the bioinformatics pipeline, show the actual figures generated, and connect the computational findings to the biology of stroke. Feel free to ask questions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(Background)
Ischemic stroke occurs when a clot blocks cerebral blood flow. Within minutes, ischemia triggers necrosis and inflammation. This activates peripheral immune cells — monocytes and neutrophils enter the bloodstream and brain, driving secondary injury.
We study peripheral blood because it's accessible. PBMCs (peripheral blood mononuclear cells) change their gene expression rapidly after stroke, reflecting the systemic immune response. RNA-seq gives us an unbiased, whole-genome snapshot of this response.
Our three questions drive the entire analysis: what changes, when does it change, and what pathways explain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(Dataset)
The dataset comes from a 2019 publication studying transcriptomic changes in blood after ischemic stroke. The design is straightforward: 5 healthy controls, 5 acute stroke patients sampled on Day 1, and 5 subacute patients sampled on Day 2.
Note that the same patients were NOT sampled twice — these are three independent cohorts at different timepoints. This is a cross-sectional design within each timepoint.
All 15 samples were downloaded from NCBI SRA using the SRA Toolkit. We downloaded approximately 98 GB of raw FASTQ data across 30 files (2 per sample for paired-end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(Pipeline)
The pipeline has six major steps. Steps 1-4 are bash scripts run in WSL2 (Ubuntu 22.04), while Steps 5-6 are R scripts.
Step 1: Downloaded all 15 samples from NCBI SRA using prefetch + fasterq-dump. Total ~98 GB.
Step 2: FastQC checked each file individually; MultiQC aggregated all 30 reports.
Step 3: HISAT2 aligned 150bp paired-end reads to GRCh38. SAMtools sorted and indexed BAMs.
Step 4: featureCounts counted reads per gene using GENCODE v44 annotation.
Step 5: DESeq2 tested two contrasts: D1 vs NC (acute) and D2 vs NC (subacute).
Step 6: clusterProfiler ran GO, KEGG, and GSEA enrichment for each contrast.
The entire pipeline ran on a 16 GB RAM laptop — demonstrating that sophisticated genomics analysis is accessible without HPC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(QC)
FastQC checks each FASTQ file independently. MultiQC aggregates all 30 reports into one dashboard for easy comparison.
The important takeaway: zero samples failed. All proceeded to alignment without trimming.
The two 'FAIL' flags are not real failures — they are expected artifacts of RNA-seq:
- High duplication is expected because highly-expressed genes generate many identical reads
- Per-base sequence content bias at the start is caused by random hexamer priming during library preparation — universal and harmless
The observation that D1 stroke samples have lower duplication than controls is biologically interesting: it suggests that the transcriptome is more diverse during acute stroke, with many different genes being activated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(Alignment)
HISAT2 is a splice-aware aligner — critical for RNA-seq because many reads span exon-exon junctions created during mRNA splicing.
The alignment rate measures what percentage of input reads were successfully mapped to the reference genome (GRCh38, the latest human assembly). Our mean rate of 95.1% is excellent — most RNA-seq studies aim for &gt;85%.
The rates are remarkably consistent across all three groups (NC, D1, D2), which is important: it means that any differences we see in gene expression are due to biology, not technical differences in sequencing quality.
One sample (NC_6) had a slightly lower rate of 92.45%, still well above threshold.
Note: Due to 16 GB RAM constraints, we processed one sample at a time and limited SAMtools sort memory to 512 MB per thread to avoid out-of-memory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(Quantification)
featureCounts counts how many reads map to each gene. It uses the GENCODE v44 annotation — one of the most comprehensive human gene annotations with 62,700 features including protein-coding genes, lncRNAs, and pseudogenes.
Key parameters: -p counts read pairs (fragments) rather than individual reads; -s 0 means unstranded (both DNA strands counted equally); -B requires both reads of a pair to map.
The strandedness discovery is an important lesson: always check the strandedness of your library. An incorrect parameter (-s 2 instead of -s 0) cut our assignment rate in half. The diagnostic: look at which category has most unassigned reads. If it's Unassigned_Strand, the strandedness parameter is wrong.
After filtering for minimum expression (10 counts in at least 5 of 15 samples), we retained 23,995 genes — these are the genes with enough signal for reliable statistical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(PCA)
Principal Component Analysis (PCA) is a dimensionality reduction technique. Instead of looking at 23,995 gene expression measurements, PCA summarizes them into a few axes (principal components) that capture the most variance.
If our experiment worked, we expect to see three distinct clusters corresponding to our three conditions. The NC samples should cluster tightly (healthy baseline is consistent). D1 samples should be far from NC (large transcriptional response). D2 samples should be somewhere between NC and D1 (partial recovery).
PCA also reveals technical issues: if samples from the same group cluster in different places, there may be a batch effect or sample swap. No such issues were observed here.
The PCA was performed on VST (variance-stabilizing transformation) counts, which stabilize the variance across the expression range — important for proper distance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(DEG Day 1)
This is the headline result: 8,594 differentially expressed genes on Day 1 post-stroke. For context, a typical immune stimulation experiment (e.g., LPS-treated monocytes in the lab) yields 2,000–4,000 DEGs. The stroke response is roughly 2–4 times larger — reflecting the convergence of multiple simultaneous immune insults.
The volcano plot shows log2 fold change (x-axis) vs. statistical significance (y-axis). The dashed lines mark our thresholds: padj &lt; 0.05 and |LFC| &gt; 1 (2-fold change). Red dots are downregulated, blue dots are upregulated.
The most strongly downregulated gene, PPBP (also called CXCL7), is a platelet-derived chemokine. Its extreme downregulation (nearly 5-fold) likely reflects platelet consumption at the thrombus site and altered platelet-immune cell crosstalk during stroke.
Upregulated genes include immune effectors: ELANE (neutrophil elastase, a key marker of neutrophil activation), S100A12 (an alarmin), and chemokines CXCL9/CXCL10.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(DEG Day 2)
The collapse from 8,594 DEGs to just 60 in 24 hours is one of the most striking findings of this study. It tells us that the acute immune response is largely transient.
The volcano plot for Day 2 looks very different from Day 1: most genes fall inside the significance thresholds (they're no longer significantly different from controls), and the few that remain are scattered near the edges.
The two most notable upregulated genes are DUSP2 and DUSP8 — dual-specificity phosphatases. These are enzymes that deactivate MAP kinase signaling, specifically the ERK and p38 pathways that drive inflammation. Their upregulation is a clear molecular signature of active immune resolution.
This connects to a well-documented clinical phenomenon called Post-stroke Immunodepression Syndrome (PIDS), where the initial immune activation is followed by profound immune suppression, which unfortunately increases susceptibility to infections like pneumonia and UTIs.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(Temporal Overlap)
This slide compares the DEG landscapes at the two timepoints to understand which changes are transient vs. persistent.
The Venn diagram approach reveals that 8,539 genes (99.4% of Day 1 DEGs) are acute-only — they return to near-normal levels by Day 2. Only 55 genes remain significantly different from controls at both timepoints.
The 55 shared genes are arguably the most interesting biologically: they represent sustained changes that persist for at least 24 hours. These could be biomarkers of stroke severity or duration, or therapeutic targets.
The 5 genes unique to Day 2 represent late-emerging changes — genes that weren't significantly different on Day 1 but became so by Day 2. These might represent adaptive or resolution-phase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13 (KEGG Day 1)
KEGG (Kyoto Encyclopedia of Genes and Genomes) is a curated database of biological pathways. Enrichment analysis tests whether our DEGs are over-represented in any of these pathways beyond chance.
The dotplot shows pathways on the y-axis, gene ratio (proportion of DEGs in the pathway) on the x-axis, dot size represents gene count, and color represents significance (p-value).
Four major biological themes emerge:
1. Ribosome — the single most significant pathway (p=5.7×10⁻²³). 112 ribosomal protein genes (RPL/RPS families) are upregulated. This makes sense: activated immune cells need massive amounts of new protein to mount a response.
2. Neutrophil extracellular trap (NET) formation — NETs are web-like structures released by neutrophils, composed of DNA and granule proteins. They trap bacteria but also promote thrombosis and brain damage in stroke. This is a key mechanism of stroke-related immunothrombosis.
3. Oxidative phosphorylation — activated immune cells upregulate mitochondrial energy production to fuel cytokine synthesis and phagocytosis.
4. Chromatin remodeling — histone gene upregulation reflects the massive chromatin reorganization involved in NET formation and transcriptional reprogramming.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14 (GO Day 1)
Gene Ontology (GO) provides a controlled vocabulary of biological functions. GO enrichment analysis asks: do our DEGs cluster in specific functional categories?
With 63 enriched GO terms, the dominant biological theme is antimicrobial immune response. This reflects the activation of innate immunity — the body's first-line defense — in response to the ischemic damage signal.
Key genes driving this enrichment:
- ELANE (neutrophil elastase): released by neutrophils during NET formation
- S100A12: an alarmin — a damage signal that activates immune cells
- CXCL9, CXCL10: interferon-induced chemokines that recruit T cells and NK cells to sites of inflammation
- CXCL5: neutrophil chemoattractant
The GO analysis complements the KEGG analysis by providing a more granular, gene-level view of the biological functions enriched in our DEG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15 (NETs)
Neutrophil extracellular traps (NETs) are one of the most clinically relevant findings from our analysis. Let me explain what they are and why they matter in stroke.
NETs are web-like structures that neutrophils release as a defense mechanism. They're composed of decondensed chromatin (DNA + histones like H2A, H2B, H3, H4) coated with antimicrobial proteins like neutrophil elastase (ELANE) and myeloperoxidase. NETs trap and kill bacteria — useful against infection.
BUT in ischemic stroke, NETs are problematic. They:
1. Are found inside cerebral thrombi recovered during stroke thrombectomy
2. Promote platelet aggregation and coagulation — potentially worsening the original clot
3. Damage the blood-brain barrier, worsening brain injury
4. Trigger a cycle of inflammation and thrombosis
In animal models, treating stroke mice with DNase I (which degrades DNA in NETs) significantly reduces infarct size. This suggests that blocking NETs could be therapeutic.
Our RNA-seq data shows that the NET formation pathway is significantly upregulated in peripheral blood on Day 1 after stroke — we can detect this activation systemically before neutrophils even reach the brain in large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16 (Day 2 Enrichment)
With only 60 DEGs at Day 2, we have far fewer pathways enriched — just 2 KEGG and 6 GO terms. But these are biologically rich.
Efferocytosis: This is the process by which macrophages engulf and clear apoptotic (dying) cells. The acute immune response generated a lot of dying immune cells — and by Day 2, the 'cleanup crew' (macrophages) is active. This is a normal and necessary step in resolving inflammation.
Homologous recombination: This DNA repair pathway is enriched, suggesting that immune cells are repairing DNA damage caused by the burst of reactive oxygen species (ROS) during acute stroke. Oxidative stress damages DNA, and the homologous recombination pathway is a major repair mechanism.
The GO enrichment tells an even clearer story: all 6 enriched terms relate to MAP kinase phosphatase activity, driven entirely by DUSP2 and DUSP8. These enzymes switch off the ERK and p38 signaling cascades that drive inflammation. Their upregulation is the molecular signature of immune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17 (GSEA)
Gene Set Enrichment Analysis (GSEA) is a complementary method to ORA (over-representation analysis). The key difference is that GSEA doesn't require a hard cutoff — it uses all genes ranked by their effect size.
For our ranking, we used sign(LFC) × -log10(p-value). This gives genes that are strongly and significantly upregulated a high positive score, and strongly downregulated genes a high negative score.
GSEA then tests whether the genes in each GO term tend to cluster at the top (positive enrichment = upregulated in stroke) or bottom (negative enrichment = downregulated) of this ranked list.
NES = Normalized Enrichment Score. Values above 1.5 or below -1.5 indicate meaningful enrichment.
The key insight: GSEA found 155 enriched terms in Day 2 despite only 60 DEGs (ORA found only 6). This shows that coordinated, subtle shifts in gene expression continue during recovery — the immune system doesn't fully reset, it just quiets down enough that individual genes don't cross the significance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18 (Discussion)
This slide discusses the biological significance of our findings in the context of the stroke literature.
4.1 Magnitude: Our 8,594 DEGs is extraordinary. For context, stimulating isolated monocytes with LPS (a bacterial antigen) in the lab typically produces 2,000-4,000 DEGs. The fact that we see twice as many changes in stroke reflects the convergence of multiple simultaneous insults — ischemia, coagulation activation, immune cell mobilization, and cytokine storm all happening simultaneously.
4.2 Ribosomal signature: The ribosome pathway finding seems surprising but is well-established. When monocytes activate, they need to produce large quantities of new protein quickly — cytokines, surface receptors, enzymes. The first step is scaling up the protein synthesis machinery (ribosomes). This pattern has been reported in sepsis and trauma.
4.3 PPBP: The most downregulated gene is a platelet chemokine. Platelets are at the center of stroke pathophysiology (they form the clot). Their depletion at the thrombus site, combined with altered signaling to monocytes, produces this striking expression change.
4.4 Resolution and PIDS: The rapid normalization by Day 2 is clinically significant. While physiological resolution is expected, there's a well-documented dark side: some patients develop post-stroke immunodepression syndrome, where the immune suppression is so profound that they become susceptible to infections. PIDS occurs in roughly 30% of stroke patients and significantly worsens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19 (Limitations)
All good science is honest about its limitations. Here are ours:
1. Sample size: n=5 is small for gene expression studies. Our 8,594 DEGs at Day 1 likely represents a robust finding (with Bonferroni-corrected p-values still significant), but the 60 DEGs at Day 2 may be underestimated. A larger study might find more.
2. Cross-sectional design: We're comparing different patients at different timepoints, not following the same patients. This means we can't track individual immune trajectories. The ideal study would have the same patient sampled at Days 1, 2, 7, and 30.
3. PBMC heterogeneity: This is perhaps the biggest scientific limitation. We're seeing an average signal across multiple cell types. It's possible that the 'average' masks important cell-type-specific findings — for example, monocytes might show 5,000 DEGs while T cells show almost none, but they average out in bulk data. Single-cell RNA-seq is the solution.
4. Assignment rate: Technically resolved by the unstranded approach, but rates could be improved further with a different alignment strategy using splice junction databases.
5. Two timepoints: The recovery arc from acute stroke extends for weeks. We're only capturing the first 48 hours. When does the transcriptome fully normalize? Do some patients never normalize?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20 (Conclusions)
Let me summarize the five key conclusions from this project:
1. The scale of the transcriptomic response to stroke is remarkable — 8,594 genes changed. This is one of the largest gene expression responses recorded in any human disease condition studied by RNA-seq.
2. Four biological themes explain most of this response: protein synthesis, immunothrombosis (NETs), energy metabolism, and chemokine signaling. These are not random — they reflect the coordinated biological program of innate immune activation.
3. The response is largely transient. Within 24 hours, nearly all dysregulated genes return to baseline. This has an important clinical corollary: the window for anti-inflammatory intervention may be very narrow — the first 24 hours.
4. 55 genes don't recover — these are our most interesting candidates for biomarkers and therapeutic targets. Follow-up studies should focus on these.
5. Day 2 is not just 'less activated' — it's actively suppressed. DUSP enzymes are switching off signaling cascades. This connects to post-stroke immunodepression, which is a clinically important and potentially treatable phenomenon.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21 (Software)
This slide shows the complete software stack used in our analysis. All tools are open-source and freely available.
Key decisions:
- HISAT2 over STAR for alignment: HISAT2 has a smaller memory footprint (~8 GB for the GRCh38 index vs 30+ GB for STAR), making it feasible on our 16 GB machine.
- featureCounts over HTSeq-count: featureCounts is significantly faster and produces equivalent results.
- DESeq2 over edgeR or limma-voom: DESeq2 is the most widely used tool for bulk RNA-seq, with excellent performance characteristics at all sample sizes.
- apeglm shrinkage: This improves LFC estimates for low-count genes, reducing false positives in subsequent analyses.
- The entire pipeline is reproducible: the conda environment can be recreated from the environment.yml file, and all scripts are available in the project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22 (Thank You / Q&amp;A)
Thank you for your attention. This project demonstrated that a complete, publication-quality RNA-seq analysis is achievable from publicly available data using open-source tools on a consumer laptop.
The most impactful finding is the NET formation pathway enrichment — this connects peripheral blood transcriptomics directly to a therapeutically actionable mechanism in stroke. DNase I and PAD4 inhibitors that target NETs are in clinical trials for stroke; our bioinformatics evidence supports this research direction.
Anticipated discussion questions:
Q1: Bulk vs single-cell: Bulk RNA-seq is sufficient for pathway-level insights and is 100x cheaper. Single-cell would tell us which specific cell types drive each finding.
Q2: Larger sample size would increase power, potentially revealing more Day 2 DEGs and increasing confidence in the persistent gene set.
Q3: The 55 persistent genes could form a blood biomarker panel — if validated prospectively, they could predict stroke severity or outcome.
Q4: Clinical actionability of NETs: DNase I inhalation reduces NET burden systemically; clinical trials for stroke are ongoing.
Q5: Brain tissue response would show local inflammation, neuronal death, and glial activation — very different from blood, though connected by cytokine signaling.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368AA"/>
          </a:solidFill>
          <a:ln w="12700">
            <a:solidFill>
              <a:srgbClr val="1368AA"/>
            </a:solidFill>
            <a:prstDash val="solid"/>
          </a:ln>
        </p:spPr>
      </p:sp>
      <p:sp>
        <p:nvSpPr>
          <p:cNvPr id="3" name="Text 1"/>
          <p:cNvSpPr/>
          <p:nvPr/>
        </p:nvSpPr>
        <p:spPr>
          <a:xfrm>
            <a:off x="365760" y="0"/>
            <a:ext cx="11430000" cy="10058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DATA_SCI_8110 — Genomics Analytics  |  Course Project Presentation</a:t>
            </a:r>
            <a:endParaRPr lang="en-US" sz="1300" dirty="0"/>
          </a:p>
        </p:txBody>
      </p:sp>
      <p:sp>
        <p:nvSpPr>
          <p:cNvPr id="4" name="Text 2"/>
          <p:cNvSpPr/>
          <p:nvPr/>
        </p:nvSpPr>
        <p:spPr>
          <a:xfrm>
            <a:off x="548640" y="1143000"/>
            <a:ext cx="7498080" cy="2926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Differential Gene Expression Analysis</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of Peripheral Blood RNA-Seq in</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Acute Ischemic Stroke</a:t>
            </a:r>
            <a:endParaRPr lang="en-US" sz="3400" dirty="0"/>
          </a:p>
        </p:txBody>
      </p:sp>
      <p:sp>
        <p:nvSpPr>
          <p:cNvPr id="5" name="Shape 3"/>
          <p:cNvSpPr/>
          <p:nvPr/>
        </p:nvSpPr>
        <p:spPr>
          <a:xfrm>
            <a:off x="548640" y="4114800"/>
            <a:ext cx="6858000" cy="45720"/>
          </a:xfrm>
          <a:prstGeom prst="rect">
            <a:avLst/>
          </a:prstGeom>
          <a:solidFill>
            <a:srgbClr val="F2A900"/>
          </a:solidFill>
          <a:ln w="12700">
            <a:solidFill>
              <a:srgbClr val="F2A900"/>
            </a:solidFill>
            <a:prstDash val="solid"/>
          </a:ln>
        </p:spPr>
      </p:sp>
      <p:sp>
        <p:nvSpPr>
          <p:cNvPr id="6" name="Text 4"/>
          <p:cNvSpPr/>
          <p:nvPr/>
        </p:nvSpPr>
        <p:spPr>
          <a:xfrm>
            <a:off x="548640" y="4251960"/>
            <a:ext cx="7315200" cy="1005840"/>
          </a:xfrm>
          <a:prstGeom prst="rect">
            <a:avLst/>
          </a:prstGeom>
          <a:noFill/>
          <a:ln/>
        </p:spPr>
        <p:txBody>
          <a:bodyPr wrap="square" lIns="0" tIns="0" rIns="0" bIns="0" rtlCol="0" anchor="t"/>
          <a:lstStyle/>
          <a:p>
            <a:pPr indent="0" marL="0">
              <a:buNone/>
            </a:pPr>
            <a:r>
              <a:rPr lang="en-US" sz="1150" b="1" dirty="0">
                <a:solidFill>
                  <a:srgbClr val="F2A900"/>
                </a:solidFill>
                <a:latin typeface="Calibri" pitchFamily="34" charset="0"/>
                <a:ea typeface="Calibri" pitchFamily="34" charset="-122"/>
                <a:cs typeface="Calibri" pitchFamily="34" charset="-120"/>
              </a:rPr>
              <a:t>Dataset: </a:t>
            </a:r>
            <a:pPr indent="0" marL="0">
              <a:buNone/>
            </a:pPr>
            <a:r>
              <a:rPr lang="en-US" sz="1150" dirty="0">
                <a:solidFill>
                  <a:srgbClr val="CBD5E1"/>
                </a:solidFill>
                <a:latin typeface="Calibri" pitchFamily="34" charset="0"/>
                <a:ea typeface="Calibri" pitchFamily="34" charset="-122"/>
                <a:cs typeface="Calibri" pitchFamily="34" charset="-120"/>
              </a:rPr>
              <a:t>GSE122709 (NCBI GEO) | BioProject: PRJNA506047
</a:t>
            </a:r>
            <a:pPr indent="0" marL="0">
              <a:buNone/>
            </a:pPr>
            <a:r>
              <a:rPr lang="en-US" sz="1150" b="1" dirty="0">
                <a:solidFill>
                  <a:srgbClr val="F2A900"/>
                </a:solidFill>
                <a:latin typeface="Calibri" pitchFamily="34" charset="0"/>
                <a:ea typeface="Calibri" pitchFamily="34" charset="-122"/>
                <a:cs typeface="Calibri" pitchFamily="34" charset="-120"/>
              </a:rPr>
              <a:t>Samples: </a:t>
            </a:r>
            <a:pPr indent="0" marL="0">
              <a:buNone/>
            </a:pPr>
            <a:r>
              <a:rPr lang="en-US" sz="1150" dirty="0">
                <a:solidFill>
                  <a:srgbClr val="CBD5E1"/>
                </a:solidFill>
                <a:latin typeface="Calibri" pitchFamily="34" charset="0"/>
                <a:ea typeface="Calibri" pitchFamily="34" charset="-122"/>
                <a:cs typeface="Calibri" pitchFamily="34" charset="-120"/>
              </a:rPr>
              <a:t>15 PBMC RNA-seq (5 Controls, 5 Day-1 Stroke, 5 Day-2 Stroke)
</a:t>
            </a:r>
            <a:pPr indent="0" marL="0">
              <a:buNone/>
            </a:pPr>
            <a:r>
              <a:rPr lang="en-US" sz="1150" b="1" dirty="0">
                <a:solidFill>
                  <a:srgbClr val="F2A900"/>
                </a:solidFill>
                <a:latin typeface="Calibri" pitchFamily="34" charset="0"/>
                <a:ea typeface="Calibri" pitchFamily="34" charset="-122"/>
                <a:cs typeface="Calibri" pitchFamily="34" charset="-120"/>
              </a:rPr>
              <a:t>Platform: </a:t>
            </a:r>
            <a:pPr indent="0" marL="0">
              <a:buNone/>
            </a:pPr>
            <a:r>
              <a:rPr lang="en-US" sz="1150" dirty="0">
                <a:solidFill>
                  <a:srgbClr val="CBD5E1"/>
                </a:solidFill>
                <a:latin typeface="Calibri" pitchFamily="34" charset="0"/>
                <a:ea typeface="Calibri" pitchFamily="34" charset="-122"/>
                <a:cs typeface="Calibri" pitchFamily="34" charset="-120"/>
              </a:rPr>
              <a:t>Illumina HiSeq X Ten | 150 bp paired-end</a:t>
            </a:r>
            <a:endParaRPr lang="en-US" sz="1150" dirty="0"/>
          </a:p>
        </p:txBody>
      </p:sp>
      <p:sp>
        <p:nvSpPr>
          <p:cNvPr id="7" name="Text 5"/>
          <p:cNvSpPr/>
          <p:nvPr/>
        </p:nvSpPr>
        <p:spPr>
          <a:xfrm>
            <a:off x="548640" y="5349240"/>
            <a:ext cx="3657600" cy="3200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April 2026</a:t>
            </a:r>
            <a:endParaRPr lang="en-US" sz="1200" dirty="0"/>
          </a:p>
        </p:txBody>
      </p:sp>
      <p:sp>
        <p:nvSpPr>
          <p:cNvPr id="8" name="Shape 6"/>
          <p:cNvSpPr/>
          <p:nvPr/>
        </p:nvSpPr>
        <p:spPr>
          <a:xfrm>
            <a:off x="8412480" y="1143000"/>
            <a:ext cx="3474720" cy="4754880"/>
          </a:xfrm>
          <a:prstGeom prst="rect">
            <a:avLst/>
          </a:prstGeom>
          <a:solidFill>
            <a:srgbClr val="112B50"/>
          </a:solidFill>
          <a:ln w="12700">
            <a:solidFill>
              <a:srgbClr val="0D7377"/>
            </a:solidFill>
            <a:prstDash val="solid"/>
          </a:ln>
        </p:spPr>
      </p:sp>
      <p:sp>
        <p:nvSpPr>
          <p:cNvPr id="9" name="Text 7"/>
          <p:cNvSpPr/>
          <p:nvPr/>
        </p:nvSpPr>
        <p:spPr>
          <a:xfrm>
            <a:off x="8412480" y="1143000"/>
            <a:ext cx="3474720" cy="457200"/>
          </a:xfrm>
          <a:prstGeom prst="rect">
            <a:avLst/>
          </a:prstGeom>
          <a:noFill/>
          <a:ln/>
        </p:spPr>
        <p:txBody>
          <a:bodyPr wrap="square" lIns="0" tIns="0" rIns="0" bIns="0" rtlCol="0" anchor="ctr"/>
          <a:lstStyle/>
          <a:p>
            <a:pPr algn="ctr" indent="0" marL="0">
              <a:buNone/>
            </a:pPr>
            <a:r>
              <a:rPr lang="en-US" sz="1200" b="1" dirty="0">
                <a:solidFill>
                  <a:srgbClr val="0D7377"/>
                </a:solidFill>
                <a:latin typeface="Calibri" pitchFamily="34" charset="0"/>
                <a:ea typeface="Calibri" pitchFamily="34" charset="-122"/>
                <a:cs typeface="Calibri" pitchFamily="34" charset="-120"/>
              </a:rPr>
              <a:t>Key Numbers</a:t>
            </a:r>
            <a:endParaRPr lang="en-US" sz="1200" dirty="0"/>
          </a:p>
        </p:txBody>
      </p:sp>
      <p:sp>
        <p:nvSpPr>
          <p:cNvPr id="10" name="Shape 8"/>
          <p:cNvSpPr/>
          <p:nvPr/>
        </p:nvSpPr>
        <p:spPr>
          <a:xfrm>
            <a:off x="8595360" y="1691640"/>
            <a:ext cx="3108960" cy="685800"/>
          </a:xfrm>
          <a:prstGeom prst="rect">
            <a:avLst/>
          </a:prstGeom>
          <a:solidFill>
            <a:srgbClr val="1A3A5C"/>
          </a:solidFill>
          <a:ln w="12700">
            <a:solidFill>
              <a:srgbClr val="0D7377"/>
            </a:solidFill>
            <a:prstDash val="solid"/>
          </a:ln>
        </p:spPr>
      </p:sp>
      <p:sp>
        <p:nvSpPr>
          <p:cNvPr id="11" name="Text 9"/>
          <p:cNvSpPr/>
          <p:nvPr/>
        </p:nvSpPr>
        <p:spPr>
          <a:xfrm>
            <a:off x="8595360" y="1691640"/>
            <a:ext cx="1097280" cy="685800"/>
          </a:xfrm>
          <a:prstGeom prst="rect">
            <a:avLst/>
          </a:prstGeom>
          <a:noFill/>
          <a:ln/>
        </p:spPr>
        <p:txBody>
          <a:bodyPr wrap="square" lIns="0" tIns="0" rIns="0" bIns="0" rtlCol="0" anchor="ctr"/>
          <a:lstStyle/>
          <a:p>
            <a:pPr algn="ctr" indent="0" marL="0">
              <a:buNone/>
            </a:pPr>
            <a:r>
              <a:rPr lang="en-US" sz="2200" b="1" dirty="0">
                <a:solidFill>
                  <a:srgbClr val="F2A900"/>
                </a:solidFill>
                <a:latin typeface="Calibri" pitchFamily="34" charset="0"/>
                <a:ea typeface="Calibri" pitchFamily="34" charset="-122"/>
                <a:cs typeface="Calibri" pitchFamily="34" charset="-120"/>
              </a:rPr>
              <a:t>15</a:t>
            </a:r>
            <a:endParaRPr lang="en-US" sz="2200" dirty="0"/>
          </a:p>
        </p:txBody>
      </p:sp>
      <p:sp>
        <p:nvSpPr>
          <p:cNvPr id="12" name="Text 10"/>
          <p:cNvSpPr/>
          <p:nvPr/>
        </p:nvSpPr>
        <p:spPr>
          <a:xfrm>
            <a:off x="9692640" y="1691640"/>
            <a:ext cx="2011680" cy="6858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Human Subjects</a:t>
            </a:r>
            <a:endParaRPr lang="en-US" sz="1050" dirty="0"/>
          </a:p>
        </p:txBody>
      </p:sp>
      <p:sp>
        <p:nvSpPr>
          <p:cNvPr id="13" name="Shape 11"/>
          <p:cNvSpPr/>
          <p:nvPr/>
        </p:nvSpPr>
        <p:spPr>
          <a:xfrm>
            <a:off x="8595360" y="2514600"/>
            <a:ext cx="3108960" cy="685800"/>
          </a:xfrm>
          <a:prstGeom prst="rect">
            <a:avLst/>
          </a:prstGeom>
          <a:solidFill>
            <a:srgbClr val="1A3A5C"/>
          </a:solidFill>
          <a:ln w="12700">
            <a:solidFill>
              <a:srgbClr val="0D7377"/>
            </a:solidFill>
            <a:prstDash val="solid"/>
          </a:ln>
        </p:spPr>
      </p:sp>
      <p:sp>
        <p:nvSpPr>
          <p:cNvPr id="14" name="Text 12"/>
          <p:cNvSpPr/>
          <p:nvPr/>
        </p:nvSpPr>
        <p:spPr>
          <a:xfrm>
            <a:off x="8595360" y="2514600"/>
            <a:ext cx="1097280" cy="685800"/>
          </a:xfrm>
          <a:prstGeom prst="rect">
            <a:avLst/>
          </a:prstGeom>
          <a:noFill/>
          <a:ln/>
        </p:spPr>
        <p:txBody>
          <a:bodyPr wrap="square" lIns="0" tIns="0" rIns="0" bIns="0" rtlCol="0" anchor="ctr"/>
          <a:lstStyle/>
          <a:p>
            <a:pPr algn="ctr" indent="0" marL="0">
              <a:buNone/>
            </a:pPr>
            <a:r>
              <a:rPr lang="en-US" sz="2200" b="1" dirty="0">
                <a:solidFill>
                  <a:srgbClr val="F2A900"/>
                </a:solidFill>
                <a:latin typeface="Calibri" pitchFamily="34" charset="0"/>
                <a:ea typeface="Calibri" pitchFamily="34" charset="-122"/>
                <a:cs typeface="Calibri" pitchFamily="34" charset="-120"/>
              </a:rPr>
              <a:t>8,594</a:t>
            </a:r>
            <a:endParaRPr lang="en-US" sz="2200" dirty="0"/>
          </a:p>
        </p:txBody>
      </p:sp>
      <p:sp>
        <p:nvSpPr>
          <p:cNvPr id="15" name="Text 13"/>
          <p:cNvSpPr/>
          <p:nvPr/>
        </p:nvSpPr>
        <p:spPr>
          <a:xfrm>
            <a:off x="9692640" y="2514600"/>
            <a:ext cx="2011680" cy="6858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DEGs at Day 1</a:t>
            </a:r>
            <a:endParaRPr lang="en-US" sz="1050" dirty="0"/>
          </a:p>
        </p:txBody>
      </p:sp>
      <p:sp>
        <p:nvSpPr>
          <p:cNvPr id="16" name="Shape 14"/>
          <p:cNvSpPr/>
          <p:nvPr/>
        </p:nvSpPr>
        <p:spPr>
          <a:xfrm>
            <a:off x="8595360" y="3337560"/>
            <a:ext cx="3108960" cy="685800"/>
          </a:xfrm>
          <a:prstGeom prst="rect">
            <a:avLst/>
          </a:prstGeom>
          <a:solidFill>
            <a:srgbClr val="1A3A5C"/>
          </a:solidFill>
          <a:ln w="12700">
            <a:solidFill>
              <a:srgbClr val="0D7377"/>
            </a:solidFill>
            <a:prstDash val="solid"/>
          </a:ln>
        </p:spPr>
      </p:sp>
      <p:sp>
        <p:nvSpPr>
          <p:cNvPr id="17" name="Text 15"/>
          <p:cNvSpPr/>
          <p:nvPr/>
        </p:nvSpPr>
        <p:spPr>
          <a:xfrm>
            <a:off x="8595360" y="3337560"/>
            <a:ext cx="1097280" cy="685800"/>
          </a:xfrm>
          <a:prstGeom prst="rect">
            <a:avLst/>
          </a:prstGeom>
          <a:noFill/>
          <a:ln/>
        </p:spPr>
        <p:txBody>
          <a:bodyPr wrap="square" lIns="0" tIns="0" rIns="0" bIns="0" rtlCol="0" anchor="ctr"/>
          <a:lstStyle/>
          <a:p>
            <a:pPr algn="ctr" indent="0" marL="0">
              <a:buNone/>
            </a:pPr>
            <a:r>
              <a:rPr lang="en-US" sz="2200" b="1" dirty="0">
                <a:solidFill>
                  <a:srgbClr val="F2A900"/>
                </a:solidFill>
                <a:latin typeface="Calibri" pitchFamily="34" charset="0"/>
                <a:ea typeface="Calibri" pitchFamily="34" charset="-122"/>
                <a:cs typeface="Calibri" pitchFamily="34" charset="-120"/>
              </a:rPr>
              <a:t>60</a:t>
            </a:r>
            <a:endParaRPr lang="en-US" sz="2200" dirty="0"/>
          </a:p>
        </p:txBody>
      </p:sp>
      <p:sp>
        <p:nvSpPr>
          <p:cNvPr id="18" name="Text 16"/>
          <p:cNvSpPr/>
          <p:nvPr/>
        </p:nvSpPr>
        <p:spPr>
          <a:xfrm>
            <a:off x="9692640" y="3337560"/>
            <a:ext cx="2011680" cy="6858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DEGs at Day 2</a:t>
            </a:r>
            <a:endParaRPr lang="en-US" sz="1050" dirty="0"/>
          </a:p>
        </p:txBody>
      </p:sp>
      <p:sp>
        <p:nvSpPr>
          <p:cNvPr id="19" name="Shape 17"/>
          <p:cNvSpPr/>
          <p:nvPr/>
        </p:nvSpPr>
        <p:spPr>
          <a:xfrm>
            <a:off x="8595360" y="4160520"/>
            <a:ext cx="3108960" cy="685800"/>
          </a:xfrm>
          <a:prstGeom prst="rect">
            <a:avLst/>
          </a:prstGeom>
          <a:solidFill>
            <a:srgbClr val="1A3A5C"/>
          </a:solidFill>
          <a:ln w="12700">
            <a:solidFill>
              <a:srgbClr val="0D7377"/>
            </a:solidFill>
            <a:prstDash val="solid"/>
          </a:ln>
        </p:spPr>
      </p:sp>
      <p:sp>
        <p:nvSpPr>
          <p:cNvPr id="20" name="Text 18"/>
          <p:cNvSpPr/>
          <p:nvPr/>
        </p:nvSpPr>
        <p:spPr>
          <a:xfrm>
            <a:off x="8595360" y="4160520"/>
            <a:ext cx="1097280" cy="685800"/>
          </a:xfrm>
          <a:prstGeom prst="rect">
            <a:avLst/>
          </a:prstGeom>
          <a:noFill/>
          <a:ln/>
        </p:spPr>
        <p:txBody>
          <a:bodyPr wrap="square" lIns="0" tIns="0" rIns="0" bIns="0" rtlCol="0" anchor="ctr"/>
          <a:lstStyle/>
          <a:p>
            <a:pPr algn="ctr" indent="0" marL="0">
              <a:buNone/>
            </a:pPr>
            <a:r>
              <a:rPr lang="en-US" sz="2200" b="1" dirty="0">
                <a:solidFill>
                  <a:srgbClr val="F2A900"/>
                </a:solidFill>
                <a:latin typeface="Calibri" pitchFamily="34" charset="0"/>
                <a:ea typeface="Calibri" pitchFamily="34" charset="-122"/>
                <a:cs typeface="Calibri" pitchFamily="34" charset="-120"/>
              </a:rPr>
              <a:t>55</a:t>
            </a:r>
            <a:endParaRPr lang="en-US" sz="2200" dirty="0"/>
          </a:p>
        </p:txBody>
      </p:sp>
      <p:sp>
        <p:nvSpPr>
          <p:cNvPr id="21" name="Text 19"/>
          <p:cNvSpPr/>
          <p:nvPr/>
        </p:nvSpPr>
        <p:spPr>
          <a:xfrm>
            <a:off x="9692640" y="4160520"/>
            <a:ext cx="2011680" cy="6858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Persistent Genes</a:t>
            </a:r>
            <a:endParaRPr lang="en-US" sz="1050" dirty="0"/>
          </a:p>
        </p:txBody>
      </p:sp>
      <p:sp>
        <p:nvSpPr>
          <p:cNvPr id="22" name="Shape 20"/>
          <p:cNvSpPr/>
          <p:nvPr/>
        </p:nvSpPr>
        <p:spPr>
          <a:xfrm>
            <a:off x="8595360" y="4983480"/>
            <a:ext cx="3108960" cy="685800"/>
          </a:xfrm>
          <a:prstGeom prst="rect">
            <a:avLst/>
          </a:prstGeom>
          <a:solidFill>
            <a:srgbClr val="1A3A5C"/>
          </a:solidFill>
          <a:ln w="12700">
            <a:solidFill>
              <a:srgbClr val="0D7377"/>
            </a:solidFill>
            <a:prstDash val="solid"/>
          </a:ln>
        </p:spPr>
      </p:sp>
      <p:sp>
        <p:nvSpPr>
          <p:cNvPr id="23" name="Text 21"/>
          <p:cNvSpPr/>
          <p:nvPr/>
        </p:nvSpPr>
        <p:spPr>
          <a:xfrm>
            <a:off x="8595360" y="4983480"/>
            <a:ext cx="1097280" cy="685800"/>
          </a:xfrm>
          <a:prstGeom prst="rect">
            <a:avLst/>
          </a:prstGeom>
          <a:noFill/>
          <a:ln/>
        </p:spPr>
        <p:txBody>
          <a:bodyPr wrap="square" lIns="0" tIns="0" rIns="0" bIns="0" rtlCol="0" anchor="ctr"/>
          <a:lstStyle/>
          <a:p>
            <a:pPr algn="ctr" indent="0" marL="0">
              <a:buNone/>
            </a:pPr>
            <a:r>
              <a:rPr lang="en-US" sz="2200" b="1" dirty="0">
                <a:solidFill>
                  <a:srgbClr val="F2A900"/>
                </a:solidFill>
                <a:latin typeface="Calibri" pitchFamily="34" charset="0"/>
                <a:ea typeface="Calibri" pitchFamily="34" charset="-122"/>
                <a:cs typeface="Calibri" pitchFamily="34" charset="-120"/>
              </a:rPr>
              <a:t>12</a:t>
            </a:r>
            <a:endParaRPr lang="en-US" sz="2200" dirty="0"/>
          </a:p>
        </p:txBody>
      </p:sp>
      <p:sp>
        <p:nvSpPr>
          <p:cNvPr id="24" name="Text 22"/>
          <p:cNvSpPr/>
          <p:nvPr/>
        </p:nvSpPr>
        <p:spPr>
          <a:xfrm>
            <a:off x="9692640" y="4983480"/>
            <a:ext cx="2011680" cy="6858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KEGG Pathways</a:t>
            </a:r>
            <a:endParaRPr lang="en-US" sz="1050" dirty="0"/>
          </a:p>
        </p:txBody>
      </p:sp>
      <p:sp>
        <p:nvSpPr>
          <p:cNvPr id="25" name="Shape 23"/>
          <p:cNvSpPr/>
          <p:nvPr/>
        </p:nvSpPr>
        <p:spPr>
          <a:xfrm>
            <a:off x="0" y="6656832"/>
            <a:ext cx="12188952" cy="201168"/>
          </a:xfrm>
          <a:prstGeom prst="rect">
            <a:avLst/>
          </a:prstGeom>
          <a:solidFill>
            <a:srgbClr val="060E1E"/>
          </a:solidFill>
          <a:ln w="12700">
            <a:solidFill>
              <a:srgbClr val="060E1E"/>
            </a:solidFill>
            <a:prstDash val="solid"/>
          </a:ln>
        </p:spPr>
      </p:sp>
      <p:sp>
        <p:nvSpPr>
          <p:cNvPr id="26" name="Text 2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Slide 1 / 22</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1368AA"/>
          </a:solidFill>
          <a:ln w="12700">
            <a:solidFill>
              <a:srgbClr val="1368AA"/>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PRESENTATION OVERVIEW</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2 / 22</a:t>
            </a:r>
            <a:endParaRPr lang="en-US" sz="750" dirty="0"/>
          </a:p>
        </p:txBody>
      </p:sp>
      <p:sp>
        <p:nvSpPr>
          <p:cNvPr id="7" name="Text 5"/>
          <p:cNvSpPr/>
          <p:nvPr/>
        </p:nvSpPr>
        <p:spPr>
          <a:xfrm>
            <a:off x="365760" y="594360"/>
            <a:ext cx="10972800" cy="548640"/>
          </a:xfrm>
          <a:prstGeom prst="rect">
            <a:avLst/>
          </a:prstGeom>
          <a:noFill/>
          <a:ln/>
        </p:spPr>
        <p:txBody>
          <a:bodyPr wrap="square" lIns="0" tIns="0" rIns="0" bIns="0" rtlCol="0" anchor="ctr"/>
          <a:lstStyle/>
          <a:p>
            <a:pPr indent="0" marL="0">
              <a:buNone/>
            </a:pPr>
            <a:r>
              <a:rPr lang="en-US" sz="2600" b="1" dirty="0">
                <a:solidFill>
                  <a:srgbClr val="0B2545"/>
                </a:solidFill>
                <a:latin typeface="Calibri" pitchFamily="34" charset="0"/>
                <a:ea typeface="Calibri" pitchFamily="34" charset="-122"/>
                <a:cs typeface="Calibri" pitchFamily="34" charset="-120"/>
              </a:rPr>
              <a:t>Agenda</a:t>
            </a:r>
            <a:endParaRPr lang="en-US" sz="2600" dirty="0"/>
          </a:p>
        </p:txBody>
      </p:sp>
      <p:sp>
        <p:nvSpPr>
          <p:cNvPr id="8" name="Shape 6"/>
          <p:cNvSpPr/>
          <p:nvPr/>
        </p:nvSpPr>
        <p:spPr>
          <a:xfrm>
            <a:off x="274320" y="1280160"/>
            <a:ext cx="5669280" cy="109728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274320" y="1280160"/>
            <a:ext cx="502920" cy="1097280"/>
          </a:xfrm>
          <a:prstGeom prst="rect">
            <a:avLst/>
          </a:prstGeom>
          <a:solidFill>
            <a:srgbClr val="1368AA"/>
          </a:solidFill>
          <a:ln w="12700">
            <a:solidFill>
              <a:srgbClr val="1368AA"/>
            </a:solidFill>
            <a:prstDash val="solid"/>
          </a:ln>
        </p:spPr>
      </p:sp>
      <p:sp>
        <p:nvSpPr>
          <p:cNvPr id="10" name="Text 8"/>
          <p:cNvSpPr/>
          <p:nvPr/>
        </p:nvSpPr>
        <p:spPr>
          <a:xfrm>
            <a:off x="274320" y="1280160"/>
            <a:ext cx="50292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1" name="Text 9"/>
          <p:cNvSpPr/>
          <p:nvPr/>
        </p:nvSpPr>
        <p:spPr>
          <a:xfrm>
            <a:off x="868680" y="1353312"/>
            <a:ext cx="4937760" cy="347472"/>
          </a:xfrm>
          <a:prstGeom prst="rect">
            <a:avLst/>
          </a:prstGeom>
          <a:noFill/>
          <a:ln/>
        </p:spPr>
        <p:txBody>
          <a:bodyPr wrap="square" lIns="0" tIns="0" rIns="0" bIns="0" rtlCol="0" anchor="t"/>
          <a:lstStyle/>
          <a:p>
            <a:pPr indent="0" marL="0">
              <a:buNone/>
            </a:pPr>
            <a:r>
              <a:rPr lang="en-US" sz="1200" b="1" dirty="0">
                <a:solidFill>
                  <a:srgbClr val="0B2545"/>
                </a:solidFill>
                <a:latin typeface="Calibri" pitchFamily="34" charset="0"/>
                <a:ea typeface="Calibri" pitchFamily="34" charset="-122"/>
                <a:cs typeface="Calibri" pitchFamily="34" charset="-120"/>
              </a:rPr>
              <a:t>Background &amp; Motivation</a:t>
            </a:r>
            <a:endParaRPr lang="en-US" sz="1200" dirty="0"/>
          </a:p>
        </p:txBody>
      </p:sp>
      <p:sp>
        <p:nvSpPr>
          <p:cNvPr id="12" name="Text 10"/>
          <p:cNvSpPr/>
          <p:nvPr/>
        </p:nvSpPr>
        <p:spPr>
          <a:xfrm>
            <a:off x="868680" y="1719072"/>
            <a:ext cx="4937760" cy="59436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What is ischemic stroke? Why study blood? Why RNA-seq?</a:t>
            </a:r>
            <a:endParaRPr lang="en-US" sz="1000" dirty="0"/>
          </a:p>
        </p:txBody>
      </p:sp>
      <p:sp>
        <p:nvSpPr>
          <p:cNvPr id="13" name="Shape 11"/>
          <p:cNvSpPr/>
          <p:nvPr/>
        </p:nvSpPr>
        <p:spPr>
          <a:xfrm>
            <a:off x="274320" y="2560320"/>
            <a:ext cx="5669280" cy="109728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274320" y="2560320"/>
            <a:ext cx="502920" cy="1097280"/>
          </a:xfrm>
          <a:prstGeom prst="rect">
            <a:avLst/>
          </a:prstGeom>
          <a:solidFill>
            <a:srgbClr val="1368AA"/>
          </a:solidFill>
          <a:ln w="12700">
            <a:solidFill>
              <a:srgbClr val="1368AA"/>
            </a:solidFill>
            <a:prstDash val="solid"/>
          </a:ln>
        </p:spPr>
      </p:sp>
      <p:sp>
        <p:nvSpPr>
          <p:cNvPr id="15" name="Text 13"/>
          <p:cNvSpPr/>
          <p:nvPr/>
        </p:nvSpPr>
        <p:spPr>
          <a:xfrm>
            <a:off x="274320" y="2560320"/>
            <a:ext cx="50292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868680" y="2633472"/>
            <a:ext cx="4937760" cy="347472"/>
          </a:xfrm>
          <a:prstGeom prst="rect">
            <a:avLst/>
          </a:prstGeom>
          <a:noFill/>
          <a:ln/>
        </p:spPr>
        <p:txBody>
          <a:bodyPr wrap="square" lIns="0" tIns="0" rIns="0" bIns="0" rtlCol="0" anchor="t"/>
          <a:lstStyle/>
          <a:p>
            <a:pPr indent="0" marL="0">
              <a:buNone/>
            </a:pPr>
            <a:r>
              <a:rPr lang="en-US" sz="1200" b="1" dirty="0">
                <a:solidFill>
                  <a:srgbClr val="0B2545"/>
                </a:solidFill>
                <a:latin typeface="Calibri" pitchFamily="34" charset="0"/>
                <a:ea typeface="Calibri" pitchFamily="34" charset="-122"/>
                <a:cs typeface="Calibri" pitchFamily="34" charset="-120"/>
              </a:rPr>
              <a:t>Study Design &amp; Dataset</a:t>
            </a:r>
            <a:endParaRPr lang="en-US" sz="1200" dirty="0"/>
          </a:p>
        </p:txBody>
      </p:sp>
      <p:sp>
        <p:nvSpPr>
          <p:cNvPr id="17" name="Text 15"/>
          <p:cNvSpPr/>
          <p:nvPr/>
        </p:nvSpPr>
        <p:spPr>
          <a:xfrm>
            <a:off x="868680" y="2999232"/>
            <a:ext cx="4937760" cy="59436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15 subjects, 3 groups, SRA download, NCBI GEO</a:t>
            </a:r>
            <a:endParaRPr lang="en-US" sz="1000" dirty="0"/>
          </a:p>
        </p:txBody>
      </p:sp>
      <p:sp>
        <p:nvSpPr>
          <p:cNvPr id="18" name="Shape 16"/>
          <p:cNvSpPr/>
          <p:nvPr/>
        </p:nvSpPr>
        <p:spPr>
          <a:xfrm>
            <a:off x="274320" y="3840480"/>
            <a:ext cx="5669280" cy="109728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274320" y="3840480"/>
            <a:ext cx="502920" cy="1097280"/>
          </a:xfrm>
          <a:prstGeom prst="rect">
            <a:avLst/>
          </a:prstGeom>
          <a:solidFill>
            <a:srgbClr val="1368AA"/>
          </a:solidFill>
          <a:ln w="12700">
            <a:solidFill>
              <a:srgbClr val="1368AA"/>
            </a:solidFill>
            <a:prstDash val="solid"/>
          </a:ln>
        </p:spPr>
      </p:sp>
      <p:sp>
        <p:nvSpPr>
          <p:cNvPr id="20" name="Text 18"/>
          <p:cNvSpPr/>
          <p:nvPr/>
        </p:nvSpPr>
        <p:spPr>
          <a:xfrm>
            <a:off x="274320" y="3840480"/>
            <a:ext cx="50292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9"/>
          <p:cNvSpPr/>
          <p:nvPr/>
        </p:nvSpPr>
        <p:spPr>
          <a:xfrm>
            <a:off x="868680" y="3913632"/>
            <a:ext cx="4937760" cy="347472"/>
          </a:xfrm>
          <a:prstGeom prst="rect">
            <a:avLst/>
          </a:prstGeom>
          <a:noFill/>
          <a:ln/>
        </p:spPr>
        <p:txBody>
          <a:bodyPr wrap="square" lIns="0" tIns="0" rIns="0" bIns="0" rtlCol="0" anchor="t"/>
          <a:lstStyle/>
          <a:p>
            <a:pPr indent="0" marL="0">
              <a:buNone/>
            </a:pPr>
            <a:r>
              <a:rPr lang="en-US" sz="1200" b="1" dirty="0">
                <a:solidFill>
                  <a:srgbClr val="0B2545"/>
                </a:solidFill>
                <a:latin typeface="Calibri" pitchFamily="34" charset="0"/>
                <a:ea typeface="Calibri" pitchFamily="34" charset="-122"/>
                <a:cs typeface="Calibri" pitchFamily="34" charset="-120"/>
              </a:rPr>
              <a:t>Computational Pipeline</a:t>
            </a:r>
            <a:endParaRPr lang="en-US" sz="1200" dirty="0"/>
          </a:p>
        </p:txBody>
      </p:sp>
      <p:sp>
        <p:nvSpPr>
          <p:cNvPr id="22" name="Text 20"/>
          <p:cNvSpPr/>
          <p:nvPr/>
        </p:nvSpPr>
        <p:spPr>
          <a:xfrm>
            <a:off x="868680" y="4279392"/>
            <a:ext cx="4937760" cy="59436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QC → Alignment → Quantification → DESeq2 → Enrichment</a:t>
            </a:r>
            <a:endParaRPr lang="en-US" sz="1000" dirty="0"/>
          </a:p>
        </p:txBody>
      </p:sp>
      <p:sp>
        <p:nvSpPr>
          <p:cNvPr id="23" name="Shape 21"/>
          <p:cNvSpPr/>
          <p:nvPr/>
        </p:nvSpPr>
        <p:spPr>
          <a:xfrm>
            <a:off x="274320" y="5120640"/>
            <a:ext cx="5669280" cy="109728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274320" y="5120640"/>
            <a:ext cx="502920" cy="1097280"/>
          </a:xfrm>
          <a:prstGeom prst="rect">
            <a:avLst/>
          </a:prstGeom>
          <a:solidFill>
            <a:srgbClr val="1368AA"/>
          </a:solidFill>
          <a:ln w="12700">
            <a:solidFill>
              <a:srgbClr val="1368AA"/>
            </a:solidFill>
            <a:prstDash val="solid"/>
          </a:ln>
        </p:spPr>
      </p:sp>
      <p:sp>
        <p:nvSpPr>
          <p:cNvPr id="25" name="Text 23"/>
          <p:cNvSpPr/>
          <p:nvPr/>
        </p:nvSpPr>
        <p:spPr>
          <a:xfrm>
            <a:off x="274320" y="5120640"/>
            <a:ext cx="50292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4"/>
          <p:cNvSpPr/>
          <p:nvPr/>
        </p:nvSpPr>
        <p:spPr>
          <a:xfrm>
            <a:off x="868680" y="5193792"/>
            <a:ext cx="4937760" cy="347472"/>
          </a:xfrm>
          <a:prstGeom prst="rect">
            <a:avLst/>
          </a:prstGeom>
          <a:noFill/>
          <a:ln/>
        </p:spPr>
        <p:txBody>
          <a:bodyPr wrap="square" lIns="0" tIns="0" rIns="0" bIns="0" rtlCol="0" anchor="t"/>
          <a:lstStyle/>
          <a:p>
            <a:pPr indent="0" marL="0">
              <a:buNone/>
            </a:pPr>
            <a:r>
              <a:rPr lang="en-US" sz="1200" b="1" dirty="0">
                <a:solidFill>
                  <a:srgbClr val="0B2545"/>
                </a:solidFill>
                <a:latin typeface="Calibri" pitchFamily="34" charset="0"/>
                <a:ea typeface="Calibri" pitchFamily="34" charset="-122"/>
                <a:cs typeface="Calibri" pitchFamily="34" charset="-120"/>
              </a:rPr>
              <a:t>Results: Quality Control</a:t>
            </a:r>
            <a:endParaRPr lang="en-US" sz="1200" dirty="0"/>
          </a:p>
        </p:txBody>
      </p:sp>
      <p:sp>
        <p:nvSpPr>
          <p:cNvPr id="27" name="Text 25"/>
          <p:cNvSpPr/>
          <p:nvPr/>
        </p:nvSpPr>
        <p:spPr>
          <a:xfrm>
            <a:off x="868680" y="5559552"/>
            <a:ext cx="4937760" cy="59436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FastQC/MultiQC — uniformly high quality across all samples</a:t>
            </a:r>
            <a:endParaRPr lang="en-US" sz="1000" dirty="0"/>
          </a:p>
        </p:txBody>
      </p:sp>
      <p:sp>
        <p:nvSpPr>
          <p:cNvPr id="28" name="Shape 26"/>
          <p:cNvSpPr/>
          <p:nvPr/>
        </p:nvSpPr>
        <p:spPr>
          <a:xfrm>
            <a:off x="6263640" y="1280160"/>
            <a:ext cx="5669280" cy="109728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6263640" y="1280160"/>
            <a:ext cx="502920" cy="1097280"/>
          </a:xfrm>
          <a:prstGeom prst="rect">
            <a:avLst/>
          </a:prstGeom>
          <a:solidFill>
            <a:srgbClr val="1368AA"/>
          </a:solidFill>
          <a:ln w="12700">
            <a:solidFill>
              <a:srgbClr val="1368AA"/>
            </a:solidFill>
            <a:prstDash val="solid"/>
          </a:ln>
        </p:spPr>
      </p:sp>
      <p:sp>
        <p:nvSpPr>
          <p:cNvPr id="30" name="Text 28"/>
          <p:cNvSpPr/>
          <p:nvPr/>
        </p:nvSpPr>
        <p:spPr>
          <a:xfrm>
            <a:off x="6263640" y="1280160"/>
            <a:ext cx="50292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1" name="Text 29"/>
          <p:cNvSpPr/>
          <p:nvPr/>
        </p:nvSpPr>
        <p:spPr>
          <a:xfrm>
            <a:off x="6858000" y="1353312"/>
            <a:ext cx="4937760" cy="347472"/>
          </a:xfrm>
          <a:prstGeom prst="rect">
            <a:avLst/>
          </a:prstGeom>
          <a:noFill/>
          <a:ln/>
        </p:spPr>
        <p:txBody>
          <a:bodyPr wrap="square" lIns="0" tIns="0" rIns="0" bIns="0" rtlCol="0" anchor="t"/>
          <a:lstStyle/>
          <a:p>
            <a:pPr indent="0" marL="0">
              <a:buNone/>
            </a:pPr>
            <a:r>
              <a:rPr lang="en-US" sz="1200" b="1" dirty="0">
                <a:solidFill>
                  <a:srgbClr val="0B2545"/>
                </a:solidFill>
                <a:latin typeface="Calibri" pitchFamily="34" charset="0"/>
                <a:ea typeface="Calibri" pitchFamily="34" charset="-122"/>
                <a:cs typeface="Calibri" pitchFamily="34" charset="-120"/>
              </a:rPr>
              <a:t>Results: Alignment</a:t>
            </a:r>
            <a:endParaRPr lang="en-US" sz="1200" dirty="0"/>
          </a:p>
        </p:txBody>
      </p:sp>
      <p:sp>
        <p:nvSpPr>
          <p:cNvPr id="32" name="Text 30"/>
          <p:cNvSpPr/>
          <p:nvPr/>
        </p:nvSpPr>
        <p:spPr>
          <a:xfrm>
            <a:off x="6858000" y="1719072"/>
            <a:ext cx="4937760" cy="59436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HISAT2 to GRCh38 — mean 95.1% alignment rate</a:t>
            </a:r>
            <a:endParaRPr lang="en-US" sz="1000" dirty="0"/>
          </a:p>
        </p:txBody>
      </p:sp>
      <p:sp>
        <p:nvSpPr>
          <p:cNvPr id="33" name="Shape 31"/>
          <p:cNvSpPr/>
          <p:nvPr/>
        </p:nvSpPr>
        <p:spPr>
          <a:xfrm>
            <a:off x="6263640" y="2560320"/>
            <a:ext cx="5669280" cy="109728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6263640" y="2560320"/>
            <a:ext cx="502920" cy="1097280"/>
          </a:xfrm>
          <a:prstGeom prst="rect">
            <a:avLst/>
          </a:prstGeom>
          <a:solidFill>
            <a:srgbClr val="1368AA"/>
          </a:solidFill>
          <a:ln w="12700">
            <a:solidFill>
              <a:srgbClr val="1368AA"/>
            </a:solidFill>
            <a:prstDash val="solid"/>
          </a:ln>
        </p:spPr>
      </p:sp>
      <p:sp>
        <p:nvSpPr>
          <p:cNvPr id="35" name="Text 33"/>
          <p:cNvSpPr/>
          <p:nvPr/>
        </p:nvSpPr>
        <p:spPr>
          <a:xfrm>
            <a:off x="6263640" y="2560320"/>
            <a:ext cx="50292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6" name="Text 34"/>
          <p:cNvSpPr/>
          <p:nvPr/>
        </p:nvSpPr>
        <p:spPr>
          <a:xfrm>
            <a:off x="6858000" y="2633472"/>
            <a:ext cx="4937760" cy="347472"/>
          </a:xfrm>
          <a:prstGeom prst="rect">
            <a:avLst/>
          </a:prstGeom>
          <a:noFill/>
          <a:ln/>
        </p:spPr>
        <p:txBody>
          <a:bodyPr wrap="square" lIns="0" tIns="0" rIns="0" bIns="0" rtlCol="0" anchor="t"/>
          <a:lstStyle/>
          <a:p>
            <a:pPr indent="0" marL="0">
              <a:buNone/>
            </a:pPr>
            <a:r>
              <a:rPr lang="en-US" sz="1200" b="1" dirty="0">
                <a:solidFill>
                  <a:srgbClr val="0B2545"/>
                </a:solidFill>
                <a:latin typeface="Calibri" pitchFamily="34" charset="0"/>
                <a:ea typeface="Calibri" pitchFamily="34" charset="-122"/>
                <a:cs typeface="Calibri" pitchFamily="34" charset="-120"/>
              </a:rPr>
              <a:t>Results: DEG Analysis</a:t>
            </a:r>
            <a:endParaRPr lang="en-US" sz="1200" dirty="0"/>
          </a:p>
        </p:txBody>
      </p:sp>
      <p:sp>
        <p:nvSpPr>
          <p:cNvPr id="37" name="Text 35"/>
          <p:cNvSpPr/>
          <p:nvPr/>
        </p:nvSpPr>
        <p:spPr>
          <a:xfrm>
            <a:off x="6858000" y="2999232"/>
            <a:ext cx="4937760" cy="59436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8,594 DEGs (Day 1) vs 60 DEGs (Day 2) — PCA, volcano plots</a:t>
            </a:r>
            <a:endParaRPr lang="en-US" sz="1000" dirty="0"/>
          </a:p>
        </p:txBody>
      </p:sp>
      <p:sp>
        <p:nvSpPr>
          <p:cNvPr id="38" name="Shape 36"/>
          <p:cNvSpPr/>
          <p:nvPr/>
        </p:nvSpPr>
        <p:spPr>
          <a:xfrm>
            <a:off x="6263640" y="3840480"/>
            <a:ext cx="5669280" cy="109728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39" name="Shape 37"/>
          <p:cNvSpPr/>
          <p:nvPr/>
        </p:nvSpPr>
        <p:spPr>
          <a:xfrm>
            <a:off x="6263640" y="3840480"/>
            <a:ext cx="502920" cy="1097280"/>
          </a:xfrm>
          <a:prstGeom prst="rect">
            <a:avLst/>
          </a:prstGeom>
          <a:solidFill>
            <a:srgbClr val="1368AA"/>
          </a:solidFill>
          <a:ln w="12700">
            <a:solidFill>
              <a:srgbClr val="1368AA"/>
            </a:solidFill>
            <a:prstDash val="solid"/>
          </a:ln>
        </p:spPr>
      </p:sp>
      <p:sp>
        <p:nvSpPr>
          <p:cNvPr id="40" name="Text 38"/>
          <p:cNvSpPr/>
          <p:nvPr/>
        </p:nvSpPr>
        <p:spPr>
          <a:xfrm>
            <a:off x="6263640" y="3840480"/>
            <a:ext cx="50292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41" name="Text 39"/>
          <p:cNvSpPr/>
          <p:nvPr/>
        </p:nvSpPr>
        <p:spPr>
          <a:xfrm>
            <a:off x="6858000" y="3913632"/>
            <a:ext cx="4937760" cy="347472"/>
          </a:xfrm>
          <a:prstGeom prst="rect">
            <a:avLst/>
          </a:prstGeom>
          <a:noFill/>
          <a:ln/>
        </p:spPr>
        <p:txBody>
          <a:bodyPr wrap="square" lIns="0" tIns="0" rIns="0" bIns="0" rtlCol="0" anchor="t"/>
          <a:lstStyle/>
          <a:p>
            <a:pPr indent="0" marL="0">
              <a:buNone/>
            </a:pPr>
            <a:r>
              <a:rPr lang="en-US" sz="1200" b="1" dirty="0">
                <a:solidFill>
                  <a:srgbClr val="0B2545"/>
                </a:solidFill>
                <a:latin typeface="Calibri" pitchFamily="34" charset="0"/>
                <a:ea typeface="Calibri" pitchFamily="34" charset="-122"/>
                <a:cs typeface="Calibri" pitchFamily="34" charset="-120"/>
              </a:rPr>
              <a:t>Results: Enrichment</a:t>
            </a:r>
            <a:endParaRPr lang="en-US" sz="1200" dirty="0"/>
          </a:p>
        </p:txBody>
      </p:sp>
      <p:sp>
        <p:nvSpPr>
          <p:cNvPr id="42" name="Text 40"/>
          <p:cNvSpPr/>
          <p:nvPr/>
        </p:nvSpPr>
        <p:spPr>
          <a:xfrm>
            <a:off x="6858000" y="4279392"/>
            <a:ext cx="4937760" cy="59436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Ribosome, NETs, Oxidative phosphorylation, DUSP signaling</a:t>
            </a:r>
            <a:endParaRPr lang="en-US" sz="1000" dirty="0"/>
          </a:p>
        </p:txBody>
      </p:sp>
      <p:sp>
        <p:nvSpPr>
          <p:cNvPr id="43" name="Shape 41"/>
          <p:cNvSpPr/>
          <p:nvPr/>
        </p:nvSpPr>
        <p:spPr>
          <a:xfrm>
            <a:off x="6263640" y="5120640"/>
            <a:ext cx="5669280" cy="109728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44" name="Shape 42"/>
          <p:cNvSpPr/>
          <p:nvPr/>
        </p:nvSpPr>
        <p:spPr>
          <a:xfrm>
            <a:off x="6263640" y="5120640"/>
            <a:ext cx="502920" cy="1097280"/>
          </a:xfrm>
          <a:prstGeom prst="rect">
            <a:avLst/>
          </a:prstGeom>
          <a:solidFill>
            <a:srgbClr val="1368AA"/>
          </a:solidFill>
          <a:ln w="12700">
            <a:solidFill>
              <a:srgbClr val="1368AA"/>
            </a:solidFill>
            <a:prstDash val="solid"/>
          </a:ln>
        </p:spPr>
      </p:sp>
      <p:sp>
        <p:nvSpPr>
          <p:cNvPr id="45" name="Text 43"/>
          <p:cNvSpPr/>
          <p:nvPr/>
        </p:nvSpPr>
        <p:spPr>
          <a:xfrm>
            <a:off x="6263640" y="5120640"/>
            <a:ext cx="50292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46" name="Text 44"/>
          <p:cNvSpPr/>
          <p:nvPr/>
        </p:nvSpPr>
        <p:spPr>
          <a:xfrm>
            <a:off x="6858000" y="5193792"/>
            <a:ext cx="4937760" cy="347472"/>
          </a:xfrm>
          <a:prstGeom prst="rect">
            <a:avLst/>
          </a:prstGeom>
          <a:noFill/>
          <a:ln/>
        </p:spPr>
        <p:txBody>
          <a:bodyPr wrap="square" lIns="0" tIns="0" rIns="0" bIns="0" rtlCol="0" anchor="t"/>
          <a:lstStyle/>
          <a:p>
            <a:pPr indent="0" marL="0">
              <a:buNone/>
            </a:pPr>
            <a:r>
              <a:rPr lang="en-US" sz="1200" b="1" dirty="0">
                <a:solidFill>
                  <a:srgbClr val="0B2545"/>
                </a:solidFill>
                <a:latin typeface="Calibri" pitchFamily="34" charset="0"/>
                <a:ea typeface="Calibri" pitchFamily="34" charset="-122"/>
                <a:cs typeface="Calibri" pitchFamily="34" charset="-120"/>
              </a:rPr>
              <a:t>Discussion &amp; Conclusions</a:t>
            </a:r>
            <a:endParaRPr lang="en-US" sz="1200" dirty="0"/>
          </a:p>
        </p:txBody>
      </p:sp>
      <p:sp>
        <p:nvSpPr>
          <p:cNvPr id="47" name="Text 45"/>
          <p:cNvSpPr/>
          <p:nvPr/>
        </p:nvSpPr>
        <p:spPr>
          <a:xfrm>
            <a:off x="6858000" y="5559552"/>
            <a:ext cx="4937760" cy="59436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Biological interpretation, clinical implications, limitations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D7377"/>
          </a:solidFill>
          <a:ln w="12700">
            <a:solidFill>
              <a:srgbClr val="0D7377"/>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BACKGROUND &amp; MOTIVATION</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3 / 22</a:t>
            </a:r>
            <a:endParaRPr lang="en-US" sz="750" dirty="0"/>
          </a:p>
        </p:txBody>
      </p:sp>
      <p:sp>
        <p:nvSpPr>
          <p:cNvPr id="7" name="Text 5"/>
          <p:cNvSpPr/>
          <p:nvPr/>
        </p:nvSpPr>
        <p:spPr>
          <a:xfrm>
            <a:off x="365760" y="594360"/>
            <a:ext cx="11430000" cy="59436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What is Acute Ischemic Stroke — and Why Study the Blood?</a:t>
            </a:r>
            <a:endParaRPr lang="en-US" sz="2400" dirty="0"/>
          </a:p>
        </p:txBody>
      </p:sp>
      <p:sp>
        <p:nvSpPr>
          <p:cNvPr id="8" name="Shape 6"/>
          <p:cNvSpPr/>
          <p:nvPr/>
        </p:nvSpPr>
        <p:spPr>
          <a:xfrm>
            <a:off x="274320" y="1298448"/>
            <a:ext cx="5394960" cy="22860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274320" y="1298448"/>
            <a:ext cx="5394960" cy="301752"/>
          </a:xfrm>
          <a:prstGeom prst="rect">
            <a:avLst/>
          </a:prstGeom>
          <a:solidFill>
            <a:srgbClr val="1368AA"/>
          </a:solidFill>
          <a:ln w="12700">
            <a:solidFill>
              <a:srgbClr val="1368AA"/>
            </a:solidFill>
            <a:prstDash val="solid"/>
          </a:ln>
        </p:spPr>
      </p:sp>
      <p:sp>
        <p:nvSpPr>
          <p:cNvPr id="10" name="Text 8"/>
          <p:cNvSpPr/>
          <p:nvPr/>
        </p:nvSpPr>
        <p:spPr>
          <a:xfrm>
            <a:off x="365760" y="1298448"/>
            <a:ext cx="530352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Acute Ischemic Stroke</a:t>
            </a:r>
            <a:endParaRPr lang="en-US" sz="1100" dirty="0"/>
          </a:p>
        </p:txBody>
      </p:sp>
      <p:sp>
        <p:nvSpPr>
          <p:cNvPr id="11" name="Text 9"/>
          <p:cNvSpPr/>
          <p:nvPr/>
        </p:nvSpPr>
        <p:spPr>
          <a:xfrm>
            <a:off x="411480" y="1645920"/>
            <a:ext cx="5166360" cy="187452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Caused by </a:t>
            </a:r>
            <a:pPr indent="0" marL="0">
              <a:buNone/>
            </a:pPr>
            <a:r>
              <a:rPr lang="en-US" sz="1050" b="1" dirty="0">
                <a:solidFill>
                  <a:srgbClr val="1E293B"/>
                </a:solidFill>
                <a:latin typeface="Calibri" pitchFamily="34" charset="0"/>
                <a:ea typeface="Calibri" pitchFamily="34" charset="-122"/>
                <a:cs typeface="Calibri" pitchFamily="34" charset="-120"/>
              </a:rPr>
              <a:t>arterial blockage</a:t>
            </a:r>
            <a:pPr indent="0" marL="0">
              <a:buNone/>
            </a:pPr>
            <a:r>
              <a:rPr lang="en-US" sz="1050" dirty="0">
                <a:solidFill>
                  <a:srgbClr val="1E293B"/>
                </a:solidFill>
                <a:latin typeface="Calibri" pitchFamily="34" charset="0"/>
                <a:ea typeface="Calibri" pitchFamily="34" charset="-122"/>
                <a:cs typeface="Calibri" pitchFamily="34" charset="-120"/>
              </a:rPr>
              <a:t> cutting oxygen to brain tissue. Leading cause of death &amp; long-term disability worldwide.
</a:t>
            </a:r>
            <a:pPr indent="0" marL="0">
              <a:buNone/>
            </a:pPr>
            <a:r>
              <a:rPr lang="en-US" sz="1050" dirty="0">
                <a:solidFill>
                  <a:srgbClr val="1E293B"/>
                </a:solidFill>
                <a:latin typeface="Calibri" pitchFamily="34" charset="0"/>
                <a:ea typeface="Calibri" pitchFamily="34" charset="-122"/>
                <a:cs typeface="Calibri" pitchFamily="34" charset="-120"/>
              </a:rPr>
              <a:t>Beyond direct brain damage, stroke triggers a powerful systemic </a:t>
            </a:r>
            <a:pPr indent="0" marL="0">
              <a:buNone/>
            </a:pPr>
            <a:r>
              <a:rPr lang="en-US" sz="1050" b="1" dirty="0">
                <a:solidFill>
                  <a:srgbClr val="1E293B"/>
                </a:solidFill>
                <a:latin typeface="Calibri" pitchFamily="34" charset="0"/>
                <a:ea typeface="Calibri" pitchFamily="34" charset="-122"/>
                <a:cs typeface="Calibri" pitchFamily="34" charset="-120"/>
              </a:rPr>
              <a:t>immune alarm</a:t>
            </a:r>
            <a:pPr indent="0" marL="0">
              <a:buNone/>
            </a:pPr>
            <a:r>
              <a:rPr lang="en-US" sz="1050" dirty="0">
                <a:solidFill>
                  <a:srgbClr val="1E293B"/>
                </a:solidFill>
                <a:latin typeface="Calibri" pitchFamily="34" charset="0"/>
                <a:ea typeface="Calibri" pitchFamily="34" charset="-122"/>
                <a:cs typeface="Calibri" pitchFamily="34" charset="-120"/>
              </a:rPr>
              <a:t> detectable in circulating blood cells.</a:t>
            </a:r>
            <a:endParaRPr lang="en-US" sz="1050" dirty="0"/>
          </a:p>
        </p:txBody>
      </p:sp>
      <p:sp>
        <p:nvSpPr>
          <p:cNvPr id="12" name="Shape 10"/>
          <p:cNvSpPr/>
          <p:nvPr/>
        </p:nvSpPr>
        <p:spPr>
          <a:xfrm>
            <a:off x="274320" y="3703320"/>
            <a:ext cx="5394960" cy="22860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274320" y="3703320"/>
            <a:ext cx="5394960" cy="301752"/>
          </a:xfrm>
          <a:prstGeom prst="rect">
            <a:avLst/>
          </a:prstGeom>
          <a:solidFill>
            <a:srgbClr val="1368AA"/>
          </a:solidFill>
          <a:ln w="12700">
            <a:solidFill>
              <a:srgbClr val="1368AA"/>
            </a:solidFill>
            <a:prstDash val="solid"/>
          </a:ln>
        </p:spPr>
      </p:sp>
      <p:sp>
        <p:nvSpPr>
          <p:cNvPr id="14" name="Text 12"/>
          <p:cNvSpPr/>
          <p:nvPr/>
        </p:nvSpPr>
        <p:spPr>
          <a:xfrm>
            <a:off x="365760" y="3703320"/>
            <a:ext cx="530352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Why Peripheral Blood (PBMCs)?</a:t>
            </a:r>
            <a:endParaRPr lang="en-US" sz="1100" dirty="0"/>
          </a:p>
        </p:txBody>
      </p:sp>
      <p:sp>
        <p:nvSpPr>
          <p:cNvPr id="15" name="Text 13"/>
          <p:cNvSpPr/>
          <p:nvPr/>
        </p:nvSpPr>
        <p:spPr>
          <a:xfrm>
            <a:off x="411480" y="4050792"/>
            <a:ext cx="5166360" cy="187452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Brain tissue is inaccessible in living patients. But </a:t>
            </a:r>
            <a:pPr indent="0" marL="0">
              <a:buNone/>
            </a:pPr>
            <a:r>
              <a:rPr lang="en-US" sz="1050" b="1" dirty="0">
                <a:solidFill>
                  <a:srgbClr val="1E293B"/>
                </a:solidFill>
                <a:latin typeface="Calibri" pitchFamily="34" charset="0"/>
                <a:ea typeface="Calibri" pitchFamily="34" charset="-122"/>
                <a:cs typeface="Calibri" pitchFamily="34" charset="-120"/>
              </a:rPr>
              <a:t>PBMCs (monocytes, lymphocytes, NK cells)</a:t>
            </a:r>
            <a:pPr indent="0" marL="0">
              <a:buNone/>
            </a:pPr>
            <a:r>
              <a:rPr lang="en-US" sz="1050" dirty="0">
                <a:solidFill>
                  <a:srgbClr val="1E293B"/>
                </a:solidFill>
                <a:latin typeface="Calibri" pitchFamily="34" charset="0"/>
                <a:ea typeface="Calibri" pitchFamily="34" charset="-122"/>
                <a:cs typeface="Calibri" pitchFamily="34" charset="-120"/>
              </a:rPr>
              <a:t> are easily sampled and serve as a real-time 'window' into the immune response.</a:t>
            </a:r>
            <a:endParaRPr lang="en-US" sz="1050" dirty="0"/>
          </a:p>
          <a:p>
            <a:pPr indent="0" marL="0">
              <a:buNone/>
            </a:pP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Gene expression in blood changes </a:t>
            </a:r>
            <a:endParaRPr lang="en-US" sz="1050" dirty="0"/>
          </a:p>
          <a:p>
            <a:pPr indent="0" marL="0">
              <a:buNone/>
            </a:pPr>
            <a:r>
              <a:rPr lang="en-US" sz="1050" b="1" dirty="0">
                <a:solidFill>
                  <a:srgbClr val="1E293B"/>
                </a:solidFill>
                <a:latin typeface="Calibri" pitchFamily="34" charset="0"/>
                <a:ea typeface="Calibri" pitchFamily="34" charset="-122"/>
                <a:cs typeface="Calibri" pitchFamily="34" charset="-120"/>
              </a:rPr>
              <a:t>within hours</a:t>
            </a:r>
            <a:pPr indent="0" marL="0">
              <a:buNone/>
            </a:pPr>
            <a:r>
              <a:rPr lang="en-US" sz="1050" dirty="0">
                <a:solidFill>
                  <a:srgbClr val="1E293B"/>
                </a:solidFill>
                <a:latin typeface="Calibri" pitchFamily="34" charset="0"/>
                <a:ea typeface="Calibri" pitchFamily="34" charset="-122"/>
                <a:cs typeface="Calibri" pitchFamily="34" charset="-120"/>
              </a:rPr>
              <a:t> of stroke onset — making RNA-seq a powerful early readout.</a:t>
            </a:r>
            <a:endParaRPr lang="en-US" sz="1050" dirty="0"/>
          </a:p>
        </p:txBody>
      </p:sp>
      <p:sp>
        <p:nvSpPr>
          <p:cNvPr id="16" name="Shape 14"/>
          <p:cNvSpPr/>
          <p:nvPr/>
        </p:nvSpPr>
        <p:spPr>
          <a:xfrm>
            <a:off x="5943600" y="1298448"/>
            <a:ext cx="5943600" cy="22860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5943600" y="1298448"/>
            <a:ext cx="5943600" cy="301752"/>
          </a:xfrm>
          <a:prstGeom prst="rect">
            <a:avLst/>
          </a:prstGeom>
          <a:solidFill>
            <a:srgbClr val="1368AA"/>
          </a:solidFill>
          <a:ln w="12700">
            <a:solidFill>
              <a:srgbClr val="1368AA"/>
            </a:solidFill>
            <a:prstDash val="solid"/>
          </a:ln>
        </p:spPr>
      </p:sp>
      <p:sp>
        <p:nvSpPr>
          <p:cNvPr id="18" name="Text 16"/>
          <p:cNvSpPr/>
          <p:nvPr/>
        </p:nvSpPr>
        <p:spPr>
          <a:xfrm>
            <a:off x="6035040" y="1298448"/>
            <a:ext cx="585216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Why Bulk RNA-seq?</a:t>
            </a:r>
            <a:endParaRPr lang="en-US" sz="1100" dirty="0"/>
          </a:p>
        </p:txBody>
      </p:sp>
      <p:sp>
        <p:nvSpPr>
          <p:cNvPr id="19" name="Text 17"/>
          <p:cNvSpPr/>
          <p:nvPr/>
        </p:nvSpPr>
        <p:spPr>
          <a:xfrm>
            <a:off x="6080760" y="1645920"/>
            <a:ext cx="5715000" cy="187452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RNA-seq quantifies </a:t>
            </a:r>
            <a:pPr indent="0" marL="0">
              <a:buNone/>
            </a:pPr>
            <a:r>
              <a:rPr lang="en-US" sz="1050" b="1" dirty="0">
                <a:solidFill>
                  <a:srgbClr val="1E293B"/>
                </a:solidFill>
                <a:latin typeface="Calibri" pitchFamily="34" charset="0"/>
                <a:ea typeface="Calibri" pitchFamily="34" charset="-122"/>
                <a:cs typeface="Calibri" pitchFamily="34" charset="-120"/>
              </a:rPr>
              <a:t>genome-wide gene expression</a:t>
            </a:r>
            <a:pPr indent="0" marL="0">
              <a:buNone/>
            </a:pPr>
            <a:r>
              <a:rPr lang="en-US" sz="1050" dirty="0">
                <a:solidFill>
                  <a:srgbClr val="1E293B"/>
                </a:solidFill>
                <a:latin typeface="Calibri" pitchFamily="34" charset="0"/>
                <a:ea typeface="Calibri" pitchFamily="34" charset="-122"/>
                <a:cs typeface="Calibri" pitchFamily="34" charset="-120"/>
              </a:rPr>
              <a:t> simultaneously across all ~20,000 human genes.</a:t>
            </a:r>
            <a:endParaRPr lang="en-US" sz="1050" dirty="0"/>
          </a:p>
          <a:p>
            <a:pPr indent="0" marL="0">
              <a:buNone/>
            </a:pP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Comparing stroke patients vs. healthy controls reveals which genes are turned ON or OFF — identifying molecular drivers of the immune response.</a:t>
            </a:r>
            <a:endParaRPr lang="en-US" sz="1050" dirty="0"/>
          </a:p>
        </p:txBody>
      </p:sp>
      <p:sp>
        <p:nvSpPr>
          <p:cNvPr id="20" name="Shape 18"/>
          <p:cNvSpPr/>
          <p:nvPr/>
        </p:nvSpPr>
        <p:spPr>
          <a:xfrm>
            <a:off x="5943600" y="3703320"/>
            <a:ext cx="5943600" cy="22860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5943600" y="3703320"/>
            <a:ext cx="5943600" cy="301752"/>
          </a:xfrm>
          <a:prstGeom prst="rect">
            <a:avLst/>
          </a:prstGeom>
          <a:solidFill>
            <a:srgbClr val="1368AA"/>
          </a:solidFill>
          <a:ln w="12700">
            <a:solidFill>
              <a:srgbClr val="1368AA"/>
            </a:solidFill>
            <a:prstDash val="solid"/>
          </a:ln>
        </p:spPr>
      </p:sp>
      <p:sp>
        <p:nvSpPr>
          <p:cNvPr id="22" name="Text 20"/>
          <p:cNvSpPr/>
          <p:nvPr/>
        </p:nvSpPr>
        <p:spPr>
          <a:xfrm>
            <a:off x="6035040" y="3703320"/>
            <a:ext cx="585216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Study Questions</a:t>
            </a:r>
            <a:endParaRPr lang="en-US" sz="1100" dirty="0"/>
          </a:p>
        </p:txBody>
      </p:sp>
      <p:sp>
        <p:nvSpPr>
          <p:cNvPr id="23" name="Text 21"/>
          <p:cNvSpPr/>
          <p:nvPr/>
        </p:nvSpPr>
        <p:spPr>
          <a:xfrm>
            <a:off x="6080760" y="4050792"/>
            <a:ext cx="5715000" cy="187452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1. Which genes are differentially expressed in PBMCs of acute stroke vs. healthy controls?
</a:t>
            </a:r>
            <a:pPr indent="0" marL="0">
              <a:buNone/>
            </a:pPr>
            <a:r>
              <a:rPr lang="en-US" sz="1050" dirty="0">
                <a:solidFill>
                  <a:srgbClr val="1E293B"/>
                </a:solidFill>
                <a:latin typeface="Calibri" pitchFamily="34" charset="0"/>
                <a:ea typeface="Calibri" pitchFamily="34" charset="-122"/>
                <a:cs typeface="Calibri" pitchFamily="34" charset="-120"/>
              </a:rPr>
              <a:t>2. How does the response evolve from Day 1 (acute) to Day 2 (subacute)?
</a:t>
            </a:r>
            <a:pPr indent="0" marL="0">
              <a:buNone/>
            </a:pPr>
            <a:r>
              <a:rPr lang="en-US" sz="1050" dirty="0">
                <a:solidFill>
                  <a:srgbClr val="1E293B"/>
                </a:solidFill>
                <a:latin typeface="Calibri" pitchFamily="34" charset="0"/>
                <a:ea typeface="Calibri" pitchFamily="34" charset="-122"/>
                <a:cs typeface="Calibri" pitchFamily="34" charset="-120"/>
              </a:rPr>
              <a:t>3. Which biological pathways are enriched — and what do they reveal about stroke mechanisms?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1368AA"/>
          </a:solidFill>
          <a:ln w="12700">
            <a:solidFill>
              <a:srgbClr val="1368AA"/>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STUDY DESIGN &amp; DATASET</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4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400" b="1" dirty="0">
                <a:solidFill>
                  <a:srgbClr val="0B2545"/>
                </a:solidFill>
                <a:latin typeface="Calibri" pitchFamily="34" charset="0"/>
                <a:ea typeface="Calibri" pitchFamily="34" charset="-122"/>
                <a:cs typeface="Calibri" pitchFamily="34" charset="-120"/>
              </a:rPr>
              <a:t>GSE122709 — Dataset Overview</a:t>
            </a:r>
            <a:endParaRPr lang="en-US" sz="2400" dirty="0"/>
          </a:p>
        </p:txBody>
      </p:sp>
      <p:sp>
        <p:nvSpPr>
          <p:cNvPr id="8" name="Shape 6"/>
          <p:cNvSpPr/>
          <p:nvPr/>
        </p:nvSpPr>
        <p:spPr>
          <a:xfrm>
            <a:off x="457200" y="1298448"/>
            <a:ext cx="11247120" cy="146304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548640" y="1371600"/>
            <a:ext cx="2743200" cy="320040"/>
          </a:xfrm>
          <a:prstGeom prst="rect">
            <a:avLst/>
          </a:prstGeom>
          <a:noFill/>
          <a:ln/>
        </p:spPr>
        <p:txBody>
          <a:bodyPr wrap="square" lIns="0" tIns="0" rIns="0" bIns="0" rtlCol="0" anchor="ctr"/>
          <a:lstStyle/>
          <a:p>
            <a:pPr indent="0" marL="0">
              <a:buNone/>
            </a:pPr>
            <a:r>
              <a:rPr lang="en-US" sz="1000" b="1" dirty="0">
                <a:solidFill>
                  <a:srgbClr val="64748B"/>
                </a:solidFill>
                <a:latin typeface="Calibri" pitchFamily="34" charset="0"/>
                <a:ea typeface="Calibri" pitchFamily="34" charset="-122"/>
                <a:cs typeface="Calibri" pitchFamily="34" charset="-120"/>
              </a:rPr>
              <a:t>STUDY TIMELINE</a:t>
            </a:r>
            <a:endParaRPr lang="en-US" sz="1000" dirty="0"/>
          </a:p>
        </p:txBody>
      </p:sp>
      <p:sp>
        <p:nvSpPr>
          <p:cNvPr id="10" name="Shape 8"/>
          <p:cNvSpPr/>
          <p:nvPr/>
        </p:nvSpPr>
        <p:spPr>
          <a:xfrm>
            <a:off x="1097280" y="2103120"/>
            <a:ext cx="10058400" cy="73152"/>
          </a:xfrm>
          <a:prstGeom prst="rect">
            <a:avLst/>
          </a:prstGeom>
          <a:solidFill>
            <a:srgbClr val="CBD5E1"/>
          </a:solidFill>
          <a:ln w="12700">
            <a:solidFill>
              <a:srgbClr val="CBD5E1"/>
            </a:solidFill>
            <a:prstDash val="solid"/>
          </a:ln>
        </p:spPr>
      </p:sp>
      <p:sp>
        <p:nvSpPr>
          <p:cNvPr id="11" name="Shape 9"/>
          <p:cNvSpPr/>
          <p:nvPr/>
        </p:nvSpPr>
        <p:spPr>
          <a:xfrm>
            <a:off x="932688" y="1993392"/>
            <a:ext cx="320040" cy="320040"/>
          </a:xfrm>
          <a:prstGeom prst="oval">
            <a:avLst/>
          </a:prstGeom>
          <a:solidFill>
            <a:srgbClr val="C0392B"/>
          </a:solidFill>
          <a:ln w="12700">
            <a:solidFill>
              <a:srgbClr val="C0392B"/>
            </a:solidFill>
            <a:prstDash val="solid"/>
          </a:ln>
        </p:spPr>
      </p:sp>
      <p:sp>
        <p:nvSpPr>
          <p:cNvPr id="12" name="Text 10"/>
          <p:cNvSpPr/>
          <p:nvPr/>
        </p:nvSpPr>
        <p:spPr>
          <a:xfrm>
            <a:off x="365760" y="2377440"/>
            <a:ext cx="1645920" cy="594360"/>
          </a:xfrm>
          <a:prstGeom prst="rect">
            <a:avLst/>
          </a:prstGeom>
          <a:noFill/>
          <a:ln/>
        </p:spPr>
        <p:txBody>
          <a:bodyPr wrap="square" lIns="0" tIns="0" rIns="0" bIns="0" rtlCol="0" anchor="t"/>
          <a:lstStyle/>
          <a:p>
            <a:pPr algn="ctr" indent="0" marL="0">
              <a:buNone/>
            </a:pPr>
            <a:r>
              <a:rPr lang="en-US" sz="1000" dirty="0">
                <a:solidFill>
                  <a:srgbClr val="1E293B"/>
                </a:solidFill>
                <a:latin typeface="Calibri" pitchFamily="34" charset="0"/>
                <a:ea typeface="Calibri" pitchFamily="34" charset="-122"/>
                <a:cs typeface="Calibri" pitchFamily="34" charset="-120"/>
              </a:rPr>
              <a:t>Day 0</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(Stroke</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Onset)</a:t>
            </a:r>
            <a:endParaRPr lang="en-US" sz="1000" dirty="0"/>
          </a:p>
        </p:txBody>
      </p:sp>
      <p:sp>
        <p:nvSpPr>
          <p:cNvPr id="13" name="Shape 11"/>
          <p:cNvSpPr/>
          <p:nvPr/>
        </p:nvSpPr>
        <p:spPr>
          <a:xfrm>
            <a:off x="5047488" y="1993392"/>
            <a:ext cx="320040" cy="320040"/>
          </a:xfrm>
          <a:prstGeom prst="oval">
            <a:avLst/>
          </a:prstGeom>
          <a:solidFill>
            <a:srgbClr val="1368AA"/>
          </a:solidFill>
          <a:ln w="12700">
            <a:solidFill>
              <a:srgbClr val="1368AA"/>
            </a:solidFill>
            <a:prstDash val="solid"/>
          </a:ln>
        </p:spPr>
      </p:sp>
      <p:sp>
        <p:nvSpPr>
          <p:cNvPr id="14" name="Text 12"/>
          <p:cNvSpPr/>
          <p:nvPr/>
        </p:nvSpPr>
        <p:spPr>
          <a:xfrm>
            <a:off x="4480560" y="2377440"/>
            <a:ext cx="1645920" cy="594360"/>
          </a:xfrm>
          <a:prstGeom prst="rect">
            <a:avLst/>
          </a:prstGeom>
          <a:noFill/>
          <a:ln/>
        </p:spPr>
        <p:txBody>
          <a:bodyPr wrap="square" lIns="0" tIns="0" rIns="0" bIns="0" rtlCol="0" anchor="t"/>
          <a:lstStyle/>
          <a:p>
            <a:pPr algn="ctr" indent="0" marL="0">
              <a:buNone/>
            </a:pPr>
            <a:r>
              <a:rPr lang="en-US" sz="1000" dirty="0">
                <a:solidFill>
                  <a:srgbClr val="1E293B"/>
                </a:solidFill>
                <a:latin typeface="Calibri" pitchFamily="34" charset="0"/>
                <a:ea typeface="Calibri" pitchFamily="34" charset="-122"/>
                <a:cs typeface="Calibri" pitchFamily="34" charset="-120"/>
              </a:rPr>
              <a:t>Day 1</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Sampling</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(Acute)</a:t>
            </a:r>
            <a:endParaRPr lang="en-US" sz="1000" dirty="0"/>
          </a:p>
        </p:txBody>
      </p:sp>
      <p:sp>
        <p:nvSpPr>
          <p:cNvPr id="15" name="Shape 13"/>
          <p:cNvSpPr/>
          <p:nvPr/>
        </p:nvSpPr>
        <p:spPr>
          <a:xfrm>
            <a:off x="9162288" y="1993392"/>
            <a:ext cx="320040" cy="320040"/>
          </a:xfrm>
          <a:prstGeom prst="oval">
            <a:avLst/>
          </a:prstGeom>
          <a:solidFill>
            <a:srgbClr val="0D7377"/>
          </a:solidFill>
          <a:ln w="12700">
            <a:solidFill>
              <a:srgbClr val="0D7377"/>
            </a:solidFill>
            <a:prstDash val="solid"/>
          </a:ln>
        </p:spPr>
      </p:sp>
      <p:sp>
        <p:nvSpPr>
          <p:cNvPr id="16" name="Text 14"/>
          <p:cNvSpPr/>
          <p:nvPr/>
        </p:nvSpPr>
        <p:spPr>
          <a:xfrm>
            <a:off x="8595360" y="2377440"/>
            <a:ext cx="1645920" cy="594360"/>
          </a:xfrm>
          <a:prstGeom prst="rect">
            <a:avLst/>
          </a:prstGeom>
          <a:noFill/>
          <a:ln/>
        </p:spPr>
        <p:txBody>
          <a:bodyPr wrap="square" lIns="0" tIns="0" rIns="0" bIns="0" rtlCol="0" anchor="t"/>
          <a:lstStyle/>
          <a:p>
            <a:pPr algn="ctr" indent="0" marL="0">
              <a:buNone/>
            </a:pPr>
            <a:r>
              <a:rPr lang="en-US" sz="1000" dirty="0">
                <a:solidFill>
                  <a:srgbClr val="1E293B"/>
                </a:solidFill>
                <a:latin typeface="Calibri" pitchFamily="34" charset="0"/>
                <a:ea typeface="Calibri" pitchFamily="34" charset="-122"/>
                <a:cs typeface="Calibri" pitchFamily="34" charset="-120"/>
              </a:rPr>
              <a:t>Day 2</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Sampling</a:t>
            </a:r>
            <a:endParaRPr lang="en-US" sz="1000" dirty="0"/>
          </a:p>
          <a:p>
            <a:pPr algn="ctr" indent="0" marL="0">
              <a:buNone/>
            </a:pPr>
            <a:r>
              <a:rPr lang="en-US" sz="1000" dirty="0">
                <a:solidFill>
                  <a:srgbClr val="1E293B"/>
                </a:solidFill>
                <a:latin typeface="Calibri" pitchFamily="34" charset="0"/>
                <a:ea typeface="Calibri" pitchFamily="34" charset="-122"/>
                <a:cs typeface="Calibri" pitchFamily="34" charset="-120"/>
              </a:rPr>
              <a:t>(Subacute)</a:t>
            </a:r>
            <a:endParaRPr lang="en-US" sz="1000" dirty="0"/>
          </a:p>
        </p:txBody>
      </p:sp>
      <p:sp>
        <p:nvSpPr>
          <p:cNvPr id="17" name="Shape 15"/>
          <p:cNvSpPr/>
          <p:nvPr/>
        </p:nvSpPr>
        <p:spPr>
          <a:xfrm>
            <a:off x="274320" y="2926080"/>
            <a:ext cx="3749040" cy="2194560"/>
          </a:xfrm>
          <a:prstGeom prst="rect">
            <a:avLst/>
          </a:prstGeom>
          <a:solidFill>
            <a:srgbClr val="FFFFFF"/>
          </a:solidFill>
          <a:ln w="12700">
            <a:solidFill>
              <a:srgbClr val="0D7377"/>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74320" y="2926080"/>
            <a:ext cx="3749040" cy="457200"/>
          </a:xfrm>
          <a:prstGeom prst="rect">
            <a:avLst/>
          </a:prstGeom>
          <a:solidFill>
            <a:srgbClr val="0D7377"/>
          </a:solidFill>
          <a:ln w="12700">
            <a:solidFill>
              <a:srgbClr val="0D7377"/>
            </a:solidFill>
            <a:prstDash val="solid"/>
          </a:ln>
        </p:spPr>
      </p:sp>
      <p:sp>
        <p:nvSpPr>
          <p:cNvPr id="19" name="Text 17"/>
          <p:cNvSpPr/>
          <p:nvPr/>
        </p:nvSpPr>
        <p:spPr>
          <a:xfrm>
            <a:off x="365760" y="292608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NC — Controls</a:t>
            </a:r>
            <a:endParaRPr lang="en-US" sz="1300" dirty="0"/>
          </a:p>
        </p:txBody>
      </p:sp>
      <p:sp>
        <p:nvSpPr>
          <p:cNvPr id="20" name="Text 18"/>
          <p:cNvSpPr/>
          <p:nvPr/>
        </p:nvSpPr>
        <p:spPr>
          <a:xfrm>
            <a:off x="3017520" y="2926080"/>
            <a:ext cx="9144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 = 5</a:t>
            </a:r>
            <a:endParaRPr lang="en-US" sz="1600" dirty="0"/>
          </a:p>
        </p:txBody>
      </p:sp>
      <p:sp>
        <p:nvSpPr>
          <p:cNvPr id="21" name="Text 19"/>
          <p:cNvSpPr/>
          <p:nvPr/>
        </p:nvSpPr>
        <p:spPr>
          <a:xfrm>
            <a:off x="411480" y="3474720"/>
            <a:ext cx="3474720" cy="1554480"/>
          </a:xfrm>
          <a:prstGeom prst="rect">
            <a:avLst/>
          </a:prstGeom>
          <a:noFill/>
          <a:ln/>
        </p:spPr>
        <p:txBody>
          <a:bodyPr wrap="square" lIns="0" tIns="0" rIns="0" bIns="0" rtlCol="0" anchor="t"/>
          <a:lstStyle/>
          <a:p>
            <a:pPr indent="0" marL="0">
              <a:buNone/>
            </a:pPr>
            <a:r>
              <a:rPr lang="en-US" sz="1050" b="1" dirty="0">
                <a:solidFill>
                  <a:srgbClr val="1E293B"/>
                </a:solidFill>
                <a:latin typeface="Calibri" pitchFamily="34" charset="0"/>
                <a:ea typeface="Calibri" pitchFamily="34" charset="-122"/>
                <a:cs typeface="Calibri" pitchFamily="34" charset="-120"/>
              </a:rPr>
              <a:t>Accessions: </a:t>
            </a:r>
            <a:pPr indent="0" marL="0">
              <a:buNone/>
            </a:pPr>
            <a:r>
              <a:rPr lang="en-US" sz="1050" dirty="0">
                <a:solidFill>
                  <a:srgbClr val="1E293B"/>
                </a:solidFill>
                <a:latin typeface="Calibri" pitchFamily="34" charset="0"/>
                <a:ea typeface="Calibri" pitchFamily="34" charset="-122"/>
                <a:cs typeface="Calibri" pitchFamily="34" charset="-120"/>
              </a:rPr>
              <a:t>SRR8207876–SRR8207880
</a:t>
            </a:r>
            <a:pPr indent="0" marL="0">
              <a:buNone/>
            </a:pPr>
            <a:r>
              <a:rPr lang="en-US" sz="1050" i="1" dirty="0">
                <a:solidFill>
                  <a:srgbClr val="64748B"/>
                </a:solidFill>
                <a:latin typeface="Calibri" pitchFamily="34" charset="0"/>
                <a:ea typeface="Calibri" pitchFamily="34" charset="-122"/>
                <a:cs typeface="Calibri" pitchFamily="34" charset="-120"/>
              </a:rPr>
              <a:t>Healthy adults, no neurological disease</a:t>
            </a:r>
            <a:endParaRPr lang="en-US" sz="1050" dirty="0"/>
          </a:p>
        </p:txBody>
      </p:sp>
      <p:sp>
        <p:nvSpPr>
          <p:cNvPr id="22" name="Shape 20"/>
          <p:cNvSpPr/>
          <p:nvPr/>
        </p:nvSpPr>
        <p:spPr>
          <a:xfrm>
            <a:off x="4343400" y="2926080"/>
            <a:ext cx="3749040" cy="2194560"/>
          </a:xfrm>
          <a:prstGeom prst="rect">
            <a:avLst/>
          </a:prstGeom>
          <a:solidFill>
            <a:srgbClr val="FFFFFF"/>
          </a:solidFill>
          <a:ln w="12700">
            <a:solidFill>
              <a:srgbClr val="1368AA"/>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4343400" y="2926080"/>
            <a:ext cx="3749040" cy="457200"/>
          </a:xfrm>
          <a:prstGeom prst="rect">
            <a:avLst/>
          </a:prstGeom>
          <a:solidFill>
            <a:srgbClr val="1368AA"/>
          </a:solidFill>
          <a:ln w="12700">
            <a:solidFill>
              <a:srgbClr val="1368AA"/>
            </a:solidFill>
            <a:prstDash val="solid"/>
          </a:ln>
        </p:spPr>
      </p:sp>
      <p:sp>
        <p:nvSpPr>
          <p:cNvPr id="24" name="Text 22"/>
          <p:cNvSpPr/>
          <p:nvPr/>
        </p:nvSpPr>
        <p:spPr>
          <a:xfrm>
            <a:off x="4434840" y="292608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D1 — Acute Stroke</a:t>
            </a:r>
            <a:endParaRPr lang="en-US" sz="1300" dirty="0"/>
          </a:p>
        </p:txBody>
      </p:sp>
      <p:sp>
        <p:nvSpPr>
          <p:cNvPr id="25" name="Text 23"/>
          <p:cNvSpPr/>
          <p:nvPr/>
        </p:nvSpPr>
        <p:spPr>
          <a:xfrm>
            <a:off x="7086600" y="2926080"/>
            <a:ext cx="9144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 = 5</a:t>
            </a:r>
            <a:endParaRPr lang="en-US" sz="1600" dirty="0"/>
          </a:p>
        </p:txBody>
      </p:sp>
      <p:sp>
        <p:nvSpPr>
          <p:cNvPr id="26" name="Text 24"/>
          <p:cNvSpPr/>
          <p:nvPr/>
        </p:nvSpPr>
        <p:spPr>
          <a:xfrm>
            <a:off x="4480560" y="3474720"/>
            <a:ext cx="3474720" cy="1554480"/>
          </a:xfrm>
          <a:prstGeom prst="rect">
            <a:avLst/>
          </a:prstGeom>
          <a:noFill/>
          <a:ln/>
        </p:spPr>
        <p:txBody>
          <a:bodyPr wrap="square" lIns="0" tIns="0" rIns="0" bIns="0" rtlCol="0" anchor="t"/>
          <a:lstStyle/>
          <a:p>
            <a:pPr indent="0" marL="0">
              <a:buNone/>
            </a:pPr>
            <a:r>
              <a:rPr lang="en-US" sz="1050" b="1" dirty="0">
                <a:solidFill>
                  <a:srgbClr val="1E293B"/>
                </a:solidFill>
                <a:latin typeface="Calibri" pitchFamily="34" charset="0"/>
                <a:ea typeface="Calibri" pitchFamily="34" charset="-122"/>
                <a:cs typeface="Calibri" pitchFamily="34" charset="-120"/>
              </a:rPr>
              <a:t>Accessions: </a:t>
            </a:r>
            <a:pPr indent="0" marL="0">
              <a:buNone/>
            </a:pPr>
            <a:r>
              <a:rPr lang="en-US" sz="1050" dirty="0">
                <a:solidFill>
                  <a:srgbClr val="1E293B"/>
                </a:solidFill>
                <a:latin typeface="Calibri" pitchFamily="34" charset="0"/>
                <a:ea typeface="Calibri" pitchFamily="34" charset="-122"/>
                <a:cs typeface="Calibri" pitchFamily="34" charset="-120"/>
              </a:rPr>
              <a:t>SRR8207886–SRR8207890
</a:t>
            </a:r>
            <a:pPr indent="0" marL="0">
              <a:buNone/>
            </a:pPr>
            <a:r>
              <a:rPr lang="en-US" sz="1050" i="1" dirty="0">
                <a:solidFill>
                  <a:srgbClr val="64748B"/>
                </a:solidFill>
                <a:latin typeface="Calibri" pitchFamily="34" charset="0"/>
                <a:ea typeface="Calibri" pitchFamily="34" charset="-122"/>
                <a:cs typeface="Calibri" pitchFamily="34" charset="-120"/>
              </a:rPr>
              <a:t>Day 1 post-ischemic stroke</a:t>
            </a:r>
            <a:endParaRPr lang="en-US" sz="1050" dirty="0"/>
          </a:p>
        </p:txBody>
      </p:sp>
      <p:sp>
        <p:nvSpPr>
          <p:cNvPr id="27" name="Shape 25"/>
          <p:cNvSpPr/>
          <p:nvPr/>
        </p:nvSpPr>
        <p:spPr>
          <a:xfrm>
            <a:off x="8412480" y="2926080"/>
            <a:ext cx="3749040" cy="219456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8412480" y="2926080"/>
            <a:ext cx="3749040" cy="457200"/>
          </a:xfrm>
          <a:prstGeom prst="rect">
            <a:avLst/>
          </a:prstGeom>
          <a:solidFill>
            <a:srgbClr val="C0392B"/>
          </a:solidFill>
          <a:ln w="12700">
            <a:solidFill>
              <a:srgbClr val="C0392B"/>
            </a:solidFill>
            <a:prstDash val="solid"/>
          </a:ln>
        </p:spPr>
      </p:sp>
      <p:sp>
        <p:nvSpPr>
          <p:cNvPr id="29" name="Text 27"/>
          <p:cNvSpPr/>
          <p:nvPr/>
        </p:nvSpPr>
        <p:spPr>
          <a:xfrm>
            <a:off x="8503920" y="2926080"/>
            <a:ext cx="274320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D2 — Subacute</a:t>
            </a:r>
            <a:endParaRPr lang="en-US" sz="1300" dirty="0"/>
          </a:p>
        </p:txBody>
      </p:sp>
      <p:sp>
        <p:nvSpPr>
          <p:cNvPr id="30" name="Text 28"/>
          <p:cNvSpPr/>
          <p:nvPr/>
        </p:nvSpPr>
        <p:spPr>
          <a:xfrm>
            <a:off x="11155680" y="2926080"/>
            <a:ext cx="9144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n = 5</a:t>
            </a:r>
            <a:endParaRPr lang="en-US" sz="1600" dirty="0"/>
          </a:p>
        </p:txBody>
      </p:sp>
      <p:sp>
        <p:nvSpPr>
          <p:cNvPr id="31" name="Text 29"/>
          <p:cNvSpPr/>
          <p:nvPr/>
        </p:nvSpPr>
        <p:spPr>
          <a:xfrm>
            <a:off x="8549640" y="3474720"/>
            <a:ext cx="3474720" cy="1554480"/>
          </a:xfrm>
          <a:prstGeom prst="rect">
            <a:avLst/>
          </a:prstGeom>
          <a:noFill/>
          <a:ln/>
        </p:spPr>
        <p:txBody>
          <a:bodyPr wrap="square" lIns="0" tIns="0" rIns="0" bIns="0" rtlCol="0" anchor="t"/>
          <a:lstStyle/>
          <a:p>
            <a:pPr indent="0" marL="0">
              <a:buNone/>
            </a:pPr>
            <a:r>
              <a:rPr lang="en-US" sz="1050" b="1" dirty="0">
                <a:solidFill>
                  <a:srgbClr val="1E293B"/>
                </a:solidFill>
                <a:latin typeface="Calibri" pitchFamily="34" charset="0"/>
                <a:ea typeface="Calibri" pitchFamily="34" charset="-122"/>
                <a:cs typeface="Calibri" pitchFamily="34" charset="-120"/>
              </a:rPr>
              <a:t>Accessions: </a:t>
            </a:r>
            <a:pPr indent="0" marL="0">
              <a:buNone/>
            </a:pPr>
            <a:r>
              <a:rPr lang="en-US" sz="1050" dirty="0">
                <a:solidFill>
                  <a:srgbClr val="1E293B"/>
                </a:solidFill>
                <a:latin typeface="Calibri" pitchFamily="34" charset="0"/>
                <a:ea typeface="Calibri" pitchFamily="34" charset="-122"/>
                <a:cs typeface="Calibri" pitchFamily="34" charset="-120"/>
              </a:rPr>
              <a:t>SRR8207881–SRR8207885
</a:t>
            </a:r>
            <a:pPr indent="0" marL="0">
              <a:buNone/>
            </a:pPr>
            <a:r>
              <a:rPr lang="en-US" sz="1050" i="1" dirty="0">
                <a:solidFill>
                  <a:srgbClr val="64748B"/>
                </a:solidFill>
                <a:latin typeface="Calibri" pitchFamily="34" charset="0"/>
                <a:ea typeface="Calibri" pitchFamily="34" charset="-122"/>
                <a:cs typeface="Calibri" pitchFamily="34" charset="-120"/>
              </a:rPr>
              <a:t>Day 2 post-ischemic stroke</a:t>
            </a:r>
            <a:endParaRPr lang="en-US" sz="1050" dirty="0"/>
          </a:p>
        </p:txBody>
      </p:sp>
      <p:sp>
        <p:nvSpPr>
          <p:cNvPr id="32" name="Shape 30"/>
          <p:cNvSpPr/>
          <p:nvPr/>
        </p:nvSpPr>
        <p:spPr>
          <a:xfrm>
            <a:off x="274320" y="5257800"/>
            <a:ext cx="11612880" cy="1143000"/>
          </a:xfrm>
          <a:prstGeom prst="rect">
            <a:avLst/>
          </a:prstGeom>
          <a:solidFill>
            <a:srgbClr val="0B2545"/>
          </a:solidFill>
          <a:ln w="12700">
            <a:solidFill>
              <a:srgbClr val="0B2545"/>
            </a:solidFill>
            <a:prstDash val="solid"/>
          </a:ln>
          <a:effectLst>
            <a:outerShdw sx="100000" sy="100000" kx="0" ky="0" algn="bl" rotWithShape="0" blurRad="101600" dist="38100" dir="8100000">
              <a:srgbClr val="000000">
                <a:alpha val="12000"/>
              </a:srgbClr>
            </a:outerShdw>
          </a:effectLst>
        </p:spPr>
      </p:sp>
      <p:sp>
        <p:nvSpPr>
          <p:cNvPr id="33" name="Text 31"/>
          <p:cNvSpPr/>
          <p:nvPr/>
        </p:nvSpPr>
        <p:spPr>
          <a:xfrm>
            <a:off x="457200" y="5321808"/>
            <a:ext cx="2194560" cy="320040"/>
          </a:xfrm>
          <a:prstGeom prst="rect">
            <a:avLst/>
          </a:prstGeom>
          <a:noFill/>
          <a:ln/>
        </p:spPr>
        <p:txBody>
          <a:bodyPr wrap="square" lIns="0" tIns="0" rIns="0" bIns="0" rtlCol="0" anchor="ctr"/>
          <a:lstStyle/>
          <a:p>
            <a:pPr indent="0" marL="0">
              <a:buNone/>
            </a:pPr>
            <a:r>
              <a:rPr lang="en-US" sz="900" b="1" dirty="0">
                <a:solidFill>
                  <a:srgbClr val="F2A900"/>
                </a:solidFill>
                <a:latin typeface="Calibri" pitchFamily="34" charset="0"/>
                <a:ea typeface="Calibri" pitchFamily="34" charset="-122"/>
                <a:cs typeface="Calibri" pitchFamily="34" charset="-120"/>
              </a:rPr>
              <a:t>Platform</a:t>
            </a:r>
            <a:endParaRPr lang="en-US" sz="900" dirty="0"/>
          </a:p>
        </p:txBody>
      </p:sp>
      <p:sp>
        <p:nvSpPr>
          <p:cNvPr id="34" name="Text 32"/>
          <p:cNvSpPr/>
          <p:nvPr/>
        </p:nvSpPr>
        <p:spPr>
          <a:xfrm>
            <a:off x="457200" y="5641848"/>
            <a:ext cx="2194560" cy="621792"/>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Illumina HiSeq X Ten</a:t>
            </a:r>
            <a:endParaRPr lang="en-US" sz="1000" dirty="0"/>
          </a:p>
        </p:txBody>
      </p:sp>
      <p:sp>
        <p:nvSpPr>
          <p:cNvPr id="35" name="Text 33"/>
          <p:cNvSpPr/>
          <p:nvPr/>
        </p:nvSpPr>
        <p:spPr>
          <a:xfrm>
            <a:off x="2788920" y="5321808"/>
            <a:ext cx="2194560" cy="320040"/>
          </a:xfrm>
          <a:prstGeom prst="rect">
            <a:avLst/>
          </a:prstGeom>
          <a:noFill/>
          <a:ln/>
        </p:spPr>
        <p:txBody>
          <a:bodyPr wrap="square" lIns="0" tIns="0" rIns="0" bIns="0" rtlCol="0" anchor="ctr"/>
          <a:lstStyle/>
          <a:p>
            <a:pPr indent="0" marL="0">
              <a:buNone/>
            </a:pPr>
            <a:r>
              <a:rPr lang="en-US" sz="900" b="1" dirty="0">
                <a:solidFill>
                  <a:srgbClr val="F2A900"/>
                </a:solidFill>
                <a:latin typeface="Calibri" pitchFamily="34" charset="0"/>
                <a:ea typeface="Calibri" pitchFamily="34" charset="-122"/>
                <a:cs typeface="Calibri" pitchFamily="34" charset="-120"/>
              </a:rPr>
              <a:t>Read type</a:t>
            </a:r>
            <a:endParaRPr lang="en-US" sz="900" dirty="0"/>
          </a:p>
        </p:txBody>
      </p:sp>
      <p:sp>
        <p:nvSpPr>
          <p:cNvPr id="36" name="Text 34"/>
          <p:cNvSpPr/>
          <p:nvPr/>
        </p:nvSpPr>
        <p:spPr>
          <a:xfrm>
            <a:off x="2788920" y="5641848"/>
            <a:ext cx="2194560" cy="621792"/>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150 bp paired-end</a:t>
            </a:r>
            <a:endParaRPr lang="en-US" sz="1000" dirty="0"/>
          </a:p>
        </p:txBody>
      </p:sp>
      <p:sp>
        <p:nvSpPr>
          <p:cNvPr id="37" name="Text 35"/>
          <p:cNvSpPr/>
          <p:nvPr/>
        </p:nvSpPr>
        <p:spPr>
          <a:xfrm>
            <a:off x="5120640" y="5321808"/>
            <a:ext cx="2194560" cy="320040"/>
          </a:xfrm>
          <a:prstGeom prst="rect">
            <a:avLst/>
          </a:prstGeom>
          <a:noFill/>
          <a:ln/>
        </p:spPr>
        <p:txBody>
          <a:bodyPr wrap="square" lIns="0" tIns="0" rIns="0" bIns="0" rtlCol="0" anchor="ctr"/>
          <a:lstStyle/>
          <a:p>
            <a:pPr indent="0" marL="0">
              <a:buNone/>
            </a:pPr>
            <a:r>
              <a:rPr lang="en-US" sz="900" b="1" dirty="0">
                <a:solidFill>
                  <a:srgbClr val="F2A900"/>
                </a:solidFill>
                <a:latin typeface="Calibri" pitchFamily="34" charset="0"/>
                <a:ea typeface="Calibri" pitchFamily="34" charset="-122"/>
                <a:cs typeface="Calibri" pitchFamily="34" charset="-120"/>
              </a:rPr>
              <a:t>Depth</a:t>
            </a:r>
            <a:endParaRPr lang="en-US" sz="900" dirty="0"/>
          </a:p>
        </p:txBody>
      </p:sp>
      <p:sp>
        <p:nvSpPr>
          <p:cNvPr id="38" name="Text 36"/>
          <p:cNvSpPr/>
          <p:nvPr/>
        </p:nvSpPr>
        <p:spPr>
          <a:xfrm>
            <a:off x="5120640" y="5641848"/>
            <a:ext cx="2194560" cy="621792"/>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41–51 M read pairs/sample</a:t>
            </a:r>
            <a:endParaRPr lang="en-US" sz="1000" dirty="0"/>
          </a:p>
        </p:txBody>
      </p:sp>
      <p:sp>
        <p:nvSpPr>
          <p:cNvPr id="39" name="Text 37"/>
          <p:cNvSpPr/>
          <p:nvPr/>
        </p:nvSpPr>
        <p:spPr>
          <a:xfrm>
            <a:off x="7452360" y="5321808"/>
            <a:ext cx="2194560" cy="320040"/>
          </a:xfrm>
          <a:prstGeom prst="rect">
            <a:avLst/>
          </a:prstGeom>
          <a:noFill/>
          <a:ln/>
        </p:spPr>
        <p:txBody>
          <a:bodyPr wrap="square" lIns="0" tIns="0" rIns="0" bIns="0" rtlCol="0" anchor="ctr"/>
          <a:lstStyle/>
          <a:p>
            <a:pPr indent="0" marL="0">
              <a:buNone/>
            </a:pPr>
            <a:r>
              <a:rPr lang="en-US" sz="900" b="1" dirty="0">
                <a:solidFill>
                  <a:srgbClr val="F2A900"/>
                </a:solidFill>
                <a:latin typeface="Calibri" pitchFamily="34" charset="0"/>
                <a:ea typeface="Calibri" pitchFamily="34" charset="-122"/>
                <a:cs typeface="Calibri" pitchFamily="34" charset="-120"/>
              </a:rPr>
              <a:t>Total data</a:t>
            </a:r>
            <a:endParaRPr lang="en-US" sz="900" dirty="0"/>
          </a:p>
        </p:txBody>
      </p:sp>
      <p:sp>
        <p:nvSpPr>
          <p:cNvPr id="40" name="Text 38"/>
          <p:cNvSpPr/>
          <p:nvPr/>
        </p:nvSpPr>
        <p:spPr>
          <a:xfrm>
            <a:off x="7452360" y="5641848"/>
            <a:ext cx="2194560" cy="621792"/>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~98 GB compressed FASTQ</a:t>
            </a:r>
            <a:endParaRPr lang="en-US" sz="1000" dirty="0"/>
          </a:p>
        </p:txBody>
      </p:sp>
      <p:sp>
        <p:nvSpPr>
          <p:cNvPr id="41" name="Text 39"/>
          <p:cNvSpPr/>
          <p:nvPr/>
        </p:nvSpPr>
        <p:spPr>
          <a:xfrm>
            <a:off x="9784080" y="5321808"/>
            <a:ext cx="2194560" cy="320040"/>
          </a:xfrm>
          <a:prstGeom prst="rect">
            <a:avLst/>
          </a:prstGeom>
          <a:noFill/>
          <a:ln/>
        </p:spPr>
        <p:txBody>
          <a:bodyPr wrap="square" lIns="0" tIns="0" rIns="0" bIns="0" rtlCol="0" anchor="ctr"/>
          <a:lstStyle/>
          <a:p>
            <a:pPr indent="0" marL="0">
              <a:buNone/>
            </a:pPr>
            <a:r>
              <a:rPr lang="en-US" sz="900" b="1" dirty="0">
                <a:solidFill>
                  <a:srgbClr val="F2A900"/>
                </a:solidFill>
                <a:latin typeface="Calibri" pitchFamily="34" charset="0"/>
                <a:ea typeface="Calibri" pitchFamily="34" charset="-122"/>
                <a:cs typeface="Calibri" pitchFamily="34" charset="-120"/>
              </a:rPr>
              <a:t>Total reads</a:t>
            </a:r>
            <a:endParaRPr lang="en-US" sz="900" dirty="0"/>
          </a:p>
        </p:txBody>
      </p:sp>
      <p:sp>
        <p:nvSpPr>
          <p:cNvPr id="42" name="Text 40"/>
          <p:cNvSpPr/>
          <p:nvPr/>
        </p:nvSpPr>
        <p:spPr>
          <a:xfrm>
            <a:off x="9784080" y="5641848"/>
            <a:ext cx="2194560" cy="621792"/>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~700 M read pairs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B2545"/>
          </a:solidFill>
          <a:ln w="12700">
            <a:solidFill>
              <a:srgbClr val="0B2545"/>
            </a:solidFill>
            <a:prstDash val="solid"/>
          </a:ln>
        </p:spPr>
      </p:sp>
      <p:sp>
        <p:nvSpPr>
          <p:cNvPr id="3" name="Text 1"/>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4" name="Text 2"/>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5 / 22</a:t>
            </a:r>
            <a:endParaRPr lang="en-US" sz="750" dirty="0"/>
          </a:p>
        </p:txBody>
      </p:sp>
      <p:sp>
        <p:nvSpPr>
          <p:cNvPr id="5" name="Text 3"/>
          <p:cNvSpPr/>
          <p:nvPr/>
        </p:nvSpPr>
        <p:spPr>
          <a:xfrm>
            <a:off x="365760" y="137160"/>
            <a:ext cx="114300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Computational Analysis Pipeline</a:t>
            </a:r>
            <a:endParaRPr lang="en-US" sz="2600" dirty="0"/>
          </a:p>
        </p:txBody>
      </p:sp>
      <p:sp>
        <p:nvSpPr>
          <p:cNvPr id="6" name="Text 4"/>
          <p:cNvSpPr/>
          <p:nvPr/>
        </p:nvSpPr>
        <p:spPr>
          <a:xfrm>
            <a:off x="365760" y="713232"/>
            <a:ext cx="11430000" cy="32004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A fully reproducible, end-to-end RNA-seq workflow from raw FASTQ to biological interpretation</a:t>
            </a:r>
            <a:endParaRPr lang="en-US" sz="1200" dirty="0"/>
          </a:p>
        </p:txBody>
      </p:sp>
      <p:sp>
        <p:nvSpPr>
          <p:cNvPr id="7" name="Shape 5"/>
          <p:cNvSpPr/>
          <p:nvPr/>
        </p:nvSpPr>
        <p:spPr>
          <a:xfrm>
            <a:off x="228600" y="1188720"/>
            <a:ext cx="2103120" cy="3108960"/>
          </a:xfrm>
          <a:prstGeom prst="rect">
            <a:avLst/>
          </a:prstGeom>
          <a:solidFill>
            <a:srgbClr val="112B50"/>
          </a:solidFill>
          <a:ln w="12700">
            <a:solidFill>
              <a:srgbClr val="0D7377"/>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228600" y="1188720"/>
            <a:ext cx="2103120" cy="640080"/>
          </a:xfrm>
          <a:prstGeom prst="rect">
            <a:avLst/>
          </a:prstGeom>
          <a:solidFill>
            <a:srgbClr val="0D7377"/>
          </a:solidFill>
          <a:ln w="12700">
            <a:solidFill>
              <a:srgbClr val="0D7377"/>
            </a:solidFill>
            <a:prstDash val="solid"/>
          </a:ln>
        </p:spPr>
      </p:sp>
      <p:sp>
        <p:nvSpPr>
          <p:cNvPr id="9" name="Text 7"/>
          <p:cNvSpPr/>
          <p:nvPr/>
        </p:nvSpPr>
        <p:spPr>
          <a:xfrm>
            <a:off x="228600" y="11887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①</a:t>
            </a:r>
            <a:endParaRPr lang="en-US" sz="2000" dirty="0"/>
          </a:p>
        </p:txBody>
      </p:sp>
      <p:sp>
        <p:nvSpPr>
          <p:cNvPr id="10" name="Text 8"/>
          <p:cNvSpPr/>
          <p:nvPr/>
        </p:nvSpPr>
        <p:spPr>
          <a:xfrm>
            <a:off x="228600" y="1920240"/>
            <a:ext cx="210312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Download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&amp; Setup</a:t>
            </a:r>
            <a:endParaRPr lang="en-US" sz="1300" dirty="0"/>
          </a:p>
        </p:txBody>
      </p:sp>
      <p:sp>
        <p:nvSpPr>
          <p:cNvPr id="11" name="Text 9"/>
          <p:cNvSpPr/>
          <p:nvPr/>
        </p:nvSpPr>
        <p:spPr>
          <a:xfrm>
            <a:off x="320040" y="2834640"/>
            <a:ext cx="1920240" cy="640080"/>
          </a:xfrm>
          <a:prstGeom prst="rect">
            <a:avLst/>
          </a:prstGeom>
          <a:noFill/>
          <a:ln/>
        </p:spPr>
        <p:txBody>
          <a:bodyPr wrap="square" lIns="0" tIns="0" rIns="0" bIns="0" rtlCol="0" anchor="ctr"/>
          <a:lstStyle/>
          <a:p>
            <a:pPr algn="ctr" indent="0" marL="0">
              <a:buNone/>
            </a:pPr>
            <a:r>
              <a:rPr lang="en-US" sz="1000" dirty="0">
                <a:solidFill>
                  <a:srgbClr val="0D7377"/>
                </a:solidFill>
                <a:latin typeface="Calibri" pitchFamily="34" charset="0"/>
                <a:ea typeface="Calibri" pitchFamily="34" charset="-122"/>
                <a:cs typeface="Calibri" pitchFamily="34" charset="-120"/>
              </a:rPr>
              <a:t>SRA Toolkit</a:t>
            </a:r>
            <a:endParaRPr lang="en-US" sz="1000" dirty="0"/>
          </a:p>
          <a:p>
            <a:pPr algn="ctr" indent="0" marL="0">
              <a:buNone/>
            </a:pPr>
            <a:r>
              <a:rPr lang="en-US" sz="1000" dirty="0">
                <a:solidFill>
                  <a:srgbClr val="0D7377"/>
                </a:solidFill>
                <a:latin typeface="Calibri" pitchFamily="34" charset="0"/>
                <a:ea typeface="Calibri" pitchFamily="34" charset="-122"/>
                <a:cs typeface="Calibri" pitchFamily="34" charset="-120"/>
              </a:rPr>
              <a:t>Miniconda / WSL2</a:t>
            </a:r>
            <a:endParaRPr lang="en-US" sz="1000" dirty="0"/>
          </a:p>
        </p:txBody>
      </p:sp>
      <p:sp>
        <p:nvSpPr>
          <p:cNvPr id="12" name="Shape 10"/>
          <p:cNvSpPr/>
          <p:nvPr/>
        </p:nvSpPr>
        <p:spPr>
          <a:xfrm>
            <a:off x="2331720" y="2606040"/>
            <a:ext cx="411480" cy="91440"/>
          </a:xfrm>
          <a:prstGeom prst="rect">
            <a:avLst/>
          </a:prstGeom>
          <a:solidFill>
            <a:srgbClr val="CBD5E1"/>
          </a:solidFill>
          <a:ln w="12700">
            <a:solidFill>
              <a:srgbClr val="CBD5E1"/>
            </a:solidFill>
            <a:prstDash val="solid"/>
          </a:ln>
        </p:spPr>
      </p:sp>
      <p:sp>
        <p:nvSpPr>
          <p:cNvPr id="13" name="Shape 11"/>
          <p:cNvSpPr/>
          <p:nvPr/>
        </p:nvSpPr>
        <p:spPr>
          <a:xfrm>
            <a:off x="2514600" y="1188720"/>
            <a:ext cx="2103120" cy="3108960"/>
          </a:xfrm>
          <a:prstGeom prst="rect">
            <a:avLst/>
          </a:prstGeom>
          <a:solidFill>
            <a:srgbClr val="112B50"/>
          </a:solidFill>
          <a:ln w="12700">
            <a:solidFill>
              <a:srgbClr val="1368AA"/>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2514600" y="1188720"/>
            <a:ext cx="2103120" cy="640080"/>
          </a:xfrm>
          <a:prstGeom prst="rect">
            <a:avLst/>
          </a:prstGeom>
          <a:solidFill>
            <a:srgbClr val="1368AA"/>
          </a:solidFill>
          <a:ln w="12700">
            <a:solidFill>
              <a:srgbClr val="1368AA"/>
            </a:solidFill>
            <a:prstDash val="solid"/>
          </a:ln>
        </p:spPr>
      </p:sp>
      <p:sp>
        <p:nvSpPr>
          <p:cNvPr id="15" name="Text 13"/>
          <p:cNvSpPr/>
          <p:nvPr/>
        </p:nvSpPr>
        <p:spPr>
          <a:xfrm>
            <a:off x="2514600" y="11887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②</a:t>
            </a:r>
            <a:endParaRPr lang="en-US" sz="2000" dirty="0"/>
          </a:p>
        </p:txBody>
      </p:sp>
      <p:sp>
        <p:nvSpPr>
          <p:cNvPr id="16" name="Text 14"/>
          <p:cNvSpPr/>
          <p:nvPr/>
        </p:nvSpPr>
        <p:spPr>
          <a:xfrm>
            <a:off x="2514600" y="1920240"/>
            <a:ext cx="210312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Quality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Control</a:t>
            </a:r>
            <a:endParaRPr lang="en-US" sz="1300" dirty="0"/>
          </a:p>
        </p:txBody>
      </p:sp>
      <p:sp>
        <p:nvSpPr>
          <p:cNvPr id="17" name="Text 15"/>
          <p:cNvSpPr/>
          <p:nvPr/>
        </p:nvSpPr>
        <p:spPr>
          <a:xfrm>
            <a:off x="2606040" y="2834640"/>
            <a:ext cx="1920240" cy="640080"/>
          </a:xfrm>
          <a:prstGeom prst="rect">
            <a:avLst/>
          </a:prstGeom>
          <a:noFill/>
          <a:ln/>
        </p:spPr>
        <p:txBody>
          <a:bodyPr wrap="square" lIns="0" tIns="0" rIns="0" bIns="0" rtlCol="0" anchor="ctr"/>
          <a:lstStyle/>
          <a:p>
            <a:pPr algn="ctr" indent="0" marL="0">
              <a:buNone/>
            </a:pPr>
            <a:r>
              <a:rPr lang="en-US" sz="1000" dirty="0">
                <a:solidFill>
                  <a:srgbClr val="1368AA"/>
                </a:solidFill>
                <a:latin typeface="Calibri" pitchFamily="34" charset="0"/>
                <a:ea typeface="Calibri" pitchFamily="34" charset="-122"/>
                <a:cs typeface="Calibri" pitchFamily="34" charset="-120"/>
              </a:rPr>
              <a:t>FastQC v0.12</a:t>
            </a:r>
            <a:endParaRPr lang="en-US" sz="1000" dirty="0"/>
          </a:p>
          <a:p>
            <a:pPr algn="ctr" indent="0" marL="0">
              <a:buNone/>
            </a:pPr>
            <a:r>
              <a:rPr lang="en-US" sz="1000" dirty="0">
                <a:solidFill>
                  <a:srgbClr val="1368AA"/>
                </a:solidFill>
                <a:latin typeface="Calibri" pitchFamily="34" charset="0"/>
                <a:ea typeface="Calibri" pitchFamily="34" charset="-122"/>
                <a:cs typeface="Calibri" pitchFamily="34" charset="-120"/>
              </a:rPr>
              <a:t>MultiQC v1.18</a:t>
            </a:r>
            <a:endParaRPr lang="en-US" sz="1000" dirty="0"/>
          </a:p>
        </p:txBody>
      </p:sp>
      <p:sp>
        <p:nvSpPr>
          <p:cNvPr id="18" name="Shape 16"/>
          <p:cNvSpPr/>
          <p:nvPr/>
        </p:nvSpPr>
        <p:spPr>
          <a:xfrm>
            <a:off x="4617720" y="2606040"/>
            <a:ext cx="411480" cy="91440"/>
          </a:xfrm>
          <a:prstGeom prst="rect">
            <a:avLst/>
          </a:prstGeom>
          <a:solidFill>
            <a:srgbClr val="CBD5E1"/>
          </a:solidFill>
          <a:ln w="12700">
            <a:solidFill>
              <a:srgbClr val="CBD5E1"/>
            </a:solidFill>
            <a:prstDash val="solid"/>
          </a:ln>
        </p:spPr>
      </p:sp>
      <p:sp>
        <p:nvSpPr>
          <p:cNvPr id="19" name="Shape 17"/>
          <p:cNvSpPr/>
          <p:nvPr/>
        </p:nvSpPr>
        <p:spPr>
          <a:xfrm>
            <a:off x="4800600" y="1188720"/>
            <a:ext cx="2103120" cy="3108960"/>
          </a:xfrm>
          <a:prstGeom prst="rect">
            <a:avLst/>
          </a:prstGeom>
          <a:solidFill>
            <a:srgbClr val="112B50"/>
          </a:solidFill>
          <a:ln w="12700">
            <a:solidFill>
              <a:srgbClr val="6A5ACD"/>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800600" y="1188720"/>
            <a:ext cx="2103120" cy="640080"/>
          </a:xfrm>
          <a:prstGeom prst="rect">
            <a:avLst/>
          </a:prstGeom>
          <a:solidFill>
            <a:srgbClr val="6A5ACD"/>
          </a:solidFill>
          <a:ln w="12700">
            <a:solidFill>
              <a:srgbClr val="6A5ACD"/>
            </a:solidFill>
            <a:prstDash val="solid"/>
          </a:ln>
        </p:spPr>
      </p:sp>
      <p:sp>
        <p:nvSpPr>
          <p:cNvPr id="21" name="Text 19"/>
          <p:cNvSpPr/>
          <p:nvPr/>
        </p:nvSpPr>
        <p:spPr>
          <a:xfrm>
            <a:off x="4800600" y="11887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③</a:t>
            </a:r>
            <a:endParaRPr lang="en-US" sz="2000" dirty="0"/>
          </a:p>
        </p:txBody>
      </p:sp>
      <p:sp>
        <p:nvSpPr>
          <p:cNvPr id="22" name="Text 20"/>
          <p:cNvSpPr/>
          <p:nvPr/>
        </p:nvSpPr>
        <p:spPr>
          <a:xfrm>
            <a:off x="4800600" y="1920240"/>
            <a:ext cx="210312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Genome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Alignment</a:t>
            </a:r>
            <a:endParaRPr lang="en-US" sz="1300" dirty="0"/>
          </a:p>
        </p:txBody>
      </p:sp>
      <p:sp>
        <p:nvSpPr>
          <p:cNvPr id="23" name="Text 21"/>
          <p:cNvSpPr/>
          <p:nvPr/>
        </p:nvSpPr>
        <p:spPr>
          <a:xfrm>
            <a:off x="4892040" y="2834640"/>
            <a:ext cx="1920240" cy="640080"/>
          </a:xfrm>
          <a:prstGeom prst="rect">
            <a:avLst/>
          </a:prstGeom>
          <a:noFill/>
          <a:ln/>
        </p:spPr>
        <p:txBody>
          <a:bodyPr wrap="square" lIns="0" tIns="0" rIns="0" bIns="0" rtlCol="0" anchor="ctr"/>
          <a:lstStyle/>
          <a:p>
            <a:pPr algn="ctr" indent="0" marL="0">
              <a:buNone/>
            </a:pPr>
            <a:r>
              <a:rPr lang="en-US" sz="1000" dirty="0">
                <a:solidFill>
                  <a:srgbClr val="6A5ACD"/>
                </a:solidFill>
                <a:latin typeface="Calibri" pitchFamily="34" charset="0"/>
                <a:ea typeface="Calibri" pitchFamily="34" charset="-122"/>
                <a:cs typeface="Calibri" pitchFamily="34" charset="-120"/>
              </a:rPr>
              <a:t>HISAT2 v2.2</a:t>
            </a:r>
            <a:endParaRPr lang="en-US" sz="1000" dirty="0"/>
          </a:p>
          <a:p>
            <a:pPr algn="ctr" indent="0" marL="0">
              <a:buNone/>
            </a:pPr>
            <a:r>
              <a:rPr lang="en-US" sz="1000" dirty="0">
                <a:solidFill>
                  <a:srgbClr val="6A5ACD"/>
                </a:solidFill>
                <a:latin typeface="Calibri" pitchFamily="34" charset="0"/>
                <a:ea typeface="Calibri" pitchFamily="34" charset="-122"/>
                <a:cs typeface="Calibri" pitchFamily="34" charset="-120"/>
              </a:rPr>
              <a:t>SAMtools v1.18</a:t>
            </a:r>
            <a:endParaRPr lang="en-US" sz="1000" dirty="0"/>
          </a:p>
        </p:txBody>
      </p:sp>
      <p:sp>
        <p:nvSpPr>
          <p:cNvPr id="24" name="Shape 22"/>
          <p:cNvSpPr/>
          <p:nvPr/>
        </p:nvSpPr>
        <p:spPr>
          <a:xfrm>
            <a:off x="6903720" y="2606040"/>
            <a:ext cx="411480" cy="91440"/>
          </a:xfrm>
          <a:prstGeom prst="rect">
            <a:avLst/>
          </a:prstGeom>
          <a:solidFill>
            <a:srgbClr val="CBD5E1"/>
          </a:solidFill>
          <a:ln w="12700">
            <a:solidFill>
              <a:srgbClr val="CBD5E1"/>
            </a:solidFill>
            <a:prstDash val="solid"/>
          </a:ln>
        </p:spPr>
      </p:sp>
      <p:sp>
        <p:nvSpPr>
          <p:cNvPr id="25" name="Shape 23"/>
          <p:cNvSpPr/>
          <p:nvPr/>
        </p:nvSpPr>
        <p:spPr>
          <a:xfrm>
            <a:off x="7086600" y="1188720"/>
            <a:ext cx="2103120" cy="3108960"/>
          </a:xfrm>
          <a:prstGeom prst="rect">
            <a:avLst/>
          </a:prstGeom>
          <a:solidFill>
            <a:srgbClr val="112B50"/>
          </a:solidFill>
          <a:ln w="12700">
            <a:solidFill>
              <a:srgbClr val="F2A900"/>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7086600" y="1188720"/>
            <a:ext cx="2103120" cy="640080"/>
          </a:xfrm>
          <a:prstGeom prst="rect">
            <a:avLst/>
          </a:prstGeom>
          <a:solidFill>
            <a:srgbClr val="F2A900"/>
          </a:solidFill>
          <a:ln w="12700">
            <a:solidFill>
              <a:srgbClr val="F2A900"/>
            </a:solidFill>
            <a:prstDash val="solid"/>
          </a:ln>
        </p:spPr>
      </p:sp>
      <p:sp>
        <p:nvSpPr>
          <p:cNvPr id="27" name="Text 25"/>
          <p:cNvSpPr/>
          <p:nvPr/>
        </p:nvSpPr>
        <p:spPr>
          <a:xfrm>
            <a:off x="7086600" y="11887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④</a:t>
            </a:r>
            <a:endParaRPr lang="en-US" sz="2000" dirty="0"/>
          </a:p>
        </p:txBody>
      </p:sp>
      <p:sp>
        <p:nvSpPr>
          <p:cNvPr id="28" name="Text 26"/>
          <p:cNvSpPr/>
          <p:nvPr/>
        </p:nvSpPr>
        <p:spPr>
          <a:xfrm>
            <a:off x="7086600" y="1920240"/>
            <a:ext cx="210312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Gene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Quantification</a:t>
            </a:r>
            <a:endParaRPr lang="en-US" sz="1300" dirty="0"/>
          </a:p>
        </p:txBody>
      </p:sp>
      <p:sp>
        <p:nvSpPr>
          <p:cNvPr id="29" name="Text 27"/>
          <p:cNvSpPr/>
          <p:nvPr/>
        </p:nvSpPr>
        <p:spPr>
          <a:xfrm>
            <a:off x="7178040" y="2834640"/>
            <a:ext cx="1920240" cy="640080"/>
          </a:xfrm>
          <a:prstGeom prst="rect">
            <a:avLst/>
          </a:prstGeom>
          <a:noFill/>
          <a:ln/>
        </p:spPr>
        <p:txBody>
          <a:bodyPr wrap="square" lIns="0" tIns="0" rIns="0" bIns="0" rtlCol="0" anchor="ctr"/>
          <a:lstStyle/>
          <a:p>
            <a:pPr algn="ctr" indent="0" marL="0">
              <a:buNone/>
            </a:pPr>
            <a:r>
              <a:rPr lang="en-US" sz="1000" dirty="0">
                <a:solidFill>
                  <a:srgbClr val="F2A900"/>
                </a:solidFill>
                <a:latin typeface="Calibri" pitchFamily="34" charset="0"/>
                <a:ea typeface="Calibri" pitchFamily="34" charset="-122"/>
                <a:cs typeface="Calibri" pitchFamily="34" charset="-120"/>
              </a:rPr>
              <a:t>featureCounts</a:t>
            </a:r>
            <a:endParaRPr lang="en-US" sz="1000" dirty="0"/>
          </a:p>
          <a:p>
            <a:pPr algn="ctr" indent="0" marL="0">
              <a:buNone/>
            </a:pPr>
            <a:r>
              <a:rPr lang="en-US" sz="1000" dirty="0">
                <a:solidFill>
                  <a:srgbClr val="F2A900"/>
                </a:solidFill>
                <a:latin typeface="Calibri" pitchFamily="34" charset="0"/>
                <a:ea typeface="Calibri" pitchFamily="34" charset="-122"/>
                <a:cs typeface="Calibri" pitchFamily="34" charset="-120"/>
              </a:rPr>
              <a:t>GENCODE v44 GTF</a:t>
            </a:r>
            <a:endParaRPr lang="en-US" sz="1000" dirty="0"/>
          </a:p>
        </p:txBody>
      </p:sp>
      <p:sp>
        <p:nvSpPr>
          <p:cNvPr id="30" name="Shape 28"/>
          <p:cNvSpPr/>
          <p:nvPr/>
        </p:nvSpPr>
        <p:spPr>
          <a:xfrm>
            <a:off x="9189720" y="2606040"/>
            <a:ext cx="411480" cy="91440"/>
          </a:xfrm>
          <a:prstGeom prst="rect">
            <a:avLst/>
          </a:prstGeom>
          <a:solidFill>
            <a:srgbClr val="CBD5E1"/>
          </a:solidFill>
          <a:ln w="12700">
            <a:solidFill>
              <a:srgbClr val="CBD5E1"/>
            </a:solidFill>
            <a:prstDash val="solid"/>
          </a:ln>
        </p:spPr>
      </p:sp>
      <p:sp>
        <p:nvSpPr>
          <p:cNvPr id="31" name="Shape 29"/>
          <p:cNvSpPr/>
          <p:nvPr/>
        </p:nvSpPr>
        <p:spPr>
          <a:xfrm>
            <a:off x="9372600" y="1188720"/>
            <a:ext cx="2103120" cy="3108960"/>
          </a:xfrm>
          <a:prstGeom prst="rect">
            <a:avLst/>
          </a:prstGeom>
          <a:solidFill>
            <a:srgbClr val="112B50"/>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9372600" y="1188720"/>
            <a:ext cx="2103120" cy="640080"/>
          </a:xfrm>
          <a:prstGeom prst="rect">
            <a:avLst/>
          </a:prstGeom>
          <a:solidFill>
            <a:srgbClr val="C0392B"/>
          </a:solidFill>
          <a:ln w="12700">
            <a:solidFill>
              <a:srgbClr val="C0392B"/>
            </a:solidFill>
            <a:prstDash val="solid"/>
          </a:ln>
        </p:spPr>
      </p:sp>
      <p:sp>
        <p:nvSpPr>
          <p:cNvPr id="33" name="Text 31"/>
          <p:cNvSpPr/>
          <p:nvPr/>
        </p:nvSpPr>
        <p:spPr>
          <a:xfrm>
            <a:off x="9372600" y="11887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⑤</a:t>
            </a:r>
            <a:endParaRPr lang="en-US" sz="2000" dirty="0"/>
          </a:p>
        </p:txBody>
      </p:sp>
      <p:sp>
        <p:nvSpPr>
          <p:cNvPr id="34" name="Text 32"/>
          <p:cNvSpPr/>
          <p:nvPr/>
        </p:nvSpPr>
        <p:spPr>
          <a:xfrm>
            <a:off x="9372600" y="1920240"/>
            <a:ext cx="210312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Differential</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Expression</a:t>
            </a:r>
            <a:endParaRPr lang="en-US" sz="1300" dirty="0"/>
          </a:p>
        </p:txBody>
      </p:sp>
      <p:sp>
        <p:nvSpPr>
          <p:cNvPr id="35" name="Text 33"/>
          <p:cNvSpPr/>
          <p:nvPr/>
        </p:nvSpPr>
        <p:spPr>
          <a:xfrm>
            <a:off x="9464040" y="2834640"/>
            <a:ext cx="1920240" cy="640080"/>
          </a:xfrm>
          <a:prstGeom prst="rect">
            <a:avLst/>
          </a:prstGeom>
          <a:noFill/>
          <a:ln/>
        </p:spPr>
        <p:txBody>
          <a:bodyPr wrap="square" lIns="0" tIns="0" rIns="0" bIns="0" rtlCol="0" anchor="ctr"/>
          <a:lstStyle/>
          <a:p>
            <a:pPr algn="ctr" indent="0" marL="0">
              <a:buNone/>
            </a:pPr>
            <a:r>
              <a:rPr lang="en-US" sz="1000" dirty="0">
                <a:solidFill>
                  <a:srgbClr val="C0392B"/>
                </a:solidFill>
                <a:latin typeface="Calibri" pitchFamily="34" charset="0"/>
                <a:ea typeface="Calibri" pitchFamily="34" charset="-122"/>
                <a:cs typeface="Calibri" pitchFamily="34" charset="-120"/>
              </a:rPr>
              <a:t>DESeq2 v1.42</a:t>
            </a:r>
            <a:endParaRPr lang="en-US" sz="1000" dirty="0"/>
          </a:p>
          <a:p>
            <a:pPr algn="ctr" indent="0" marL="0">
              <a:buNone/>
            </a:pPr>
            <a:r>
              <a:rPr lang="en-US" sz="1000" dirty="0">
                <a:solidFill>
                  <a:srgbClr val="C0392B"/>
                </a:solidFill>
                <a:latin typeface="Calibri" pitchFamily="34" charset="0"/>
                <a:ea typeface="Calibri" pitchFamily="34" charset="-122"/>
                <a:cs typeface="Calibri" pitchFamily="34" charset="-120"/>
              </a:rPr>
              <a:t>R / Bioconductor</a:t>
            </a:r>
            <a:endParaRPr lang="en-US" sz="1000" dirty="0"/>
          </a:p>
        </p:txBody>
      </p:sp>
      <p:sp>
        <p:nvSpPr>
          <p:cNvPr id="36" name="Shape 34"/>
          <p:cNvSpPr/>
          <p:nvPr/>
        </p:nvSpPr>
        <p:spPr>
          <a:xfrm>
            <a:off x="228600" y="4480560"/>
            <a:ext cx="11704320" cy="2103120"/>
          </a:xfrm>
          <a:prstGeom prst="rect">
            <a:avLst/>
          </a:prstGeom>
          <a:solidFill>
            <a:srgbClr val="112B50"/>
          </a:solidFill>
          <a:ln w="12700">
            <a:solidFill>
              <a:srgbClr val="00A878"/>
            </a:solidFill>
            <a:prstDash val="solid"/>
          </a:ln>
          <a:effectLst>
            <a:outerShdw sx="100000" sy="100000" kx="0" ky="0" algn="bl" rotWithShape="0" blurRad="101600" dist="38100" dir="8100000">
              <a:srgbClr val="000000">
                <a:alpha val="12000"/>
              </a:srgbClr>
            </a:outerShdw>
          </a:effectLst>
        </p:spPr>
      </p:sp>
      <p:sp>
        <p:nvSpPr>
          <p:cNvPr id="37" name="Shape 35"/>
          <p:cNvSpPr/>
          <p:nvPr/>
        </p:nvSpPr>
        <p:spPr>
          <a:xfrm>
            <a:off x="228600" y="4480560"/>
            <a:ext cx="11704320" cy="502920"/>
          </a:xfrm>
          <a:prstGeom prst="rect">
            <a:avLst/>
          </a:prstGeom>
          <a:solidFill>
            <a:srgbClr val="00A878"/>
          </a:solidFill>
          <a:ln w="12700">
            <a:solidFill>
              <a:srgbClr val="00A878"/>
            </a:solidFill>
            <a:prstDash val="solid"/>
          </a:ln>
        </p:spPr>
      </p:sp>
      <p:sp>
        <p:nvSpPr>
          <p:cNvPr id="38" name="Text 36"/>
          <p:cNvSpPr/>
          <p:nvPr/>
        </p:nvSpPr>
        <p:spPr>
          <a:xfrm>
            <a:off x="411480" y="4480560"/>
            <a:ext cx="82296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⑥  Functional Enrichment Analysis</a:t>
            </a:r>
            <a:endParaRPr lang="en-US" sz="1400" dirty="0"/>
          </a:p>
        </p:txBody>
      </p:sp>
      <p:sp>
        <p:nvSpPr>
          <p:cNvPr id="39" name="Text 37"/>
          <p:cNvSpPr/>
          <p:nvPr/>
        </p:nvSpPr>
        <p:spPr>
          <a:xfrm>
            <a:off x="8229600" y="4480560"/>
            <a:ext cx="3657600" cy="502920"/>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clusterProfiler v4.10  |  org.Hs.eg.db</a:t>
            </a:r>
            <a:endParaRPr lang="en-US" sz="1100" dirty="0"/>
          </a:p>
        </p:txBody>
      </p:sp>
      <p:sp>
        <p:nvSpPr>
          <p:cNvPr id="40" name="Text 38"/>
          <p:cNvSpPr/>
          <p:nvPr/>
        </p:nvSpPr>
        <p:spPr>
          <a:xfrm>
            <a:off x="502920" y="5074920"/>
            <a:ext cx="3657600" cy="365760"/>
          </a:xfrm>
          <a:prstGeom prst="rect">
            <a:avLst/>
          </a:prstGeom>
          <a:noFill/>
          <a:ln/>
        </p:spPr>
        <p:txBody>
          <a:bodyPr wrap="square" lIns="0" tIns="0" rIns="0" bIns="0" rtlCol="0" anchor="ctr"/>
          <a:lstStyle/>
          <a:p>
            <a:pPr indent="0" marL="0">
              <a:buNone/>
            </a:pPr>
            <a:r>
              <a:rPr lang="en-US" sz="1200" b="1" dirty="0">
                <a:solidFill>
                  <a:srgbClr val="F2A900"/>
                </a:solidFill>
                <a:latin typeface="Calibri" pitchFamily="34" charset="0"/>
                <a:ea typeface="Calibri" pitchFamily="34" charset="-122"/>
                <a:cs typeface="Calibri" pitchFamily="34" charset="-120"/>
              </a:rPr>
              <a:t>enrichGO</a:t>
            </a:r>
            <a:endParaRPr lang="en-US" sz="1200" dirty="0"/>
          </a:p>
        </p:txBody>
      </p:sp>
      <p:sp>
        <p:nvSpPr>
          <p:cNvPr id="41" name="Text 39"/>
          <p:cNvSpPr/>
          <p:nvPr/>
        </p:nvSpPr>
        <p:spPr>
          <a:xfrm>
            <a:off x="502920" y="5440680"/>
            <a:ext cx="3657600" cy="82296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Gene Ontology over-representation</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(BP, MF, CC ontologies)</a:t>
            </a:r>
            <a:endParaRPr lang="en-US" sz="1000" dirty="0"/>
          </a:p>
        </p:txBody>
      </p:sp>
      <p:sp>
        <p:nvSpPr>
          <p:cNvPr id="42" name="Text 40"/>
          <p:cNvSpPr/>
          <p:nvPr/>
        </p:nvSpPr>
        <p:spPr>
          <a:xfrm>
            <a:off x="4389120" y="5074920"/>
            <a:ext cx="3657600" cy="365760"/>
          </a:xfrm>
          <a:prstGeom prst="rect">
            <a:avLst/>
          </a:prstGeom>
          <a:noFill/>
          <a:ln/>
        </p:spPr>
        <p:txBody>
          <a:bodyPr wrap="square" lIns="0" tIns="0" rIns="0" bIns="0" rtlCol="0" anchor="ctr"/>
          <a:lstStyle/>
          <a:p>
            <a:pPr indent="0" marL="0">
              <a:buNone/>
            </a:pPr>
            <a:r>
              <a:rPr lang="en-US" sz="1200" b="1" dirty="0">
                <a:solidFill>
                  <a:srgbClr val="F2A900"/>
                </a:solidFill>
                <a:latin typeface="Calibri" pitchFamily="34" charset="0"/>
                <a:ea typeface="Calibri" pitchFamily="34" charset="-122"/>
                <a:cs typeface="Calibri" pitchFamily="34" charset="-120"/>
              </a:rPr>
              <a:t>enrichKEGG</a:t>
            </a:r>
            <a:endParaRPr lang="en-US" sz="1200" dirty="0"/>
          </a:p>
        </p:txBody>
      </p:sp>
      <p:sp>
        <p:nvSpPr>
          <p:cNvPr id="43" name="Text 41"/>
          <p:cNvSpPr/>
          <p:nvPr/>
        </p:nvSpPr>
        <p:spPr>
          <a:xfrm>
            <a:off x="4389120" y="5440680"/>
            <a:ext cx="3657600" cy="82296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KEGG pathway enrichment</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(curated biological pathways)</a:t>
            </a:r>
            <a:endParaRPr lang="en-US" sz="1000" dirty="0"/>
          </a:p>
        </p:txBody>
      </p:sp>
      <p:sp>
        <p:nvSpPr>
          <p:cNvPr id="44" name="Text 42"/>
          <p:cNvSpPr/>
          <p:nvPr/>
        </p:nvSpPr>
        <p:spPr>
          <a:xfrm>
            <a:off x="8275320" y="5074920"/>
            <a:ext cx="3657600" cy="365760"/>
          </a:xfrm>
          <a:prstGeom prst="rect">
            <a:avLst/>
          </a:prstGeom>
          <a:noFill/>
          <a:ln/>
        </p:spPr>
        <p:txBody>
          <a:bodyPr wrap="square" lIns="0" tIns="0" rIns="0" bIns="0" rtlCol="0" anchor="ctr"/>
          <a:lstStyle/>
          <a:p>
            <a:pPr indent="0" marL="0">
              <a:buNone/>
            </a:pPr>
            <a:r>
              <a:rPr lang="en-US" sz="1200" b="1" dirty="0">
                <a:solidFill>
                  <a:srgbClr val="F2A900"/>
                </a:solidFill>
                <a:latin typeface="Calibri" pitchFamily="34" charset="0"/>
                <a:ea typeface="Calibri" pitchFamily="34" charset="-122"/>
                <a:cs typeface="Calibri" pitchFamily="34" charset="-120"/>
              </a:rPr>
              <a:t>gseGO</a:t>
            </a:r>
            <a:endParaRPr lang="en-US" sz="1200" dirty="0"/>
          </a:p>
        </p:txBody>
      </p:sp>
      <p:sp>
        <p:nvSpPr>
          <p:cNvPr id="45" name="Text 43"/>
          <p:cNvSpPr/>
          <p:nvPr/>
        </p:nvSpPr>
        <p:spPr>
          <a:xfrm>
            <a:off x="8275320" y="5440680"/>
            <a:ext cx="3657600" cy="822960"/>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Gene Set Enrichment Analysis</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(ranked — no hard cutoff)</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D7377"/>
          </a:solidFill>
          <a:ln w="12700">
            <a:solidFill>
              <a:srgbClr val="0D7377"/>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RESULTS — QUALITY CONTROL</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6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300" b="1" dirty="0">
                <a:solidFill>
                  <a:srgbClr val="0B2545"/>
                </a:solidFill>
                <a:latin typeface="Calibri" pitchFamily="34" charset="0"/>
                <a:ea typeface="Calibri" pitchFamily="34" charset="-122"/>
                <a:cs typeface="Calibri" pitchFamily="34" charset="-120"/>
              </a:rPr>
              <a:t>FastQC / MultiQC — All 30 Files Passed</a:t>
            </a:r>
            <a:endParaRPr lang="en-US" sz="2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261872"/>
          <a:ext cx="11612880" cy="3246120"/>
        </p:xfrm>
        <a:graphic>
          <a:graphicData uri="http://schemas.openxmlformats.org/drawingml/2006/table">
            <a:tbl>
              <a:tblPr/>
              <a:tblGrid>
                <a:gridCol w="2743200"/>
                <a:gridCol w="2377440"/>
                <a:gridCol w="1280160"/>
                <a:gridCol w="5212080"/>
              </a:tblGrid>
              <a:tr h="42062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QC Metric</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368A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Result</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368A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368A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Interpretation</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368AA"/>
                    </a:solidFill>
                  </a:tcPr>
                </a:tc>
              </a:tr>
              <a:tr h="420624">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Read length</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150 bp (all 15 samples)</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 PASS</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Consistent with HiSeq X Ten</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420624">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Reads per sample</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41.1 – 50.7 M pairs</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 PASS</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Excellent depth for DEG analysis</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420624">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Per-base quality</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Q &gt; 30 all files</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 PASS</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No low-quality samples</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420624">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Adapter content</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None detected</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 PASS</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Trimming NOT required</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420624">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GC content</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44 – 50%</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 PASS</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Normal human RNA range</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420624">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Sequence duplication</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60–81% (NC) vs 38–55% (D1)</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 FAIL*</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Expected in RNA-seq — not an artifact</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420624">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Per-base seq content</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Bias at read start</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 FAIL*</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50" dirty="0">
                          <a:solidFill>
                            <a:srgbClr val="1E293B"/>
                          </a:solidFill>
                          <a:latin typeface="Calibri" pitchFamily="34" charset="0"/>
                          <a:ea typeface="Calibri" pitchFamily="34" charset="-122"/>
                          <a:cs typeface="Calibri" pitchFamily="34" charset="-120"/>
                        </a:rPr>
                        <a:t>Universal RNA-seq hexamer bias</a:t>
                      </a:r>
                      <a:endParaRPr lang="en-US" sz="105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
        <p:nvSpPr>
          <p:cNvPr id="9" name="Shape 6"/>
          <p:cNvSpPr/>
          <p:nvPr/>
        </p:nvSpPr>
        <p:spPr>
          <a:xfrm>
            <a:off x="274320" y="4617720"/>
            <a:ext cx="5394960" cy="1737360"/>
          </a:xfrm>
          <a:prstGeom prst="rect">
            <a:avLst/>
          </a:prstGeom>
          <a:solidFill>
            <a:srgbClr val="FFFFFF"/>
          </a:solidFill>
          <a:ln w="12700">
            <a:solidFill>
              <a:srgbClr val="0D7377"/>
            </a:solidFill>
            <a:prstDash val="solid"/>
          </a:ln>
          <a:effectLst>
            <a:outerShdw sx="100000" sy="100000" kx="0" ky="0" algn="bl" rotWithShape="0" blurRad="101600" dist="38100" dir="8100000">
              <a:srgbClr val="000000">
                <a:alpha val="12000"/>
              </a:srgbClr>
            </a:outerShdw>
          </a:effectLst>
        </p:spPr>
      </p:sp>
      <p:sp>
        <p:nvSpPr>
          <p:cNvPr id="10" name="Shape 7"/>
          <p:cNvSpPr/>
          <p:nvPr/>
        </p:nvSpPr>
        <p:spPr>
          <a:xfrm>
            <a:off x="274320" y="4617720"/>
            <a:ext cx="5394960" cy="347472"/>
          </a:xfrm>
          <a:prstGeom prst="rect">
            <a:avLst/>
          </a:prstGeom>
          <a:solidFill>
            <a:srgbClr val="0D7377"/>
          </a:solidFill>
          <a:ln w="12700">
            <a:solidFill>
              <a:srgbClr val="0D7377"/>
            </a:solidFill>
            <a:prstDash val="solid"/>
          </a:ln>
        </p:spPr>
      </p:sp>
      <p:sp>
        <p:nvSpPr>
          <p:cNvPr id="11" name="Text 8"/>
          <p:cNvSpPr/>
          <p:nvPr/>
        </p:nvSpPr>
        <p:spPr>
          <a:xfrm>
            <a:off x="365760" y="4617720"/>
            <a:ext cx="521208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Biological QC Insight</a:t>
            </a:r>
            <a:endParaRPr lang="en-US" sz="1100" dirty="0"/>
          </a:p>
        </p:txBody>
      </p:sp>
      <p:sp>
        <p:nvSpPr>
          <p:cNvPr id="12" name="Text 9"/>
          <p:cNvSpPr/>
          <p:nvPr/>
        </p:nvSpPr>
        <p:spPr>
          <a:xfrm>
            <a:off x="411480" y="5029200"/>
            <a:ext cx="5212080" cy="1261872"/>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D1 (acute stroke) samples showed LOWER duplication rates (38–55%) vs NC controls (60–81%). Lower duplication = more transcriptional diversity — an early signal that the biology is real and the immune landscape is broader in acute stroke.</a:t>
            </a:r>
            <a:endParaRPr lang="en-US" sz="1050" dirty="0"/>
          </a:p>
        </p:txBody>
      </p:sp>
      <p:sp>
        <p:nvSpPr>
          <p:cNvPr id="13" name="Shape 10"/>
          <p:cNvSpPr/>
          <p:nvPr/>
        </p:nvSpPr>
        <p:spPr>
          <a:xfrm>
            <a:off x="5943600" y="4617720"/>
            <a:ext cx="5943600" cy="1737360"/>
          </a:xfrm>
          <a:prstGeom prst="rect">
            <a:avLst/>
          </a:prstGeom>
          <a:solidFill>
            <a:srgbClr val="FFFFFF"/>
          </a:solidFill>
          <a:ln w="12700">
            <a:solidFill>
              <a:srgbClr val="1368AA"/>
            </a:solidFill>
            <a:prstDash val="solid"/>
          </a:ln>
          <a:effectLst>
            <a:outerShdw sx="100000" sy="100000" kx="0" ky="0" algn="bl" rotWithShape="0" blurRad="101600" dist="38100" dir="8100000">
              <a:srgbClr val="000000">
                <a:alpha val="12000"/>
              </a:srgbClr>
            </a:outerShdw>
          </a:effectLst>
        </p:spPr>
      </p:sp>
      <p:sp>
        <p:nvSpPr>
          <p:cNvPr id="14" name="Shape 11"/>
          <p:cNvSpPr/>
          <p:nvPr/>
        </p:nvSpPr>
        <p:spPr>
          <a:xfrm>
            <a:off x="5943600" y="4617720"/>
            <a:ext cx="5943600" cy="347472"/>
          </a:xfrm>
          <a:prstGeom prst="rect">
            <a:avLst/>
          </a:prstGeom>
          <a:solidFill>
            <a:srgbClr val="1368AA"/>
          </a:solidFill>
          <a:ln w="12700">
            <a:solidFill>
              <a:srgbClr val="1368AA"/>
            </a:solidFill>
            <a:prstDash val="solid"/>
          </a:ln>
        </p:spPr>
      </p:sp>
      <p:sp>
        <p:nvSpPr>
          <p:cNvPr id="15" name="Text 12"/>
          <p:cNvSpPr/>
          <p:nvPr/>
        </p:nvSpPr>
        <p:spPr>
          <a:xfrm>
            <a:off x="6035040" y="4617720"/>
            <a:ext cx="576072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Decision: No Trimming Required</a:t>
            </a:r>
            <a:endParaRPr lang="en-US" sz="1100" dirty="0"/>
          </a:p>
        </p:txBody>
      </p:sp>
      <p:sp>
        <p:nvSpPr>
          <p:cNvPr id="16" name="Text 13"/>
          <p:cNvSpPr/>
          <p:nvPr/>
        </p:nvSpPr>
        <p:spPr>
          <a:xfrm>
            <a:off x="6080760" y="5029200"/>
            <a:ext cx="5669280" cy="1261872"/>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All 15 samples passed core quality thresholds. The two 'FAIL' flags (*) are expected RNA-seq artifacts:
</a:t>
            </a:r>
            <a:pPr indent="0" marL="0">
              <a:buNone/>
            </a:pPr>
            <a:r>
              <a:rPr lang="en-US" sz="1050" b="1" dirty="0">
                <a:solidFill>
                  <a:srgbClr val="1E293B"/>
                </a:solidFill>
                <a:latin typeface="Calibri" pitchFamily="34" charset="0"/>
                <a:ea typeface="Calibri" pitchFamily="34" charset="-122"/>
                <a:cs typeface="Calibri" pitchFamily="34" charset="-120"/>
              </a:rPr>
              <a:t>• Duplication: </a:t>
            </a:r>
            <a:pPr indent="0" marL="0">
              <a:buNone/>
            </a:pPr>
            <a:r>
              <a:rPr lang="en-US" sz="1050" dirty="0">
                <a:solidFill>
                  <a:srgbClr val="1E293B"/>
                </a:solidFill>
                <a:latin typeface="Calibri" pitchFamily="34" charset="0"/>
                <a:ea typeface="Calibri" pitchFamily="34" charset="-122"/>
                <a:cs typeface="Calibri" pitchFamily="34" charset="-120"/>
              </a:rPr>
              <a:t>reflects high-abundance transcripts — biologically meaningful
</a:t>
            </a:r>
            <a:pPr indent="0" marL="0">
              <a:buNone/>
            </a:pPr>
            <a:r>
              <a:rPr lang="en-US" sz="1050" b="1" dirty="0">
                <a:solidFill>
                  <a:srgbClr val="1E293B"/>
                </a:solidFill>
                <a:latin typeface="Calibri" pitchFamily="34" charset="0"/>
                <a:ea typeface="Calibri" pitchFamily="34" charset="-122"/>
                <a:cs typeface="Calibri" pitchFamily="34" charset="-120"/>
              </a:rPr>
              <a:t>• Per-base bias: </a:t>
            </a:r>
            <a:pPr indent="0" marL="0">
              <a:buNone/>
            </a:pPr>
            <a:r>
              <a:rPr lang="en-US" sz="1050" dirty="0">
                <a:solidFill>
                  <a:srgbClr val="1E293B"/>
                </a:solidFill>
                <a:latin typeface="Calibri" pitchFamily="34" charset="0"/>
                <a:ea typeface="Calibri" pitchFamily="34" charset="-122"/>
                <a:cs typeface="Calibri" pitchFamily="34" charset="-120"/>
              </a:rPr>
              <a:t>random hexamer priming artifact at read start — universal in RNA-seq</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1368AA"/>
          </a:solidFill>
          <a:ln w="12700">
            <a:solidFill>
              <a:srgbClr val="1368AA"/>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RESULTS — GENOME ALIGNMENT</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7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300" b="1" dirty="0">
                <a:solidFill>
                  <a:srgbClr val="0B2545"/>
                </a:solidFill>
                <a:latin typeface="Calibri" pitchFamily="34" charset="0"/>
                <a:ea typeface="Calibri" pitchFamily="34" charset="-122"/>
                <a:cs typeface="Calibri" pitchFamily="34" charset="-120"/>
              </a:rPr>
              <a:t>HISAT2 → GRCh38  |  Mean Alignment Rate: 95.1%</a:t>
            </a:r>
            <a:endParaRPr lang="en-US" sz="2300" dirty="0"/>
          </a:p>
        </p:txBody>
      </p:sp>
      <p:graphicFrame>
        <p:nvGraphicFramePr>
          <p:cNvPr id="8" name="Chart 0" descr=""/>
          <p:cNvGraphicFramePr/>
          <p:nvPr/>
        </p:nvGraphicFramePr>
        <p:xfrm>
          <a:off x="274320" y="1234440"/>
          <a:ext cx="8046720" cy="39319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365760" y="5303520"/>
            <a:ext cx="256032" cy="201168"/>
          </a:xfrm>
          <a:prstGeom prst="rect">
            <a:avLst/>
          </a:prstGeom>
          <a:solidFill>
            <a:srgbClr val="0D7377"/>
          </a:solidFill>
          <a:ln w="12700">
            <a:solidFill>
              <a:srgbClr val="0D7377"/>
            </a:solidFill>
            <a:prstDash val="solid"/>
          </a:ln>
        </p:spPr>
      </p:sp>
      <p:sp>
        <p:nvSpPr>
          <p:cNvPr id="10" name="Text 7"/>
          <p:cNvSpPr/>
          <p:nvPr/>
        </p:nvSpPr>
        <p:spPr>
          <a:xfrm>
            <a:off x="685800" y="5294376"/>
            <a:ext cx="1645920" cy="20116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NC — Controls</a:t>
            </a:r>
            <a:endParaRPr lang="en-US" sz="1000" dirty="0"/>
          </a:p>
        </p:txBody>
      </p:sp>
      <p:sp>
        <p:nvSpPr>
          <p:cNvPr id="11" name="Shape 8"/>
          <p:cNvSpPr/>
          <p:nvPr/>
        </p:nvSpPr>
        <p:spPr>
          <a:xfrm>
            <a:off x="2377440" y="5303520"/>
            <a:ext cx="256032" cy="201168"/>
          </a:xfrm>
          <a:prstGeom prst="rect">
            <a:avLst/>
          </a:prstGeom>
          <a:solidFill>
            <a:srgbClr val="1368AA"/>
          </a:solidFill>
          <a:ln w="12700">
            <a:solidFill>
              <a:srgbClr val="1368AA"/>
            </a:solidFill>
            <a:prstDash val="solid"/>
          </a:ln>
        </p:spPr>
      </p:sp>
      <p:sp>
        <p:nvSpPr>
          <p:cNvPr id="12" name="Text 9"/>
          <p:cNvSpPr/>
          <p:nvPr/>
        </p:nvSpPr>
        <p:spPr>
          <a:xfrm>
            <a:off x="2697480" y="5294376"/>
            <a:ext cx="1645920" cy="20116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D1 — Acute Stroke</a:t>
            </a:r>
            <a:endParaRPr lang="en-US" sz="1000" dirty="0"/>
          </a:p>
        </p:txBody>
      </p:sp>
      <p:sp>
        <p:nvSpPr>
          <p:cNvPr id="13" name="Shape 10"/>
          <p:cNvSpPr/>
          <p:nvPr/>
        </p:nvSpPr>
        <p:spPr>
          <a:xfrm>
            <a:off x="4389120" y="5303520"/>
            <a:ext cx="256032" cy="201168"/>
          </a:xfrm>
          <a:prstGeom prst="rect">
            <a:avLst/>
          </a:prstGeom>
          <a:solidFill>
            <a:srgbClr val="C0392B"/>
          </a:solidFill>
          <a:ln w="12700">
            <a:solidFill>
              <a:srgbClr val="C0392B"/>
            </a:solidFill>
            <a:prstDash val="solid"/>
          </a:ln>
        </p:spPr>
      </p:sp>
      <p:sp>
        <p:nvSpPr>
          <p:cNvPr id="14" name="Text 11"/>
          <p:cNvSpPr/>
          <p:nvPr/>
        </p:nvSpPr>
        <p:spPr>
          <a:xfrm>
            <a:off x="4709160" y="5294376"/>
            <a:ext cx="1645920" cy="201168"/>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D2 — Subacute</a:t>
            </a:r>
            <a:endParaRPr lang="en-US" sz="1000" dirty="0"/>
          </a:p>
        </p:txBody>
      </p:sp>
      <p:sp>
        <p:nvSpPr>
          <p:cNvPr id="15" name="Shape 12"/>
          <p:cNvSpPr/>
          <p:nvPr/>
        </p:nvSpPr>
        <p:spPr>
          <a:xfrm>
            <a:off x="8595360" y="1234440"/>
            <a:ext cx="3291840" cy="868680"/>
          </a:xfrm>
          <a:prstGeom prst="rect">
            <a:avLst/>
          </a:prstGeom>
          <a:solidFill>
            <a:srgbClr val="1368AA"/>
          </a:solidFill>
          <a:ln w="12700">
            <a:solidFill>
              <a:srgbClr val="1368AA"/>
            </a:solidFill>
            <a:prstDash val="solid"/>
          </a:ln>
          <a:effectLst>
            <a:outerShdw sx="100000" sy="100000" kx="0" ky="0" algn="bl" rotWithShape="0" blurRad="101600" dist="38100" dir="8100000">
              <a:srgbClr val="000000">
                <a:alpha val="12000"/>
              </a:srgbClr>
            </a:outerShdw>
          </a:effectLst>
        </p:spPr>
      </p:sp>
      <p:sp>
        <p:nvSpPr>
          <p:cNvPr id="16" name="Text 13"/>
          <p:cNvSpPr/>
          <p:nvPr/>
        </p:nvSpPr>
        <p:spPr>
          <a:xfrm>
            <a:off x="8595360" y="1280160"/>
            <a:ext cx="3291840" cy="477774"/>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95.1%</a:t>
            </a:r>
            <a:endParaRPr lang="en-US" sz="2800" dirty="0"/>
          </a:p>
        </p:txBody>
      </p:sp>
      <p:sp>
        <p:nvSpPr>
          <p:cNvPr id="17" name="Text 14"/>
          <p:cNvSpPr/>
          <p:nvPr/>
        </p:nvSpPr>
        <p:spPr>
          <a:xfrm>
            <a:off x="8595360" y="1686154"/>
            <a:ext cx="3291840" cy="390906"/>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Mean rate (all 15)</a:t>
            </a:r>
            <a:endParaRPr lang="en-US" sz="1000" dirty="0"/>
          </a:p>
        </p:txBody>
      </p:sp>
      <p:sp>
        <p:nvSpPr>
          <p:cNvPr id="18" name="Shape 15"/>
          <p:cNvSpPr/>
          <p:nvPr/>
        </p:nvSpPr>
        <p:spPr>
          <a:xfrm>
            <a:off x="8595360" y="2240280"/>
            <a:ext cx="3291840" cy="868680"/>
          </a:xfrm>
          <a:prstGeom prst="rect">
            <a:avLst/>
          </a:prstGeom>
          <a:solidFill>
            <a:srgbClr val="1368AA"/>
          </a:solidFill>
          <a:ln w="12700">
            <a:solidFill>
              <a:srgbClr val="1368AA"/>
            </a:solidFill>
            <a:prstDash val="solid"/>
          </a:ln>
          <a:effectLst>
            <a:outerShdw sx="100000" sy="100000" kx="0" ky="0" algn="bl" rotWithShape="0" blurRad="101600" dist="38100" dir="8100000">
              <a:srgbClr val="000000">
                <a:alpha val="12000"/>
              </a:srgbClr>
            </a:outerShdw>
          </a:effectLst>
        </p:spPr>
      </p:sp>
      <p:sp>
        <p:nvSpPr>
          <p:cNvPr id="19" name="Text 16"/>
          <p:cNvSpPr/>
          <p:nvPr/>
        </p:nvSpPr>
        <p:spPr>
          <a:xfrm>
            <a:off x="8595360" y="2286000"/>
            <a:ext cx="3291840" cy="477774"/>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92.4%</a:t>
            </a:r>
            <a:endParaRPr lang="en-US" sz="2800" dirty="0"/>
          </a:p>
        </p:txBody>
      </p:sp>
      <p:sp>
        <p:nvSpPr>
          <p:cNvPr id="20" name="Text 17"/>
          <p:cNvSpPr/>
          <p:nvPr/>
        </p:nvSpPr>
        <p:spPr>
          <a:xfrm>
            <a:off x="8595360" y="2691994"/>
            <a:ext cx="3291840" cy="390906"/>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Lowest (NC_6)</a:t>
            </a:r>
            <a:endParaRPr lang="en-US" sz="1000" dirty="0"/>
          </a:p>
        </p:txBody>
      </p:sp>
      <p:sp>
        <p:nvSpPr>
          <p:cNvPr id="21" name="Shape 18"/>
          <p:cNvSpPr/>
          <p:nvPr/>
        </p:nvSpPr>
        <p:spPr>
          <a:xfrm>
            <a:off x="8595360" y="3246120"/>
            <a:ext cx="3291840" cy="868680"/>
          </a:xfrm>
          <a:prstGeom prst="rect">
            <a:avLst/>
          </a:prstGeom>
          <a:solidFill>
            <a:srgbClr val="1368AA"/>
          </a:solidFill>
          <a:ln w="12700">
            <a:solidFill>
              <a:srgbClr val="1368AA"/>
            </a:solidFill>
            <a:prstDash val="solid"/>
          </a:ln>
          <a:effectLst>
            <a:outerShdw sx="100000" sy="100000" kx="0" ky="0" algn="bl" rotWithShape="0" blurRad="101600" dist="38100" dir="8100000">
              <a:srgbClr val="000000">
                <a:alpha val="12000"/>
              </a:srgbClr>
            </a:outerShdw>
          </a:effectLst>
        </p:spPr>
      </p:sp>
      <p:sp>
        <p:nvSpPr>
          <p:cNvPr id="22" name="Text 19"/>
          <p:cNvSpPr/>
          <p:nvPr/>
        </p:nvSpPr>
        <p:spPr>
          <a:xfrm>
            <a:off x="8595360" y="3291840"/>
            <a:ext cx="3291840" cy="477774"/>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96.0%</a:t>
            </a:r>
            <a:endParaRPr lang="en-US" sz="2800" dirty="0"/>
          </a:p>
        </p:txBody>
      </p:sp>
      <p:sp>
        <p:nvSpPr>
          <p:cNvPr id="23" name="Text 20"/>
          <p:cNvSpPr/>
          <p:nvPr/>
        </p:nvSpPr>
        <p:spPr>
          <a:xfrm>
            <a:off x="8595360" y="3697834"/>
            <a:ext cx="3291840" cy="390906"/>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Highest (D2_6)</a:t>
            </a:r>
            <a:endParaRPr lang="en-US" sz="1000" dirty="0"/>
          </a:p>
        </p:txBody>
      </p:sp>
      <p:sp>
        <p:nvSpPr>
          <p:cNvPr id="24" name="Shape 21"/>
          <p:cNvSpPr/>
          <p:nvPr/>
        </p:nvSpPr>
        <p:spPr>
          <a:xfrm>
            <a:off x="8595360" y="4251960"/>
            <a:ext cx="3291840" cy="868680"/>
          </a:xfrm>
          <a:prstGeom prst="rect">
            <a:avLst/>
          </a:prstGeom>
          <a:solidFill>
            <a:srgbClr val="00A878"/>
          </a:solidFill>
          <a:ln w="12700">
            <a:solidFill>
              <a:srgbClr val="00A878"/>
            </a:solidFill>
            <a:prstDash val="solid"/>
          </a:ln>
          <a:effectLst>
            <a:outerShdw sx="100000" sy="100000" kx="0" ky="0" algn="bl" rotWithShape="0" blurRad="101600" dist="38100" dir="8100000">
              <a:srgbClr val="000000">
                <a:alpha val="12000"/>
              </a:srgbClr>
            </a:outerShdw>
          </a:effectLst>
        </p:spPr>
      </p:sp>
      <p:sp>
        <p:nvSpPr>
          <p:cNvPr id="25" name="Text 22"/>
          <p:cNvSpPr/>
          <p:nvPr/>
        </p:nvSpPr>
        <p:spPr>
          <a:xfrm>
            <a:off x="8595360" y="4297680"/>
            <a:ext cx="3291840" cy="477774"/>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0</a:t>
            </a:r>
            <a:endParaRPr lang="en-US" sz="2800" dirty="0"/>
          </a:p>
        </p:txBody>
      </p:sp>
      <p:sp>
        <p:nvSpPr>
          <p:cNvPr id="26" name="Text 23"/>
          <p:cNvSpPr/>
          <p:nvPr/>
        </p:nvSpPr>
        <p:spPr>
          <a:xfrm>
            <a:off x="8595360" y="4703674"/>
            <a:ext cx="3291840" cy="390906"/>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Failed samples</a:t>
            </a:r>
            <a:endParaRPr lang="en-US" sz="1000" dirty="0"/>
          </a:p>
        </p:txBody>
      </p:sp>
      <p:sp>
        <p:nvSpPr>
          <p:cNvPr id="27" name="Shape 24"/>
          <p:cNvSpPr/>
          <p:nvPr/>
        </p:nvSpPr>
        <p:spPr>
          <a:xfrm>
            <a:off x="8595360" y="5230368"/>
            <a:ext cx="3291840" cy="777240"/>
          </a:xfrm>
          <a:prstGeom prst="rect">
            <a:avLst/>
          </a:prstGeom>
          <a:solidFill>
            <a:srgbClr val="FEFCE8"/>
          </a:solidFill>
          <a:ln w="12700">
            <a:solidFill>
              <a:srgbClr val="F2A900"/>
            </a:solidFill>
            <a:prstDash val="solid"/>
          </a:ln>
        </p:spPr>
      </p:sp>
      <p:sp>
        <p:nvSpPr>
          <p:cNvPr id="28" name="Text 25"/>
          <p:cNvSpPr/>
          <p:nvPr/>
        </p:nvSpPr>
        <p:spPr>
          <a:xfrm>
            <a:off x="8686800" y="5248656"/>
            <a:ext cx="3108960" cy="73152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 All samples exceed the &gt;85% quality threshold — no samples excluded from downstream analysis.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1368AA"/>
          </a:solidFill>
          <a:ln w="12700">
            <a:solidFill>
              <a:srgbClr val="1368AA"/>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RESULTS — GENE QUANTIFICATION</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8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300" b="1" dirty="0">
                <a:solidFill>
                  <a:srgbClr val="0B2545"/>
                </a:solidFill>
                <a:latin typeface="Calibri" pitchFamily="34" charset="0"/>
                <a:ea typeface="Calibri" pitchFamily="34" charset="-122"/>
                <a:cs typeface="Calibri" pitchFamily="34" charset="-120"/>
              </a:rPr>
              <a:t>featureCounts — Gene-Level Read Counting</a:t>
            </a:r>
            <a:endParaRPr lang="en-US" sz="2300" dirty="0"/>
          </a:p>
        </p:txBody>
      </p:sp>
      <p:sp>
        <p:nvSpPr>
          <p:cNvPr id="8" name="Shape 6"/>
          <p:cNvSpPr/>
          <p:nvPr/>
        </p:nvSpPr>
        <p:spPr>
          <a:xfrm>
            <a:off x="320040" y="1261872"/>
            <a:ext cx="2103120" cy="1005840"/>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320040" y="1261872"/>
            <a:ext cx="2103120" cy="10058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BAM files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(15 samples)</a:t>
            </a:r>
            <a:endParaRPr lang="en-US" sz="1000" dirty="0"/>
          </a:p>
        </p:txBody>
      </p:sp>
      <p:sp>
        <p:nvSpPr>
          <p:cNvPr id="10" name="Shape 8"/>
          <p:cNvSpPr/>
          <p:nvPr/>
        </p:nvSpPr>
        <p:spPr>
          <a:xfrm>
            <a:off x="2423160" y="1664208"/>
            <a:ext cx="256032" cy="91440"/>
          </a:xfrm>
          <a:prstGeom prst="rect">
            <a:avLst/>
          </a:prstGeom>
          <a:solidFill>
            <a:srgbClr val="CBD5E1"/>
          </a:solidFill>
          <a:ln w="12700">
            <a:solidFill>
              <a:srgbClr val="CBD5E1"/>
            </a:solidFill>
            <a:prstDash val="solid"/>
          </a:ln>
        </p:spPr>
      </p:sp>
      <p:sp>
        <p:nvSpPr>
          <p:cNvPr id="11" name="Shape 9"/>
          <p:cNvSpPr/>
          <p:nvPr/>
        </p:nvSpPr>
        <p:spPr>
          <a:xfrm>
            <a:off x="2679192" y="1261872"/>
            <a:ext cx="2103120" cy="1005840"/>
          </a:xfrm>
          <a:prstGeom prst="rect">
            <a:avLst/>
          </a:prstGeom>
          <a:solidFill>
            <a:srgbClr val="1368AA"/>
          </a:solidFill>
          <a:ln w="12700">
            <a:solidFill>
              <a:srgbClr val="1368AA"/>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2679192" y="1261872"/>
            <a:ext cx="2103120" cy="10058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featureCounts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 0 unstranded,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 paired-end)</a:t>
            </a:r>
            <a:endParaRPr lang="en-US" sz="1000" dirty="0"/>
          </a:p>
        </p:txBody>
      </p:sp>
      <p:sp>
        <p:nvSpPr>
          <p:cNvPr id="13" name="Shape 11"/>
          <p:cNvSpPr/>
          <p:nvPr/>
        </p:nvSpPr>
        <p:spPr>
          <a:xfrm>
            <a:off x="4782312" y="1664208"/>
            <a:ext cx="256032" cy="91440"/>
          </a:xfrm>
          <a:prstGeom prst="rect">
            <a:avLst/>
          </a:prstGeom>
          <a:solidFill>
            <a:srgbClr val="CBD5E1"/>
          </a:solidFill>
          <a:ln w="12700">
            <a:solidFill>
              <a:srgbClr val="CBD5E1"/>
            </a:solidFill>
            <a:prstDash val="solid"/>
          </a:ln>
        </p:spPr>
      </p:sp>
      <p:sp>
        <p:nvSpPr>
          <p:cNvPr id="14" name="Shape 12"/>
          <p:cNvSpPr/>
          <p:nvPr/>
        </p:nvSpPr>
        <p:spPr>
          <a:xfrm>
            <a:off x="5038344" y="1261872"/>
            <a:ext cx="2103120" cy="1005840"/>
          </a:xfrm>
          <a:prstGeom prst="rect">
            <a:avLst/>
          </a:prstGeom>
          <a:solidFill>
            <a:srgbClr val="1368AA"/>
          </a:solidFill>
          <a:ln w="12700">
            <a:solidFill>
              <a:srgbClr val="1368AA"/>
            </a:solidFill>
            <a:prstDash val="solid"/>
          </a:ln>
          <a:effectLst>
            <a:outerShdw sx="100000" sy="100000" kx="0" ky="0" algn="bl" rotWithShape="0" blurRad="101600" dist="38100" dir="8100000">
              <a:srgbClr val="000000">
                <a:alpha val="12000"/>
              </a:srgbClr>
            </a:outerShdw>
          </a:effectLst>
        </p:spPr>
      </p:sp>
      <p:sp>
        <p:nvSpPr>
          <p:cNvPr id="15" name="Text 13"/>
          <p:cNvSpPr/>
          <p:nvPr/>
        </p:nvSpPr>
        <p:spPr>
          <a:xfrm>
            <a:off x="5038344" y="1261872"/>
            <a:ext cx="2103120" cy="10058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Count matrix</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(62,700 genes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 15 samples)</a:t>
            </a:r>
            <a:endParaRPr lang="en-US" sz="1000" dirty="0"/>
          </a:p>
        </p:txBody>
      </p:sp>
      <p:sp>
        <p:nvSpPr>
          <p:cNvPr id="16" name="Shape 14"/>
          <p:cNvSpPr/>
          <p:nvPr/>
        </p:nvSpPr>
        <p:spPr>
          <a:xfrm>
            <a:off x="7141464" y="1664208"/>
            <a:ext cx="256032" cy="91440"/>
          </a:xfrm>
          <a:prstGeom prst="rect">
            <a:avLst/>
          </a:prstGeom>
          <a:solidFill>
            <a:srgbClr val="CBD5E1"/>
          </a:solidFill>
          <a:ln w="12700">
            <a:solidFill>
              <a:srgbClr val="CBD5E1"/>
            </a:solidFill>
            <a:prstDash val="solid"/>
          </a:ln>
        </p:spPr>
      </p:sp>
      <p:sp>
        <p:nvSpPr>
          <p:cNvPr id="17" name="Shape 15"/>
          <p:cNvSpPr/>
          <p:nvPr/>
        </p:nvSpPr>
        <p:spPr>
          <a:xfrm>
            <a:off x="7397496" y="1261872"/>
            <a:ext cx="2103120" cy="1005840"/>
          </a:xfrm>
          <a:prstGeom prst="rect">
            <a:avLst/>
          </a:prstGeom>
          <a:solidFill>
            <a:srgbClr val="1368AA"/>
          </a:solidFill>
          <a:ln w="12700">
            <a:solidFill>
              <a:srgbClr val="1368AA"/>
            </a:solidFill>
            <a:prstDash val="solid"/>
          </a:ln>
          <a:effectLst>
            <a:outerShdw sx="100000" sy="100000" kx="0" ky="0" algn="bl" rotWithShape="0" blurRad="101600" dist="38100" dir="8100000">
              <a:srgbClr val="000000">
                <a:alpha val="12000"/>
              </a:srgbClr>
            </a:outerShdw>
          </a:effectLst>
        </p:spPr>
      </p:sp>
      <p:sp>
        <p:nvSpPr>
          <p:cNvPr id="18" name="Text 16"/>
          <p:cNvSpPr/>
          <p:nvPr/>
        </p:nvSpPr>
        <p:spPr>
          <a:xfrm>
            <a:off x="7397496" y="1261872"/>
            <a:ext cx="2103120" cy="10058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Pre-filtering</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(≥10 counts in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≥5 samples)</a:t>
            </a:r>
            <a:endParaRPr lang="en-US" sz="1000" dirty="0"/>
          </a:p>
        </p:txBody>
      </p:sp>
      <p:sp>
        <p:nvSpPr>
          <p:cNvPr id="19" name="Shape 17"/>
          <p:cNvSpPr/>
          <p:nvPr/>
        </p:nvSpPr>
        <p:spPr>
          <a:xfrm>
            <a:off x="9500616" y="1664208"/>
            <a:ext cx="256032" cy="91440"/>
          </a:xfrm>
          <a:prstGeom prst="rect">
            <a:avLst/>
          </a:prstGeom>
          <a:solidFill>
            <a:srgbClr val="CBD5E1"/>
          </a:solidFill>
          <a:ln w="12700">
            <a:solidFill>
              <a:srgbClr val="CBD5E1"/>
            </a:solidFill>
            <a:prstDash val="solid"/>
          </a:ln>
        </p:spPr>
      </p:sp>
      <p:sp>
        <p:nvSpPr>
          <p:cNvPr id="20" name="Shape 18"/>
          <p:cNvSpPr/>
          <p:nvPr/>
        </p:nvSpPr>
        <p:spPr>
          <a:xfrm>
            <a:off x="9756648" y="1261872"/>
            <a:ext cx="2103120" cy="1005840"/>
          </a:xfrm>
          <a:prstGeom prst="rect">
            <a:avLst/>
          </a:prstGeom>
          <a:solidFill>
            <a:srgbClr val="00A878"/>
          </a:solidFill>
          <a:ln w="12700">
            <a:solidFill>
              <a:srgbClr val="00A878"/>
            </a:solidFill>
            <a:prstDash val="solid"/>
          </a:ln>
          <a:effectLst>
            <a:outerShdw sx="100000" sy="100000" kx="0" ky="0" algn="bl" rotWithShape="0" blurRad="101600" dist="38100" dir="8100000">
              <a:srgbClr val="000000">
                <a:alpha val="12000"/>
              </a:srgbClr>
            </a:outerShdw>
          </a:effectLst>
        </p:spPr>
      </p:sp>
      <p:sp>
        <p:nvSpPr>
          <p:cNvPr id="21" name="Text 19"/>
          <p:cNvSpPr/>
          <p:nvPr/>
        </p:nvSpPr>
        <p:spPr>
          <a:xfrm>
            <a:off x="9756648" y="1261872"/>
            <a:ext cx="2103120" cy="10058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23,995 genes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retained for</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DESeq2</a:t>
            </a:r>
            <a:endParaRPr lang="en-US" sz="1000" dirty="0"/>
          </a:p>
        </p:txBody>
      </p:sp>
      <p:sp>
        <p:nvSpPr>
          <p:cNvPr id="22" name="Shape 20"/>
          <p:cNvSpPr/>
          <p:nvPr/>
        </p:nvSpPr>
        <p:spPr>
          <a:xfrm>
            <a:off x="274320" y="2450592"/>
            <a:ext cx="5394960" cy="20574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274320" y="2450592"/>
            <a:ext cx="5394960" cy="301752"/>
          </a:xfrm>
          <a:prstGeom prst="rect">
            <a:avLst/>
          </a:prstGeom>
          <a:solidFill>
            <a:srgbClr val="1368AA"/>
          </a:solidFill>
          <a:ln w="12700">
            <a:solidFill>
              <a:srgbClr val="1368AA"/>
            </a:solidFill>
            <a:prstDash val="solid"/>
          </a:ln>
        </p:spPr>
      </p:sp>
      <p:sp>
        <p:nvSpPr>
          <p:cNvPr id="24" name="Text 22"/>
          <p:cNvSpPr/>
          <p:nvPr/>
        </p:nvSpPr>
        <p:spPr>
          <a:xfrm>
            <a:off x="365760" y="2450592"/>
            <a:ext cx="530352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Assignment Rates (34–47%)</a:t>
            </a:r>
            <a:endParaRPr lang="en-US" sz="1100" dirty="0"/>
          </a:p>
        </p:txBody>
      </p:sp>
      <p:sp>
        <p:nvSpPr>
          <p:cNvPr id="25" name="Text 23"/>
          <p:cNvSpPr/>
          <p:nvPr/>
        </p:nvSpPr>
        <p:spPr>
          <a:xfrm>
            <a:off x="411480" y="2798064"/>
            <a:ext cx="5166360" cy="164592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Assignment rates were below the ideal 60% benchmark. The main reason:
</a:t>
            </a:r>
            <a:pPr indent="0" marL="0">
              <a:buNone/>
            </a:pPr>
            <a:r>
              <a:rPr lang="en-US" sz="1050" b="1" dirty="0">
                <a:solidFill>
                  <a:srgbClr val="1E293B"/>
                </a:solidFill>
                <a:latin typeface="Calibri" pitchFamily="34" charset="0"/>
                <a:ea typeface="Calibri" pitchFamily="34" charset="-122"/>
                <a:cs typeface="Calibri" pitchFamily="34" charset="-120"/>
              </a:rPr>
              <a:t>Unassigned_NoFeatures:</a:t>
            </a:r>
            <a:pPr indent="0" marL="0">
              <a:buNone/>
            </a:pPr>
            <a:r>
              <a:rPr lang="en-US" sz="1050" dirty="0">
                <a:solidFill>
                  <a:srgbClr val="1E293B"/>
                </a:solidFill>
                <a:latin typeface="Calibri" pitchFamily="34" charset="0"/>
                <a:ea typeface="Calibri" pitchFamily="34" charset="-122"/>
                <a:cs typeface="Calibri" pitchFamily="34" charset="-120"/>
              </a:rPr>
              <a:t> reads that aligned correctly to the genome but fell in </a:t>
            </a:r>
            <a:pPr indent="0" marL="0">
              <a:buNone/>
            </a:pPr>
            <a:r>
              <a:rPr lang="en-US" sz="1050" b="1" dirty="0">
                <a:solidFill>
                  <a:srgbClr val="1E293B"/>
                </a:solidFill>
                <a:latin typeface="Calibri" pitchFamily="34" charset="0"/>
                <a:ea typeface="Calibri" pitchFamily="34" charset="-122"/>
                <a:cs typeface="Calibri" pitchFamily="34" charset="-120"/>
              </a:rPr>
              <a:t>introns or intergenic regions</a:t>
            </a:r>
            <a:pPr indent="0" marL="0">
              <a:buNone/>
            </a:pPr>
            <a:r>
              <a:rPr lang="en-US" sz="1050" dirty="0">
                <a:solidFill>
                  <a:srgbClr val="1E293B"/>
                </a:solidFill>
                <a:latin typeface="Calibri" pitchFamily="34" charset="0"/>
                <a:ea typeface="Calibri" pitchFamily="34" charset="-122"/>
                <a:cs typeface="Calibri" pitchFamily="34" charset="-120"/>
              </a:rPr>
              <a:t> not covered by exon annotation — a common consequence of unstranded library prep.</a:t>
            </a:r>
            <a:endParaRPr lang="en-US" sz="1050" dirty="0"/>
          </a:p>
        </p:txBody>
      </p:sp>
      <p:sp>
        <p:nvSpPr>
          <p:cNvPr id="26" name="Shape 24"/>
          <p:cNvSpPr/>
          <p:nvPr/>
        </p:nvSpPr>
        <p:spPr>
          <a:xfrm>
            <a:off x="5943600" y="2450592"/>
            <a:ext cx="5943600" cy="20574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5943600" y="2450592"/>
            <a:ext cx="5943600" cy="301752"/>
          </a:xfrm>
          <a:prstGeom prst="rect">
            <a:avLst/>
          </a:prstGeom>
          <a:solidFill>
            <a:srgbClr val="1368AA"/>
          </a:solidFill>
          <a:ln w="12700">
            <a:solidFill>
              <a:srgbClr val="1368AA"/>
            </a:solidFill>
            <a:prstDash val="solid"/>
          </a:ln>
        </p:spPr>
      </p:sp>
      <p:sp>
        <p:nvSpPr>
          <p:cNvPr id="28" name="Text 26"/>
          <p:cNvSpPr/>
          <p:nvPr/>
        </p:nvSpPr>
        <p:spPr>
          <a:xfrm>
            <a:off x="6035040" y="2450592"/>
            <a:ext cx="585216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Analysis Remains Valid</a:t>
            </a:r>
            <a:endParaRPr lang="en-US" sz="1100" dirty="0"/>
          </a:p>
        </p:txBody>
      </p:sp>
      <p:sp>
        <p:nvSpPr>
          <p:cNvPr id="29" name="Text 27"/>
          <p:cNvSpPr/>
          <p:nvPr/>
        </p:nvSpPr>
        <p:spPr>
          <a:xfrm>
            <a:off x="6080760" y="2798064"/>
            <a:ext cx="5715000" cy="164592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Despite lower assignment rates, the analysis is statistically valid because:
</a:t>
            </a:r>
            <a:pPr indent="0" marL="0">
              <a:buNone/>
            </a:pPr>
            <a:r>
              <a:rPr lang="en-US" sz="1050" b="1" dirty="0">
                <a:solidFill>
                  <a:srgbClr val="1E293B"/>
                </a:solidFill>
                <a:latin typeface="Calibri" pitchFamily="34" charset="0"/>
                <a:ea typeface="Calibri" pitchFamily="34" charset="-122"/>
                <a:cs typeface="Calibri" pitchFamily="34" charset="-120"/>
              </a:rPr>
              <a:t>• 14–25 million assigned read pairs per sample </a:t>
            </a:r>
            <a:pPr indent="0" marL="0">
              <a:buNone/>
            </a:pPr>
            <a:r>
              <a:rPr lang="en-US" sz="1050" dirty="0">
                <a:solidFill>
                  <a:srgbClr val="1E293B"/>
                </a:solidFill>
                <a:latin typeface="Calibri" pitchFamily="34" charset="0"/>
                <a:ea typeface="Calibri" pitchFamily="34" charset="-122"/>
                <a:cs typeface="Calibri" pitchFamily="34" charset="-120"/>
              </a:rPr>
              <a:t>(minimum ~5M needed)
</a:t>
            </a:r>
            <a:pPr indent="0" marL="0">
              <a:buNone/>
            </a:pPr>
            <a:r>
              <a:rPr lang="en-US" sz="1050" b="1" dirty="0">
                <a:solidFill>
                  <a:srgbClr val="1E293B"/>
                </a:solidFill>
                <a:latin typeface="Calibri" pitchFamily="34" charset="0"/>
                <a:ea typeface="Calibri" pitchFamily="34" charset="-122"/>
                <a:cs typeface="Calibri" pitchFamily="34" charset="-120"/>
              </a:rPr>
              <a:t>• Rates are internally consistent </a:t>
            </a:r>
            <a:pPr indent="0" marL="0">
              <a:buNone/>
            </a:pPr>
            <a:r>
              <a:rPr lang="en-US" sz="1050" dirty="0">
                <a:solidFill>
                  <a:srgbClr val="1E293B"/>
                </a:solidFill>
                <a:latin typeface="Calibri" pitchFamily="34" charset="0"/>
                <a:ea typeface="Calibri" pitchFamily="34" charset="-122"/>
                <a:cs typeface="Calibri" pitchFamily="34" charset="-120"/>
              </a:rPr>
              <a:t>within each group (NC/D1/D2)
</a:t>
            </a:r>
            <a:pPr indent="0" marL="0">
              <a:buNone/>
            </a:pPr>
            <a:r>
              <a:rPr lang="en-US" sz="1050" b="1" dirty="0">
                <a:solidFill>
                  <a:srgbClr val="1E293B"/>
                </a:solidFill>
                <a:latin typeface="Calibri" pitchFamily="34" charset="0"/>
                <a:ea typeface="Calibri" pitchFamily="34" charset="-122"/>
                <a:cs typeface="Calibri" pitchFamily="34" charset="-120"/>
              </a:rPr>
              <a:t>• DESeq2 size-factor normalization </a:t>
            </a:r>
            <a:pPr indent="0" marL="0">
              <a:buNone/>
            </a:pPr>
            <a:r>
              <a:rPr lang="en-US" sz="1050" dirty="0">
                <a:solidFill>
                  <a:srgbClr val="1E293B"/>
                </a:solidFill>
                <a:latin typeface="Calibri" pitchFamily="34" charset="0"/>
                <a:ea typeface="Calibri" pitchFamily="34" charset="-122"/>
                <a:cs typeface="Calibri" pitchFamily="34" charset="-120"/>
              </a:rPr>
              <a:t>corrects for library size differences</a:t>
            </a:r>
            <a:endParaRPr lang="en-US" sz="1050" dirty="0"/>
          </a:p>
        </p:txBody>
      </p:sp>
      <p:sp>
        <p:nvSpPr>
          <p:cNvPr id="30" name="Shape 28"/>
          <p:cNvSpPr/>
          <p:nvPr/>
        </p:nvSpPr>
        <p:spPr>
          <a:xfrm>
            <a:off x="274320" y="4645152"/>
            <a:ext cx="11612880" cy="1463040"/>
          </a:xfrm>
          <a:prstGeom prst="rect">
            <a:avLst/>
          </a:prstGeom>
          <a:solidFill>
            <a:srgbClr val="FFF8E1"/>
          </a:solidFill>
          <a:ln w="12700">
            <a:solidFill>
              <a:srgbClr val="F2A900"/>
            </a:solidFill>
            <a:prstDash val="solid"/>
          </a:ln>
          <a:effectLst>
            <a:outerShdw sx="100000" sy="100000" kx="0" ky="0" algn="bl" rotWithShape="0" blurRad="101600" dist="38100" dir="8100000">
              <a:srgbClr val="000000">
                <a:alpha val="12000"/>
              </a:srgbClr>
            </a:outerShdw>
          </a:effectLst>
        </p:spPr>
      </p:sp>
      <p:sp>
        <p:nvSpPr>
          <p:cNvPr id="31" name="Text 29"/>
          <p:cNvSpPr/>
          <p:nvPr/>
        </p:nvSpPr>
        <p:spPr>
          <a:xfrm>
            <a:off x="457200" y="4681728"/>
            <a:ext cx="3657600" cy="365760"/>
          </a:xfrm>
          <a:prstGeom prst="rect">
            <a:avLst/>
          </a:prstGeom>
          <a:noFill/>
          <a:ln/>
        </p:spPr>
        <p:txBody>
          <a:bodyPr wrap="square" lIns="0" tIns="0" rIns="0" bIns="0" rtlCol="0" anchor="ctr"/>
          <a:lstStyle/>
          <a:p>
            <a:pPr indent="0" marL="0">
              <a:buNone/>
            </a:pPr>
            <a:r>
              <a:rPr lang="en-US" sz="1200" b="1" dirty="0">
                <a:solidFill>
                  <a:srgbClr val="F2A900"/>
                </a:solidFill>
                <a:latin typeface="Calibri" pitchFamily="34" charset="0"/>
                <a:ea typeface="Calibri" pitchFamily="34" charset="-122"/>
                <a:cs typeface="Calibri" pitchFamily="34" charset="-120"/>
              </a:rPr>
              <a:t>⚠️  Strandedness Discovery</a:t>
            </a:r>
            <a:endParaRPr lang="en-US" sz="1200" dirty="0"/>
          </a:p>
        </p:txBody>
      </p:sp>
      <p:sp>
        <p:nvSpPr>
          <p:cNvPr id="32" name="Text 30"/>
          <p:cNvSpPr/>
          <p:nvPr/>
        </p:nvSpPr>
        <p:spPr>
          <a:xfrm>
            <a:off x="457200" y="5074920"/>
            <a:ext cx="11247120" cy="91440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Initial run used </a:t>
            </a:r>
            <a:pPr indent="0" marL="0">
              <a:buNone/>
            </a:pPr>
            <a:r>
              <a:rPr lang="en-US" sz="1050" b="1" dirty="0">
                <a:solidFill>
                  <a:srgbClr val="C0392B"/>
                </a:solidFill>
                <a:latin typeface="Calibri" pitchFamily="34" charset="0"/>
                <a:ea typeface="Calibri" pitchFamily="34" charset="-122"/>
                <a:cs typeface="Calibri" pitchFamily="34" charset="-120"/>
              </a:rPr>
              <a:t>-s 2 (reverse-stranded)</a:t>
            </a:r>
            <a:pPr indent="0" marL="0">
              <a:buNone/>
            </a:pPr>
            <a:r>
              <a:rPr lang="en-US" sz="1050" dirty="0">
                <a:solidFill>
                  <a:srgbClr val="1E293B"/>
                </a:solidFill>
                <a:latin typeface="Calibri" pitchFamily="34" charset="0"/>
                <a:ea typeface="Calibri" pitchFamily="34" charset="-122"/>
                <a:cs typeface="Calibri" pitchFamily="34" charset="-120"/>
              </a:rPr>
              <a:t> → only 34% assignment. Switching to </a:t>
            </a:r>
            <a:pPr indent="0" marL="0">
              <a:buNone/>
            </a:pPr>
            <a:r>
              <a:rPr lang="en-US" sz="1050" b="1" dirty="0">
                <a:solidFill>
                  <a:srgbClr val="00A878"/>
                </a:solidFill>
                <a:latin typeface="Calibri" pitchFamily="34" charset="0"/>
                <a:ea typeface="Calibri" pitchFamily="34" charset="-122"/>
                <a:cs typeface="Calibri" pitchFamily="34" charset="-120"/>
              </a:rPr>
              <a:t>-s 0 (unstranded)</a:t>
            </a:r>
            <a:pPr indent="0" marL="0">
              <a:buNone/>
            </a:pPr>
            <a:r>
              <a:rPr lang="en-US" sz="1050" dirty="0">
                <a:solidFill>
                  <a:srgbClr val="1E293B"/>
                </a:solidFill>
                <a:latin typeface="Calibri" pitchFamily="34" charset="0"/>
                <a:ea typeface="Calibri" pitchFamily="34" charset="-122"/>
                <a:cs typeface="Calibri" pitchFamily="34" charset="-120"/>
              </a:rPr>
              <a:t> improved rates.</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Diagnosis: The </a:t>
            </a:r>
            <a:endParaRPr lang="en-US" sz="1050" dirty="0"/>
          </a:p>
          <a:p>
            <a:pPr indent="0" marL="0">
              <a:buNone/>
            </a:pPr>
            <a:r>
              <a:rPr lang="en-US" sz="1050" b="1" dirty="0">
                <a:solidFill>
                  <a:srgbClr val="1E293B"/>
                </a:solidFill>
                <a:latin typeface="Calibri" pitchFamily="34" charset="0"/>
                <a:ea typeface="Calibri" pitchFamily="34" charset="-122"/>
                <a:cs typeface="Calibri" pitchFamily="34" charset="-120"/>
              </a:rPr>
              <a:t>Unassigned_NoFeatures pattern</a:t>
            </a:r>
            <a:pPr indent="0" marL="0">
              <a:buNone/>
            </a:pPr>
            <a:r>
              <a:rPr lang="en-US" sz="1050" dirty="0">
                <a:solidFill>
                  <a:srgbClr val="1E293B"/>
                </a:solidFill>
                <a:latin typeface="Calibri" pitchFamily="34" charset="0"/>
                <a:ea typeface="Calibri" pitchFamily="34" charset="-122"/>
                <a:cs typeface="Calibri" pitchFamily="34" charset="-120"/>
              </a:rPr>
              <a:t> confirmed the library was unstranded — reads on both strands were counted. This is a critical parameter check in any RNA-seq pipeline.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1368AA"/>
          </a:solidFill>
          <a:ln w="12700">
            <a:solidFill>
              <a:srgbClr val="1368AA"/>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RESULTS — SAMPLE CLUSTERING (PCA)</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9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200" b="1" dirty="0">
                <a:solidFill>
                  <a:srgbClr val="0B2545"/>
                </a:solidFill>
                <a:latin typeface="Calibri" pitchFamily="34" charset="0"/>
                <a:ea typeface="Calibri" pitchFamily="34" charset="-122"/>
                <a:cs typeface="Calibri" pitchFamily="34" charset="-120"/>
              </a:rPr>
              <a:t>Principal Component Analysis — Sample Separation by Condition</a:t>
            </a:r>
            <a:endParaRPr lang="en-US" sz="2200" dirty="0"/>
          </a:p>
        </p:txBody>
      </p:sp>
      <p:pic>
        <p:nvPicPr>
          <p:cNvPr id="8" name="Image 0" descr="C:\Users\arpit\Desktop\Genomics_project\results\figures\pca_all_samples.png">    </p:cNvPr>
          <p:cNvPicPr>
            <a:picLocks noChangeAspect="1"/>
          </p:cNvPicPr>
          <p:nvPr/>
        </p:nvPicPr>
        <p:blipFill>
          <a:blip r:embed="rId1"/>
          <a:srcRect l="0" r="0" t="0" b="0"/>
          <a:stretch/>
        </p:blipFill>
        <p:spPr>
          <a:xfrm>
            <a:off x="274320" y="1234440"/>
            <a:ext cx="6858000" cy="4846320"/>
          </a:xfrm>
          <a:prstGeom prst="rect">
            <a:avLst/>
          </a:prstGeom>
        </p:spPr>
      </p:pic>
      <p:sp>
        <p:nvSpPr>
          <p:cNvPr id="9" name="Shape 6"/>
          <p:cNvSpPr/>
          <p:nvPr/>
        </p:nvSpPr>
        <p:spPr>
          <a:xfrm>
            <a:off x="7406640" y="1234440"/>
            <a:ext cx="4572000" cy="13716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0" name="Shape 7"/>
          <p:cNvSpPr/>
          <p:nvPr/>
        </p:nvSpPr>
        <p:spPr>
          <a:xfrm>
            <a:off x="7406640" y="1234440"/>
            <a:ext cx="4572000" cy="301752"/>
          </a:xfrm>
          <a:prstGeom prst="rect">
            <a:avLst/>
          </a:prstGeom>
          <a:solidFill>
            <a:srgbClr val="0D7377"/>
          </a:solidFill>
          <a:ln w="12700">
            <a:solidFill>
              <a:srgbClr val="0D7377"/>
            </a:solidFill>
            <a:prstDash val="solid"/>
          </a:ln>
        </p:spPr>
      </p:sp>
      <p:sp>
        <p:nvSpPr>
          <p:cNvPr id="11" name="Text 8"/>
          <p:cNvSpPr/>
          <p:nvPr/>
        </p:nvSpPr>
        <p:spPr>
          <a:xfrm>
            <a:off x="7498080" y="1234440"/>
            <a:ext cx="448056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is PCA?</a:t>
            </a:r>
            <a:endParaRPr lang="en-US" sz="1100" dirty="0"/>
          </a:p>
        </p:txBody>
      </p:sp>
      <p:sp>
        <p:nvSpPr>
          <p:cNvPr id="12" name="Text 9"/>
          <p:cNvSpPr/>
          <p:nvPr/>
        </p:nvSpPr>
        <p:spPr>
          <a:xfrm>
            <a:off x="7543800" y="1581912"/>
            <a:ext cx="4343400" cy="96012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Reduces 23,995 gene expression measurements into 2–3 summary axes. Samples with similar expression cluster together; distinct biology separates them.</a:t>
            </a:r>
            <a:endParaRPr lang="en-US" sz="1050" dirty="0"/>
          </a:p>
        </p:txBody>
      </p:sp>
      <p:sp>
        <p:nvSpPr>
          <p:cNvPr id="13" name="Shape 10"/>
          <p:cNvSpPr/>
          <p:nvPr/>
        </p:nvSpPr>
        <p:spPr>
          <a:xfrm>
            <a:off x="7406640" y="2743200"/>
            <a:ext cx="4572000" cy="13716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4" name="Shape 11"/>
          <p:cNvSpPr/>
          <p:nvPr/>
        </p:nvSpPr>
        <p:spPr>
          <a:xfrm>
            <a:off x="7406640" y="2743200"/>
            <a:ext cx="4572000" cy="301752"/>
          </a:xfrm>
          <a:prstGeom prst="rect">
            <a:avLst/>
          </a:prstGeom>
          <a:solidFill>
            <a:srgbClr val="1368AA"/>
          </a:solidFill>
          <a:ln w="12700">
            <a:solidFill>
              <a:srgbClr val="1368AA"/>
            </a:solidFill>
            <a:prstDash val="solid"/>
          </a:ln>
        </p:spPr>
      </p:sp>
      <p:sp>
        <p:nvSpPr>
          <p:cNvPr id="15" name="Text 12"/>
          <p:cNvSpPr/>
          <p:nvPr/>
        </p:nvSpPr>
        <p:spPr>
          <a:xfrm>
            <a:off x="7498080" y="2743200"/>
            <a:ext cx="448056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We Expect</a:t>
            </a:r>
            <a:endParaRPr lang="en-US" sz="1100" dirty="0"/>
          </a:p>
        </p:txBody>
      </p:sp>
      <p:sp>
        <p:nvSpPr>
          <p:cNvPr id="16" name="Text 13"/>
          <p:cNvSpPr/>
          <p:nvPr/>
        </p:nvSpPr>
        <p:spPr>
          <a:xfrm>
            <a:off x="7543800" y="3090672"/>
            <a:ext cx="4343400" cy="96012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 NC (blue): tight cluster — consistent healthy baseline</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D1 (red): separated from NC along PC1 — massive acute response</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D2 (orange): between NC and D1 — partial recovery</a:t>
            </a:r>
            <a:endParaRPr lang="en-US" sz="1050" dirty="0"/>
          </a:p>
        </p:txBody>
      </p:sp>
      <p:sp>
        <p:nvSpPr>
          <p:cNvPr id="17" name="Shape 14"/>
          <p:cNvSpPr/>
          <p:nvPr/>
        </p:nvSpPr>
        <p:spPr>
          <a:xfrm>
            <a:off x="7406640" y="4251960"/>
            <a:ext cx="4572000" cy="141732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8" name="Shape 15"/>
          <p:cNvSpPr/>
          <p:nvPr/>
        </p:nvSpPr>
        <p:spPr>
          <a:xfrm>
            <a:off x="7406640" y="4251960"/>
            <a:ext cx="4572000" cy="301752"/>
          </a:xfrm>
          <a:prstGeom prst="rect">
            <a:avLst/>
          </a:prstGeom>
          <a:solidFill>
            <a:srgbClr val="00A878"/>
          </a:solidFill>
          <a:ln w="12700">
            <a:solidFill>
              <a:srgbClr val="00A878"/>
            </a:solidFill>
            <a:prstDash val="solid"/>
          </a:ln>
        </p:spPr>
      </p:sp>
      <p:sp>
        <p:nvSpPr>
          <p:cNvPr id="19" name="Text 16"/>
          <p:cNvSpPr/>
          <p:nvPr/>
        </p:nvSpPr>
        <p:spPr>
          <a:xfrm>
            <a:off x="7498080" y="4251960"/>
            <a:ext cx="448056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Interpretation</a:t>
            </a:r>
            <a:endParaRPr lang="en-US" sz="1100" dirty="0"/>
          </a:p>
        </p:txBody>
      </p:sp>
      <p:sp>
        <p:nvSpPr>
          <p:cNvPr id="20" name="Text 17"/>
          <p:cNvSpPr/>
          <p:nvPr/>
        </p:nvSpPr>
        <p:spPr>
          <a:xfrm>
            <a:off x="7543800" y="4599432"/>
            <a:ext cx="4343400" cy="100584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Clear separation validates that:</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Groups are transcriptionally distinct</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Technical quality is comparable</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Observed differences reflect biology</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No batch effects detected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1368AA"/>
          </a:solidFill>
          <a:ln w="12700">
            <a:solidFill>
              <a:srgbClr val="1368AA"/>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RESULTS — DIFFERENTIAL EXPRESSION: ACUTE STROKE (DAY 1)</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10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100" b="1" dirty="0">
                <a:solidFill>
                  <a:srgbClr val="0B2545"/>
                </a:solidFill>
                <a:latin typeface="Calibri" pitchFamily="34" charset="0"/>
                <a:ea typeface="Calibri" pitchFamily="34" charset="-122"/>
                <a:cs typeface="Calibri" pitchFamily="34" charset="-120"/>
              </a:rPr>
              <a:t>Day 1 vs. Control  —  8,594 Differentially Expressed Genes</a:t>
            </a:r>
            <a:endParaRPr lang="en-US" sz="2100" dirty="0"/>
          </a:p>
        </p:txBody>
      </p:sp>
      <p:pic>
        <p:nvPicPr>
          <p:cNvPr id="8" name="Image 0" descr="C:\Users\arpit\Desktop\Genomics_project\results\figures\volcano_D1_vs_NC.png">    </p:cNvPr>
          <p:cNvPicPr>
            <a:picLocks noChangeAspect="1"/>
          </p:cNvPicPr>
          <p:nvPr/>
        </p:nvPicPr>
        <p:blipFill>
          <a:blip r:embed="rId1"/>
          <a:srcRect l="0" r="0" t="0" b="0"/>
          <a:stretch/>
        </p:blipFill>
        <p:spPr>
          <a:xfrm>
            <a:off x="228600" y="1234440"/>
            <a:ext cx="6309360" cy="4846320"/>
          </a:xfrm>
          <a:prstGeom prst="rect">
            <a:avLst/>
          </a:prstGeom>
        </p:spPr>
      </p:pic>
      <p:sp>
        <p:nvSpPr>
          <p:cNvPr id="9" name="Shape 6"/>
          <p:cNvSpPr/>
          <p:nvPr/>
        </p:nvSpPr>
        <p:spPr>
          <a:xfrm>
            <a:off x="6766560" y="1234440"/>
            <a:ext cx="2468880" cy="960120"/>
          </a:xfrm>
          <a:prstGeom prst="rect">
            <a:avLst/>
          </a:prstGeom>
          <a:solidFill>
            <a:srgbClr val="1368AA"/>
          </a:solidFill>
          <a:ln w="12700">
            <a:solidFill>
              <a:srgbClr val="1368AA"/>
            </a:solidFill>
            <a:prstDash val="solid"/>
          </a:ln>
          <a:effectLst>
            <a:outerShdw sx="100000" sy="100000" kx="0" ky="0" algn="bl" rotWithShape="0" blurRad="101600" dist="38100" dir="8100000">
              <a:srgbClr val="000000">
                <a:alpha val="12000"/>
              </a:srgbClr>
            </a:outerShdw>
          </a:effectLst>
        </p:spPr>
      </p:sp>
      <p:sp>
        <p:nvSpPr>
          <p:cNvPr id="10" name="Text 7"/>
          <p:cNvSpPr/>
          <p:nvPr/>
        </p:nvSpPr>
        <p:spPr>
          <a:xfrm>
            <a:off x="6766560" y="1280160"/>
            <a:ext cx="2468880" cy="52806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8,594</a:t>
            </a:r>
            <a:endParaRPr lang="en-US" sz="2800" dirty="0"/>
          </a:p>
        </p:txBody>
      </p:sp>
      <p:sp>
        <p:nvSpPr>
          <p:cNvPr id="11" name="Text 8"/>
          <p:cNvSpPr/>
          <p:nvPr/>
        </p:nvSpPr>
        <p:spPr>
          <a:xfrm>
            <a:off x="6766560" y="1733702"/>
            <a:ext cx="2468880" cy="43205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Total DEGs (padj&lt;0.05, |LFC|&gt;1)</a:t>
            </a:r>
            <a:endParaRPr lang="en-US" sz="1000" dirty="0"/>
          </a:p>
        </p:txBody>
      </p:sp>
      <p:sp>
        <p:nvSpPr>
          <p:cNvPr id="12" name="Shape 9"/>
          <p:cNvSpPr/>
          <p:nvPr/>
        </p:nvSpPr>
        <p:spPr>
          <a:xfrm>
            <a:off x="9418320" y="1234440"/>
            <a:ext cx="2468880" cy="960120"/>
          </a:xfrm>
          <a:prstGeom prst="rect">
            <a:avLst/>
          </a:prstGeom>
          <a:solidFill>
            <a:srgbClr val="0B2545"/>
          </a:solidFill>
          <a:ln w="12700">
            <a:solidFill>
              <a:srgbClr val="0B2545"/>
            </a:solidFill>
            <a:prstDash val="solid"/>
          </a:ln>
          <a:effectLst>
            <a:outerShdw sx="100000" sy="100000" kx="0" ky="0" algn="bl" rotWithShape="0" blurRad="101600" dist="38100" dir="8100000">
              <a:srgbClr val="000000">
                <a:alpha val="12000"/>
              </a:srgbClr>
            </a:outerShdw>
          </a:effectLst>
        </p:spPr>
      </p:sp>
      <p:sp>
        <p:nvSpPr>
          <p:cNvPr id="13" name="Text 10"/>
          <p:cNvSpPr/>
          <p:nvPr/>
        </p:nvSpPr>
        <p:spPr>
          <a:xfrm>
            <a:off x="9418320" y="1280160"/>
            <a:ext cx="2468880" cy="52806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35.8%</a:t>
            </a:r>
            <a:endParaRPr lang="en-US" sz="2800" dirty="0"/>
          </a:p>
        </p:txBody>
      </p:sp>
      <p:sp>
        <p:nvSpPr>
          <p:cNvPr id="14" name="Text 11"/>
          <p:cNvSpPr/>
          <p:nvPr/>
        </p:nvSpPr>
        <p:spPr>
          <a:xfrm>
            <a:off x="9418320" y="1733702"/>
            <a:ext cx="2468880" cy="43205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of all expressed genes</a:t>
            </a:r>
            <a:endParaRPr lang="en-US" sz="1000" dirty="0"/>
          </a:p>
        </p:txBody>
      </p:sp>
      <p:sp>
        <p:nvSpPr>
          <p:cNvPr id="15" name="Shape 12"/>
          <p:cNvSpPr/>
          <p:nvPr/>
        </p:nvSpPr>
        <p:spPr>
          <a:xfrm>
            <a:off x="6766560" y="2331720"/>
            <a:ext cx="2468880" cy="960120"/>
          </a:xfrm>
          <a:prstGeom prst="rect">
            <a:avLst/>
          </a:prstGeom>
          <a:solidFill>
            <a:srgbClr val="00A878"/>
          </a:solidFill>
          <a:ln w="12700">
            <a:solidFill>
              <a:srgbClr val="00A878"/>
            </a:solidFill>
            <a:prstDash val="solid"/>
          </a:ln>
          <a:effectLst>
            <a:outerShdw sx="100000" sy="100000" kx="0" ky="0" algn="bl" rotWithShape="0" blurRad="101600" dist="38100" dir="8100000">
              <a:srgbClr val="000000">
                <a:alpha val="12000"/>
              </a:srgbClr>
            </a:outerShdw>
          </a:effectLst>
        </p:spPr>
      </p:sp>
      <p:sp>
        <p:nvSpPr>
          <p:cNvPr id="16" name="Text 13"/>
          <p:cNvSpPr/>
          <p:nvPr/>
        </p:nvSpPr>
        <p:spPr>
          <a:xfrm>
            <a:off x="6766560" y="2377440"/>
            <a:ext cx="2468880" cy="52806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4,890</a:t>
            </a:r>
            <a:endParaRPr lang="en-US" sz="2800" dirty="0"/>
          </a:p>
        </p:txBody>
      </p:sp>
      <p:sp>
        <p:nvSpPr>
          <p:cNvPr id="17" name="Text 14"/>
          <p:cNvSpPr/>
          <p:nvPr/>
        </p:nvSpPr>
        <p:spPr>
          <a:xfrm>
            <a:off x="6766560" y="2830982"/>
            <a:ext cx="2468880" cy="43205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Upregulated genes</a:t>
            </a:r>
            <a:endParaRPr lang="en-US" sz="1000" dirty="0"/>
          </a:p>
        </p:txBody>
      </p:sp>
      <p:sp>
        <p:nvSpPr>
          <p:cNvPr id="18" name="Shape 15"/>
          <p:cNvSpPr/>
          <p:nvPr/>
        </p:nvSpPr>
        <p:spPr>
          <a:xfrm>
            <a:off x="9418320" y="2331720"/>
            <a:ext cx="2468880" cy="960120"/>
          </a:xfrm>
          <a:prstGeom prst="rect">
            <a:avLst/>
          </a:prstGeom>
          <a:solidFill>
            <a:srgbClr val="C0392B"/>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19" name="Text 16"/>
          <p:cNvSpPr/>
          <p:nvPr/>
        </p:nvSpPr>
        <p:spPr>
          <a:xfrm>
            <a:off x="9418320" y="2377440"/>
            <a:ext cx="2468880" cy="52806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3,704</a:t>
            </a:r>
            <a:endParaRPr lang="en-US" sz="2800" dirty="0"/>
          </a:p>
        </p:txBody>
      </p:sp>
      <p:sp>
        <p:nvSpPr>
          <p:cNvPr id="20" name="Text 17"/>
          <p:cNvSpPr/>
          <p:nvPr/>
        </p:nvSpPr>
        <p:spPr>
          <a:xfrm>
            <a:off x="9418320" y="2830982"/>
            <a:ext cx="2468880" cy="43205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Downregulated genes</a:t>
            </a:r>
            <a:endParaRPr lang="en-US" sz="1000" dirty="0"/>
          </a:p>
        </p:txBody>
      </p:sp>
      <p:sp>
        <p:nvSpPr>
          <p:cNvPr id="21" name="Shape 18"/>
          <p:cNvSpPr/>
          <p:nvPr/>
        </p:nvSpPr>
        <p:spPr>
          <a:xfrm>
            <a:off x="6766560" y="3401568"/>
            <a:ext cx="5120640" cy="2679192"/>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22" name="Shape 19"/>
          <p:cNvSpPr/>
          <p:nvPr/>
        </p:nvSpPr>
        <p:spPr>
          <a:xfrm>
            <a:off x="6766560" y="3401568"/>
            <a:ext cx="5120640" cy="347472"/>
          </a:xfrm>
          <a:prstGeom prst="rect">
            <a:avLst/>
          </a:prstGeom>
          <a:solidFill>
            <a:srgbClr val="0B2545"/>
          </a:solidFill>
          <a:ln w="12700">
            <a:solidFill>
              <a:srgbClr val="0B2545"/>
            </a:solidFill>
            <a:prstDash val="solid"/>
          </a:ln>
        </p:spPr>
      </p:sp>
      <p:sp>
        <p:nvSpPr>
          <p:cNvPr id="23" name="Text 20"/>
          <p:cNvSpPr/>
          <p:nvPr/>
        </p:nvSpPr>
        <p:spPr>
          <a:xfrm>
            <a:off x="6858000" y="3401568"/>
            <a:ext cx="493776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Notable DEGs</a:t>
            </a:r>
            <a:endParaRPr lang="en-US" sz="1100" dirty="0"/>
          </a:p>
        </p:txBody>
      </p:sp>
      <p:sp>
        <p:nvSpPr>
          <p:cNvPr id="24" name="Shape 21"/>
          <p:cNvSpPr/>
          <p:nvPr/>
        </p:nvSpPr>
        <p:spPr>
          <a:xfrm>
            <a:off x="6903720" y="3822192"/>
            <a:ext cx="822960" cy="320040"/>
          </a:xfrm>
          <a:prstGeom prst="rect">
            <a:avLst/>
          </a:prstGeom>
          <a:solidFill>
            <a:srgbClr val="C0392B"/>
          </a:solidFill>
          <a:ln w="12700">
            <a:solidFill>
              <a:srgbClr val="C0392B"/>
            </a:solidFill>
            <a:prstDash val="solid"/>
          </a:ln>
        </p:spPr>
      </p:sp>
      <p:sp>
        <p:nvSpPr>
          <p:cNvPr id="25" name="Text 22"/>
          <p:cNvSpPr/>
          <p:nvPr/>
        </p:nvSpPr>
        <p:spPr>
          <a:xfrm>
            <a:off x="6903720" y="3822192"/>
            <a:ext cx="82296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PPBP (CXCL7)</a:t>
            </a:r>
            <a:endParaRPr lang="en-US" sz="850" dirty="0"/>
          </a:p>
        </p:txBody>
      </p:sp>
      <p:sp>
        <p:nvSpPr>
          <p:cNvPr id="26" name="Text 23"/>
          <p:cNvSpPr/>
          <p:nvPr/>
        </p:nvSpPr>
        <p:spPr>
          <a:xfrm>
            <a:off x="7772400" y="3822192"/>
            <a:ext cx="914400" cy="320040"/>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LFC −4.69</a:t>
            </a:r>
            <a:endParaRPr lang="en-US" sz="900" dirty="0"/>
          </a:p>
        </p:txBody>
      </p:sp>
      <p:sp>
        <p:nvSpPr>
          <p:cNvPr id="27" name="Text 24"/>
          <p:cNvSpPr/>
          <p:nvPr/>
        </p:nvSpPr>
        <p:spPr>
          <a:xfrm>
            <a:off x="8732520" y="3822192"/>
            <a:ext cx="3017520" cy="32004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Top downregulated | Platelet chemokine</a:t>
            </a:r>
            <a:endParaRPr lang="en-US" sz="900" dirty="0"/>
          </a:p>
        </p:txBody>
      </p:sp>
      <p:sp>
        <p:nvSpPr>
          <p:cNvPr id="28" name="Shape 25"/>
          <p:cNvSpPr/>
          <p:nvPr/>
        </p:nvSpPr>
        <p:spPr>
          <a:xfrm>
            <a:off x="6903720" y="4251960"/>
            <a:ext cx="822960" cy="320040"/>
          </a:xfrm>
          <a:prstGeom prst="rect">
            <a:avLst/>
          </a:prstGeom>
          <a:solidFill>
            <a:srgbClr val="C0392B"/>
          </a:solidFill>
          <a:ln w="12700">
            <a:solidFill>
              <a:srgbClr val="C0392B"/>
            </a:solidFill>
            <a:prstDash val="solid"/>
          </a:ln>
        </p:spPr>
      </p:sp>
      <p:sp>
        <p:nvSpPr>
          <p:cNvPr id="29" name="Text 26"/>
          <p:cNvSpPr/>
          <p:nvPr/>
        </p:nvSpPr>
        <p:spPr>
          <a:xfrm>
            <a:off x="6903720" y="4251960"/>
            <a:ext cx="82296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RGS18</a:t>
            </a:r>
            <a:endParaRPr lang="en-US" sz="850" dirty="0"/>
          </a:p>
        </p:txBody>
      </p:sp>
      <p:sp>
        <p:nvSpPr>
          <p:cNvPr id="30" name="Text 27"/>
          <p:cNvSpPr/>
          <p:nvPr/>
        </p:nvSpPr>
        <p:spPr>
          <a:xfrm>
            <a:off x="7772400" y="4251960"/>
            <a:ext cx="914400" cy="320040"/>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LFC −3.20</a:t>
            </a:r>
            <a:endParaRPr lang="en-US" sz="900" dirty="0"/>
          </a:p>
        </p:txBody>
      </p:sp>
      <p:sp>
        <p:nvSpPr>
          <p:cNvPr id="31" name="Text 28"/>
          <p:cNvSpPr/>
          <p:nvPr/>
        </p:nvSpPr>
        <p:spPr>
          <a:xfrm>
            <a:off x="8732520" y="4251960"/>
            <a:ext cx="3017520" cy="32004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Platelet activation regulator</a:t>
            </a:r>
            <a:endParaRPr lang="en-US" sz="900" dirty="0"/>
          </a:p>
        </p:txBody>
      </p:sp>
      <p:sp>
        <p:nvSpPr>
          <p:cNvPr id="32" name="Shape 29"/>
          <p:cNvSpPr/>
          <p:nvPr/>
        </p:nvSpPr>
        <p:spPr>
          <a:xfrm>
            <a:off x="6903720" y="4681728"/>
            <a:ext cx="822960" cy="320040"/>
          </a:xfrm>
          <a:prstGeom prst="rect">
            <a:avLst/>
          </a:prstGeom>
          <a:solidFill>
            <a:srgbClr val="00A878"/>
          </a:solidFill>
          <a:ln w="12700">
            <a:solidFill>
              <a:srgbClr val="00A878"/>
            </a:solidFill>
            <a:prstDash val="solid"/>
          </a:ln>
        </p:spPr>
      </p:sp>
      <p:sp>
        <p:nvSpPr>
          <p:cNvPr id="33" name="Text 30"/>
          <p:cNvSpPr/>
          <p:nvPr/>
        </p:nvSpPr>
        <p:spPr>
          <a:xfrm>
            <a:off x="6903720" y="4681728"/>
            <a:ext cx="82296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ELANE</a:t>
            </a:r>
            <a:endParaRPr lang="en-US" sz="850" dirty="0"/>
          </a:p>
        </p:txBody>
      </p:sp>
      <p:sp>
        <p:nvSpPr>
          <p:cNvPr id="34" name="Text 31"/>
          <p:cNvSpPr/>
          <p:nvPr/>
        </p:nvSpPr>
        <p:spPr>
          <a:xfrm>
            <a:off x="7772400" y="4681728"/>
            <a:ext cx="914400" cy="320040"/>
          </a:xfrm>
          <a:prstGeom prst="rect">
            <a:avLst/>
          </a:prstGeom>
          <a:noFill/>
          <a:ln/>
        </p:spPr>
        <p:txBody>
          <a:bodyPr wrap="square" lIns="0" tIns="0" rIns="0" bIns="0" rtlCol="0" anchor="ctr"/>
          <a:lstStyle/>
          <a:p>
            <a:pPr indent="0" marL="0">
              <a:buNone/>
            </a:pPr>
            <a:r>
              <a:rPr lang="en-US" sz="900" b="1" dirty="0">
                <a:solidFill>
                  <a:srgbClr val="00A878"/>
                </a:solidFill>
                <a:latin typeface="Calibri" pitchFamily="34" charset="0"/>
                <a:ea typeface="Calibri" pitchFamily="34" charset="-122"/>
                <a:cs typeface="Calibri" pitchFamily="34" charset="-120"/>
              </a:rPr>
              <a:t>↑ Up</a:t>
            </a:r>
            <a:endParaRPr lang="en-US" sz="900" dirty="0"/>
          </a:p>
        </p:txBody>
      </p:sp>
      <p:sp>
        <p:nvSpPr>
          <p:cNvPr id="35" name="Text 32"/>
          <p:cNvSpPr/>
          <p:nvPr/>
        </p:nvSpPr>
        <p:spPr>
          <a:xfrm>
            <a:off x="8732520" y="4681728"/>
            <a:ext cx="3017520" cy="32004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Neutrophil elastase — NET formation</a:t>
            </a:r>
            <a:endParaRPr lang="en-US" sz="900" dirty="0"/>
          </a:p>
        </p:txBody>
      </p:sp>
      <p:sp>
        <p:nvSpPr>
          <p:cNvPr id="36" name="Shape 33"/>
          <p:cNvSpPr/>
          <p:nvPr/>
        </p:nvSpPr>
        <p:spPr>
          <a:xfrm>
            <a:off x="6903720" y="5111496"/>
            <a:ext cx="822960" cy="320040"/>
          </a:xfrm>
          <a:prstGeom prst="rect">
            <a:avLst/>
          </a:prstGeom>
          <a:solidFill>
            <a:srgbClr val="00A878"/>
          </a:solidFill>
          <a:ln w="12700">
            <a:solidFill>
              <a:srgbClr val="00A878"/>
            </a:solidFill>
            <a:prstDash val="solid"/>
          </a:ln>
        </p:spPr>
      </p:sp>
      <p:sp>
        <p:nvSpPr>
          <p:cNvPr id="37" name="Text 34"/>
          <p:cNvSpPr/>
          <p:nvPr/>
        </p:nvSpPr>
        <p:spPr>
          <a:xfrm>
            <a:off x="6903720" y="5111496"/>
            <a:ext cx="82296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S100A12</a:t>
            </a:r>
            <a:endParaRPr lang="en-US" sz="850" dirty="0"/>
          </a:p>
        </p:txBody>
      </p:sp>
      <p:sp>
        <p:nvSpPr>
          <p:cNvPr id="38" name="Text 35"/>
          <p:cNvSpPr/>
          <p:nvPr/>
        </p:nvSpPr>
        <p:spPr>
          <a:xfrm>
            <a:off x="7772400" y="5111496"/>
            <a:ext cx="914400" cy="320040"/>
          </a:xfrm>
          <a:prstGeom prst="rect">
            <a:avLst/>
          </a:prstGeom>
          <a:noFill/>
          <a:ln/>
        </p:spPr>
        <p:txBody>
          <a:bodyPr wrap="square" lIns="0" tIns="0" rIns="0" bIns="0" rtlCol="0" anchor="ctr"/>
          <a:lstStyle/>
          <a:p>
            <a:pPr indent="0" marL="0">
              <a:buNone/>
            </a:pPr>
            <a:r>
              <a:rPr lang="en-US" sz="900" b="1" dirty="0">
                <a:solidFill>
                  <a:srgbClr val="00A878"/>
                </a:solidFill>
                <a:latin typeface="Calibri" pitchFamily="34" charset="0"/>
                <a:ea typeface="Calibri" pitchFamily="34" charset="-122"/>
                <a:cs typeface="Calibri" pitchFamily="34" charset="-120"/>
              </a:rPr>
              <a:t>↑ Up</a:t>
            </a:r>
            <a:endParaRPr lang="en-US" sz="900" dirty="0"/>
          </a:p>
        </p:txBody>
      </p:sp>
      <p:sp>
        <p:nvSpPr>
          <p:cNvPr id="39" name="Text 36"/>
          <p:cNvSpPr/>
          <p:nvPr/>
        </p:nvSpPr>
        <p:spPr>
          <a:xfrm>
            <a:off x="8732520" y="5111496"/>
            <a:ext cx="3017520" cy="32004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Neutrophil/monocyte alarmin</a:t>
            </a:r>
            <a:endParaRPr lang="en-US" sz="900" dirty="0"/>
          </a:p>
        </p:txBody>
      </p:sp>
      <p:sp>
        <p:nvSpPr>
          <p:cNvPr id="40" name="Shape 37"/>
          <p:cNvSpPr/>
          <p:nvPr/>
        </p:nvSpPr>
        <p:spPr>
          <a:xfrm>
            <a:off x="6903720" y="5541264"/>
            <a:ext cx="822960" cy="320040"/>
          </a:xfrm>
          <a:prstGeom prst="rect">
            <a:avLst/>
          </a:prstGeom>
          <a:solidFill>
            <a:srgbClr val="00A878"/>
          </a:solidFill>
          <a:ln w="12700">
            <a:solidFill>
              <a:srgbClr val="00A878"/>
            </a:solidFill>
            <a:prstDash val="solid"/>
          </a:ln>
        </p:spPr>
      </p:sp>
      <p:sp>
        <p:nvSpPr>
          <p:cNvPr id="41" name="Text 38"/>
          <p:cNvSpPr/>
          <p:nvPr/>
        </p:nvSpPr>
        <p:spPr>
          <a:xfrm>
            <a:off x="6903720" y="5541264"/>
            <a:ext cx="822960" cy="3200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CXCL9/10</a:t>
            </a:r>
            <a:endParaRPr lang="en-US" sz="850" dirty="0"/>
          </a:p>
        </p:txBody>
      </p:sp>
      <p:sp>
        <p:nvSpPr>
          <p:cNvPr id="42" name="Text 39"/>
          <p:cNvSpPr/>
          <p:nvPr/>
        </p:nvSpPr>
        <p:spPr>
          <a:xfrm>
            <a:off x="7772400" y="5541264"/>
            <a:ext cx="914400" cy="320040"/>
          </a:xfrm>
          <a:prstGeom prst="rect">
            <a:avLst/>
          </a:prstGeom>
          <a:noFill/>
          <a:ln/>
        </p:spPr>
        <p:txBody>
          <a:bodyPr wrap="square" lIns="0" tIns="0" rIns="0" bIns="0" rtlCol="0" anchor="ctr"/>
          <a:lstStyle/>
          <a:p>
            <a:pPr indent="0" marL="0">
              <a:buNone/>
            </a:pPr>
            <a:r>
              <a:rPr lang="en-US" sz="900" b="1" dirty="0">
                <a:solidFill>
                  <a:srgbClr val="00A878"/>
                </a:solidFill>
                <a:latin typeface="Calibri" pitchFamily="34" charset="0"/>
                <a:ea typeface="Calibri" pitchFamily="34" charset="-122"/>
                <a:cs typeface="Calibri" pitchFamily="34" charset="-120"/>
              </a:rPr>
              <a:t>↑ Up</a:t>
            </a:r>
            <a:endParaRPr lang="en-US" sz="900" dirty="0"/>
          </a:p>
        </p:txBody>
      </p:sp>
      <p:sp>
        <p:nvSpPr>
          <p:cNvPr id="43" name="Text 40"/>
          <p:cNvSpPr/>
          <p:nvPr/>
        </p:nvSpPr>
        <p:spPr>
          <a:xfrm>
            <a:off x="8732520" y="5541264"/>
            <a:ext cx="3017520" cy="32004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Pro-inflammatory chemokines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1368AA"/>
          </a:solidFill>
          <a:ln w="12700">
            <a:solidFill>
              <a:srgbClr val="1368AA"/>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RESULTS — DIFFERENTIAL EXPRESSION: SUBACUTE STROKE (DAY 2)</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11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100" b="1" dirty="0">
                <a:solidFill>
                  <a:srgbClr val="0B2545"/>
                </a:solidFill>
                <a:latin typeface="Calibri" pitchFamily="34" charset="0"/>
                <a:ea typeface="Calibri" pitchFamily="34" charset="-122"/>
                <a:cs typeface="Calibri" pitchFamily="34" charset="-120"/>
              </a:rPr>
              <a:t>Day 2 vs. Control  —  Dramatic Resolution to Only 60 DEGs</a:t>
            </a:r>
            <a:endParaRPr lang="en-US" sz="2100" dirty="0"/>
          </a:p>
        </p:txBody>
      </p:sp>
      <p:pic>
        <p:nvPicPr>
          <p:cNvPr id="8" name="Image 0" descr="C:\Users\arpit\Desktop\Genomics_project\results\figures\volcano_D2_vs_NC.png">    </p:cNvPr>
          <p:cNvPicPr>
            <a:picLocks noChangeAspect="1"/>
          </p:cNvPicPr>
          <p:nvPr/>
        </p:nvPicPr>
        <p:blipFill>
          <a:blip r:embed="rId1"/>
          <a:srcRect l="0" r="0" t="0" b="0"/>
          <a:stretch/>
        </p:blipFill>
        <p:spPr>
          <a:xfrm>
            <a:off x="228600" y="1234440"/>
            <a:ext cx="6309360" cy="4846320"/>
          </a:xfrm>
          <a:prstGeom prst="rect">
            <a:avLst/>
          </a:prstGeom>
        </p:spPr>
      </p:pic>
      <p:sp>
        <p:nvSpPr>
          <p:cNvPr id="9" name="Shape 6"/>
          <p:cNvSpPr/>
          <p:nvPr/>
        </p:nvSpPr>
        <p:spPr>
          <a:xfrm>
            <a:off x="6766560" y="1234440"/>
            <a:ext cx="2468880" cy="960120"/>
          </a:xfrm>
          <a:prstGeom prst="rect">
            <a:avLst/>
          </a:prstGeom>
          <a:solidFill>
            <a:srgbClr val="0D7377"/>
          </a:solidFill>
          <a:ln w="12700">
            <a:solidFill>
              <a:srgbClr val="0D7377"/>
            </a:solidFill>
            <a:prstDash val="solid"/>
          </a:ln>
          <a:effectLst>
            <a:outerShdw sx="100000" sy="100000" kx="0" ky="0" algn="bl" rotWithShape="0" blurRad="101600" dist="38100" dir="8100000">
              <a:srgbClr val="000000">
                <a:alpha val="12000"/>
              </a:srgbClr>
            </a:outerShdw>
          </a:effectLst>
        </p:spPr>
      </p:sp>
      <p:sp>
        <p:nvSpPr>
          <p:cNvPr id="10" name="Text 7"/>
          <p:cNvSpPr/>
          <p:nvPr/>
        </p:nvSpPr>
        <p:spPr>
          <a:xfrm>
            <a:off x="6766560" y="1280160"/>
            <a:ext cx="2468880" cy="52806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60</a:t>
            </a:r>
            <a:endParaRPr lang="en-US" sz="2800" dirty="0"/>
          </a:p>
        </p:txBody>
      </p:sp>
      <p:sp>
        <p:nvSpPr>
          <p:cNvPr id="11" name="Text 8"/>
          <p:cNvSpPr/>
          <p:nvPr/>
        </p:nvSpPr>
        <p:spPr>
          <a:xfrm>
            <a:off x="6766560" y="1733702"/>
            <a:ext cx="2468880" cy="43205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Total DEGs</a:t>
            </a:r>
            <a:endParaRPr lang="en-US" sz="1000" dirty="0"/>
          </a:p>
        </p:txBody>
      </p:sp>
      <p:sp>
        <p:nvSpPr>
          <p:cNvPr id="12" name="Shape 9"/>
          <p:cNvSpPr/>
          <p:nvPr/>
        </p:nvSpPr>
        <p:spPr>
          <a:xfrm>
            <a:off x="9418320" y="1234440"/>
            <a:ext cx="2468880" cy="960120"/>
          </a:xfrm>
          <a:prstGeom prst="rect">
            <a:avLst/>
          </a:prstGeom>
          <a:solidFill>
            <a:srgbClr val="F2A900"/>
          </a:solidFill>
          <a:ln w="12700">
            <a:solidFill>
              <a:srgbClr val="F2A900"/>
            </a:solidFill>
            <a:prstDash val="solid"/>
          </a:ln>
          <a:effectLst>
            <a:outerShdw sx="100000" sy="100000" kx="0" ky="0" algn="bl" rotWithShape="0" blurRad="101600" dist="38100" dir="8100000">
              <a:srgbClr val="000000">
                <a:alpha val="12000"/>
              </a:srgbClr>
            </a:outerShdw>
          </a:effectLst>
        </p:spPr>
      </p:sp>
      <p:sp>
        <p:nvSpPr>
          <p:cNvPr id="13" name="Text 10"/>
          <p:cNvSpPr/>
          <p:nvPr/>
        </p:nvSpPr>
        <p:spPr>
          <a:xfrm>
            <a:off x="9418320" y="1280160"/>
            <a:ext cx="2468880" cy="52806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143×</a:t>
            </a:r>
            <a:endParaRPr lang="en-US" sz="2800" dirty="0"/>
          </a:p>
        </p:txBody>
      </p:sp>
      <p:sp>
        <p:nvSpPr>
          <p:cNvPr id="14" name="Text 11"/>
          <p:cNvSpPr/>
          <p:nvPr/>
        </p:nvSpPr>
        <p:spPr>
          <a:xfrm>
            <a:off x="9418320" y="1733702"/>
            <a:ext cx="2468880" cy="43205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Reduction from Day 1</a:t>
            </a:r>
            <a:endParaRPr lang="en-US" sz="1000" dirty="0"/>
          </a:p>
        </p:txBody>
      </p:sp>
      <p:sp>
        <p:nvSpPr>
          <p:cNvPr id="15" name="Shape 12"/>
          <p:cNvSpPr/>
          <p:nvPr/>
        </p:nvSpPr>
        <p:spPr>
          <a:xfrm>
            <a:off x="6766560" y="2331720"/>
            <a:ext cx="2468880" cy="960120"/>
          </a:xfrm>
          <a:prstGeom prst="rect">
            <a:avLst/>
          </a:prstGeom>
          <a:solidFill>
            <a:srgbClr val="00A878"/>
          </a:solidFill>
          <a:ln w="12700">
            <a:solidFill>
              <a:srgbClr val="00A878"/>
            </a:solidFill>
            <a:prstDash val="solid"/>
          </a:ln>
          <a:effectLst>
            <a:outerShdw sx="100000" sy="100000" kx="0" ky="0" algn="bl" rotWithShape="0" blurRad="101600" dist="38100" dir="8100000">
              <a:srgbClr val="000000">
                <a:alpha val="12000"/>
              </a:srgbClr>
            </a:outerShdw>
          </a:effectLst>
        </p:spPr>
      </p:sp>
      <p:sp>
        <p:nvSpPr>
          <p:cNvPr id="16" name="Text 13"/>
          <p:cNvSpPr/>
          <p:nvPr/>
        </p:nvSpPr>
        <p:spPr>
          <a:xfrm>
            <a:off x="6766560" y="2377440"/>
            <a:ext cx="2468880" cy="52806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45</a:t>
            </a:r>
            <a:endParaRPr lang="en-US" sz="2800" dirty="0"/>
          </a:p>
        </p:txBody>
      </p:sp>
      <p:sp>
        <p:nvSpPr>
          <p:cNvPr id="17" name="Text 14"/>
          <p:cNvSpPr/>
          <p:nvPr/>
        </p:nvSpPr>
        <p:spPr>
          <a:xfrm>
            <a:off x="6766560" y="2830982"/>
            <a:ext cx="2468880" cy="43205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Upregulated</a:t>
            </a:r>
            <a:endParaRPr lang="en-US" sz="1000" dirty="0"/>
          </a:p>
        </p:txBody>
      </p:sp>
      <p:sp>
        <p:nvSpPr>
          <p:cNvPr id="18" name="Shape 15"/>
          <p:cNvSpPr/>
          <p:nvPr/>
        </p:nvSpPr>
        <p:spPr>
          <a:xfrm>
            <a:off x="9418320" y="2331720"/>
            <a:ext cx="2468880" cy="960120"/>
          </a:xfrm>
          <a:prstGeom prst="rect">
            <a:avLst/>
          </a:prstGeom>
          <a:solidFill>
            <a:srgbClr val="C0392B"/>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19" name="Text 16"/>
          <p:cNvSpPr/>
          <p:nvPr/>
        </p:nvSpPr>
        <p:spPr>
          <a:xfrm>
            <a:off x="9418320" y="2377440"/>
            <a:ext cx="2468880" cy="52806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15</a:t>
            </a:r>
            <a:endParaRPr lang="en-US" sz="2800" dirty="0"/>
          </a:p>
        </p:txBody>
      </p:sp>
      <p:sp>
        <p:nvSpPr>
          <p:cNvPr id="20" name="Text 17"/>
          <p:cNvSpPr/>
          <p:nvPr/>
        </p:nvSpPr>
        <p:spPr>
          <a:xfrm>
            <a:off x="9418320" y="2830982"/>
            <a:ext cx="2468880" cy="43205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Downregulated</a:t>
            </a:r>
            <a:endParaRPr lang="en-US" sz="1000" dirty="0"/>
          </a:p>
        </p:txBody>
      </p:sp>
      <p:sp>
        <p:nvSpPr>
          <p:cNvPr id="21" name="Shape 18"/>
          <p:cNvSpPr/>
          <p:nvPr/>
        </p:nvSpPr>
        <p:spPr>
          <a:xfrm>
            <a:off x="6766560" y="3401568"/>
            <a:ext cx="5120640" cy="2743200"/>
          </a:xfrm>
          <a:prstGeom prst="rect">
            <a:avLst/>
          </a:prstGeom>
          <a:solidFill>
            <a:srgbClr val="FFFFFF"/>
          </a:solidFill>
          <a:ln w="12700">
            <a:solidFill>
              <a:srgbClr val="0D7377"/>
            </a:solidFill>
            <a:prstDash val="solid"/>
          </a:ln>
          <a:effectLst>
            <a:outerShdw sx="100000" sy="100000" kx="0" ky="0" algn="bl" rotWithShape="0" blurRad="101600" dist="38100" dir="8100000">
              <a:srgbClr val="000000">
                <a:alpha val="12000"/>
              </a:srgbClr>
            </a:outerShdw>
          </a:effectLst>
        </p:spPr>
      </p:sp>
      <p:sp>
        <p:nvSpPr>
          <p:cNvPr id="22" name="Shape 19"/>
          <p:cNvSpPr/>
          <p:nvPr/>
        </p:nvSpPr>
        <p:spPr>
          <a:xfrm>
            <a:off x="6766560" y="3401568"/>
            <a:ext cx="5120640" cy="384048"/>
          </a:xfrm>
          <a:prstGeom prst="rect">
            <a:avLst/>
          </a:prstGeom>
          <a:solidFill>
            <a:srgbClr val="0D7377"/>
          </a:solidFill>
          <a:ln w="12700">
            <a:solidFill>
              <a:srgbClr val="0D7377"/>
            </a:solidFill>
            <a:prstDash val="solid"/>
          </a:ln>
        </p:spPr>
      </p:sp>
      <p:sp>
        <p:nvSpPr>
          <p:cNvPr id="23" name="Text 20"/>
          <p:cNvSpPr/>
          <p:nvPr/>
        </p:nvSpPr>
        <p:spPr>
          <a:xfrm>
            <a:off x="6858000" y="3401568"/>
            <a:ext cx="493776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Key Finding: DUSP2 &amp; DUSP8 Upregulation</a:t>
            </a:r>
            <a:endParaRPr lang="en-US" sz="1100" dirty="0"/>
          </a:p>
        </p:txBody>
      </p:sp>
      <p:sp>
        <p:nvSpPr>
          <p:cNvPr id="24" name="Text 21"/>
          <p:cNvSpPr/>
          <p:nvPr/>
        </p:nvSpPr>
        <p:spPr>
          <a:xfrm>
            <a:off x="6903720" y="3858768"/>
            <a:ext cx="4846320" cy="2194560"/>
          </a:xfrm>
          <a:prstGeom prst="rect">
            <a:avLst/>
          </a:prstGeom>
          <a:noFill/>
          <a:ln/>
        </p:spPr>
        <p:txBody>
          <a:bodyPr wrap="square" lIns="0" tIns="0" rIns="0" bIns="0" rtlCol="0" anchor="t"/>
          <a:lstStyle/>
          <a:p>
            <a:pPr indent="0" marL="0">
              <a:buNone/>
            </a:pPr>
            <a:r>
              <a:rPr lang="en-US" sz="1050" b="1" dirty="0">
                <a:solidFill>
                  <a:srgbClr val="0D7377"/>
                </a:solidFill>
                <a:latin typeface="Calibri" pitchFamily="34" charset="0"/>
                <a:ea typeface="Calibri" pitchFamily="34" charset="-122"/>
                <a:cs typeface="Calibri" pitchFamily="34" charset="-120"/>
              </a:rPr>
              <a:t>Dual-Specificity Phosphatases 2 &amp; 8
</a:t>
            </a:r>
            <a:pPr indent="0" marL="0">
              <a:buNone/>
            </a:pPr>
            <a:r>
              <a:rPr lang="en-US" sz="1050" b="1" dirty="0">
                <a:solidFill>
                  <a:srgbClr val="1E293B"/>
                </a:solidFill>
                <a:latin typeface="Calibri" pitchFamily="34" charset="0"/>
                <a:ea typeface="Calibri" pitchFamily="34" charset="-122"/>
                <a:cs typeface="Calibri" pitchFamily="34" charset="-120"/>
              </a:rPr>
              <a:t>Function: </a:t>
            </a:r>
            <a:pPr indent="0" marL="0">
              <a:buNone/>
            </a:pPr>
            <a:r>
              <a:rPr lang="en-US" sz="1050" dirty="0">
                <a:solidFill>
                  <a:srgbClr val="1E293B"/>
                </a:solidFill>
                <a:latin typeface="Calibri" pitchFamily="34" charset="0"/>
                <a:ea typeface="Calibri" pitchFamily="34" charset="-122"/>
                <a:cs typeface="Calibri" pitchFamily="34" charset="-120"/>
              </a:rPr>
              <a:t>Deactivate ERK and p38 MAP kinase signaling cascades by dephosphorylation
</a:t>
            </a:r>
            <a:pPr indent="0" marL="0">
              <a:buNone/>
            </a:pPr>
            <a:r>
              <a:rPr lang="en-US" sz="1050" b="1" dirty="0">
                <a:solidFill>
                  <a:srgbClr val="1E293B"/>
                </a:solidFill>
                <a:latin typeface="Calibri" pitchFamily="34" charset="0"/>
                <a:ea typeface="Calibri" pitchFamily="34" charset="-122"/>
                <a:cs typeface="Calibri" pitchFamily="34" charset="-120"/>
              </a:rPr>
              <a:t>Significance: </a:t>
            </a:r>
            <a:pPr indent="0" marL="0">
              <a:buNone/>
            </a:pPr>
            <a:r>
              <a:rPr lang="en-US" sz="1050" dirty="0">
                <a:solidFill>
                  <a:srgbClr val="1E293B"/>
                </a:solidFill>
                <a:latin typeface="Calibri" pitchFamily="34" charset="0"/>
                <a:ea typeface="Calibri" pitchFamily="34" charset="-122"/>
                <a:cs typeface="Calibri" pitchFamily="34" charset="-120"/>
              </a:rPr>
              <a:t>DUSP2/DUSP8 upregulation at Day 2 indicates that the immune system is </a:t>
            </a:r>
            <a:pPr indent="0" marL="0">
              <a:buNone/>
            </a:pPr>
            <a:r>
              <a:rPr lang="en-US" sz="1050" b="1" dirty="0">
                <a:solidFill>
                  <a:srgbClr val="0D7377"/>
                </a:solidFill>
                <a:latin typeface="Calibri" pitchFamily="34" charset="0"/>
                <a:ea typeface="Calibri" pitchFamily="34" charset="-122"/>
                <a:cs typeface="Calibri" pitchFamily="34" charset="-120"/>
              </a:rPr>
              <a:t>actively suppressing inflammation</a:t>
            </a:r>
            <a:pPr indent="0" marL="0">
              <a:buNone/>
            </a:pPr>
            <a:r>
              <a:rPr lang="en-US" sz="1050" dirty="0">
                <a:solidFill>
                  <a:srgbClr val="1E293B"/>
                </a:solidFill>
                <a:latin typeface="Calibri" pitchFamily="34" charset="0"/>
                <a:ea typeface="Calibri" pitchFamily="34" charset="-122"/>
                <a:cs typeface="Calibri" pitchFamily="34" charset="-120"/>
              </a:rPr>
              <a:t> — transitioning from an alarm state to resolution.
</a:t>
            </a:r>
            <a:pPr indent="0" marL="0">
              <a:buNone/>
            </a:pPr>
            <a:r>
              <a:rPr lang="en-US" sz="1050" i="1" dirty="0">
                <a:solidFill>
                  <a:srgbClr val="64748B"/>
                </a:solidFill>
                <a:latin typeface="Calibri" pitchFamily="34" charset="0"/>
                <a:ea typeface="Calibri" pitchFamily="34" charset="-122"/>
                <a:cs typeface="Calibri" pitchFamily="34" charset="-120"/>
              </a:rPr>
              <a:t>This aligns with known post-stroke immunodepression syndrome (PIDS).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1368AA"/>
          </a:solidFill>
          <a:ln w="12700">
            <a:solidFill>
              <a:srgbClr val="1368AA"/>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RESULTS — TEMPORAL DYNAMICS: PERSISTENT vs TRANSIENT CHANGES</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12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200" b="1" dirty="0">
                <a:solidFill>
                  <a:srgbClr val="0B2545"/>
                </a:solidFill>
                <a:latin typeface="Calibri" pitchFamily="34" charset="0"/>
                <a:ea typeface="Calibri" pitchFamily="34" charset="-122"/>
                <a:cs typeface="Calibri" pitchFamily="34" charset="-120"/>
              </a:rPr>
              <a:t>DEG Overlap: What Persists from Day 1 to Day 2?</a:t>
            </a:r>
            <a:endParaRPr lang="en-US" sz="2200" dirty="0"/>
          </a:p>
        </p:txBody>
      </p:sp>
      <p:graphicFrame>
        <p:nvGraphicFramePr>
          <p:cNvPr id="8" name="Chart 0" descr=""/>
          <p:cNvGraphicFramePr/>
          <p:nvPr/>
        </p:nvGraphicFramePr>
        <p:xfrm>
          <a:off x="274320" y="1234440"/>
          <a:ext cx="5943600" cy="402336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400800" y="1298448"/>
            <a:ext cx="3474720" cy="2743200"/>
          </a:xfrm>
          <a:prstGeom prst="oval">
            <a:avLst/>
          </a:prstGeom>
          <a:solidFill>
            <a:srgbClr val="1368AA">
              <a:alpha val="30000"/>
            </a:srgbClr>
          </a:solidFill>
          <a:ln w="12700">
            <a:solidFill>
              <a:srgbClr val="1368AA"/>
            </a:solidFill>
            <a:prstDash val="solid"/>
          </a:ln>
        </p:spPr>
      </p:sp>
      <p:sp>
        <p:nvSpPr>
          <p:cNvPr id="10" name="Shape 7"/>
          <p:cNvSpPr/>
          <p:nvPr/>
        </p:nvSpPr>
        <p:spPr>
          <a:xfrm>
            <a:off x="8412480" y="1847088"/>
            <a:ext cx="3474720" cy="2743200"/>
          </a:xfrm>
          <a:prstGeom prst="oval">
            <a:avLst/>
          </a:prstGeom>
          <a:solidFill>
            <a:srgbClr val="C0392B">
              <a:alpha val="30000"/>
            </a:srgbClr>
          </a:solidFill>
          <a:ln w="12700">
            <a:solidFill>
              <a:srgbClr val="C0392B"/>
            </a:solidFill>
            <a:prstDash val="solid"/>
          </a:ln>
        </p:spPr>
      </p:sp>
      <p:sp>
        <p:nvSpPr>
          <p:cNvPr id="11" name="Text 8"/>
          <p:cNvSpPr/>
          <p:nvPr/>
        </p:nvSpPr>
        <p:spPr>
          <a:xfrm>
            <a:off x="6446520" y="2212848"/>
            <a:ext cx="1920240" cy="731520"/>
          </a:xfrm>
          <a:prstGeom prst="rect">
            <a:avLst/>
          </a:prstGeom>
          <a:noFill/>
          <a:ln/>
        </p:spPr>
        <p:txBody>
          <a:bodyPr wrap="square" lIns="0" tIns="0" rIns="0" bIns="0" rtlCol="0" anchor="ctr"/>
          <a:lstStyle/>
          <a:p>
            <a:pPr algn="ctr" indent="0" marL="0">
              <a:buNone/>
            </a:pPr>
            <a:r>
              <a:rPr lang="en-US" sz="1100" b="1" dirty="0">
                <a:solidFill>
                  <a:srgbClr val="1368AA"/>
                </a:solidFill>
                <a:latin typeface="Calibri" pitchFamily="34" charset="0"/>
                <a:ea typeface="Calibri" pitchFamily="34" charset="-122"/>
                <a:cs typeface="Calibri" pitchFamily="34" charset="-120"/>
              </a:rPr>
              <a:t>Day 1 Only</a:t>
            </a:r>
            <a:endParaRPr lang="en-US" sz="1100" dirty="0"/>
          </a:p>
          <a:p>
            <a:pPr algn="ctr" indent="0" marL="0">
              <a:buNone/>
            </a:pPr>
            <a:r>
              <a:rPr lang="en-US" sz="1100" b="1" dirty="0">
                <a:solidFill>
                  <a:srgbClr val="1368AA"/>
                </a:solidFill>
                <a:latin typeface="Calibri" pitchFamily="34" charset="0"/>
                <a:ea typeface="Calibri" pitchFamily="34" charset="-122"/>
                <a:cs typeface="Calibri" pitchFamily="34" charset="-120"/>
              </a:rPr>
              <a:t>8,539 genes</a:t>
            </a:r>
            <a:endParaRPr lang="en-US" sz="1100" dirty="0"/>
          </a:p>
        </p:txBody>
      </p:sp>
      <p:sp>
        <p:nvSpPr>
          <p:cNvPr id="12" name="Text 9"/>
          <p:cNvSpPr/>
          <p:nvPr/>
        </p:nvSpPr>
        <p:spPr>
          <a:xfrm>
            <a:off x="8321040" y="2670048"/>
            <a:ext cx="1828800" cy="64008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55</a:t>
            </a:r>
            <a:endParaRPr lang="en-US" sz="1300" dirty="0"/>
          </a:p>
          <a:p>
            <a:pPr algn="ctr" indent="0" marL="0">
              <a:buNone/>
            </a:pPr>
            <a:r>
              <a:rPr lang="en-US" sz="1300" b="1" dirty="0">
                <a:solidFill>
                  <a:srgbClr val="0B2545"/>
                </a:solidFill>
                <a:latin typeface="Calibri" pitchFamily="34" charset="0"/>
                <a:ea typeface="Calibri" pitchFamily="34" charset="-122"/>
                <a:cs typeface="Calibri" pitchFamily="34" charset="-120"/>
              </a:rPr>
              <a:t>Shared</a:t>
            </a:r>
            <a:endParaRPr lang="en-US" sz="1300" dirty="0"/>
          </a:p>
        </p:txBody>
      </p:sp>
      <p:sp>
        <p:nvSpPr>
          <p:cNvPr id="13" name="Text 10"/>
          <p:cNvSpPr/>
          <p:nvPr/>
        </p:nvSpPr>
        <p:spPr>
          <a:xfrm>
            <a:off x="9966960" y="2944368"/>
            <a:ext cx="1920240" cy="731520"/>
          </a:xfrm>
          <a:prstGeom prst="rect">
            <a:avLst/>
          </a:prstGeom>
          <a:noFill/>
          <a:ln/>
        </p:spPr>
        <p:txBody>
          <a:bodyPr wrap="square" lIns="0" tIns="0" rIns="0" bIns="0"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Day 2 Only</a:t>
            </a:r>
            <a:endParaRPr lang="en-US" sz="1100" dirty="0"/>
          </a:p>
          <a:p>
            <a:pPr algn="ctr" indent="0" marL="0">
              <a:buNone/>
            </a:pPr>
            <a:r>
              <a:rPr lang="en-US" sz="1100" b="1" dirty="0">
                <a:solidFill>
                  <a:srgbClr val="C0392B"/>
                </a:solidFill>
                <a:latin typeface="Calibri" pitchFamily="34" charset="0"/>
                <a:ea typeface="Calibri" pitchFamily="34" charset="-122"/>
                <a:cs typeface="Calibri" pitchFamily="34" charset="-120"/>
              </a:rPr>
              <a:t>5 genes</a:t>
            </a:r>
            <a:endParaRPr lang="en-US" sz="1100" dirty="0"/>
          </a:p>
        </p:txBody>
      </p:sp>
      <p:sp>
        <p:nvSpPr>
          <p:cNvPr id="14" name="Shape 11"/>
          <p:cNvSpPr/>
          <p:nvPr/>
        </p:nvSpPr>
        <p:spPr>
          <a:xfrm>
            <a:off x="6400800" y="4315968"/>
            <a:ext cx="5577840" cy="1828800"/>
          </a:xfrm>
          <a:prstGeom prst="rect">
            <a:avLst/>
          </a:prstGeom>
          <a:solidFill>
            <a:srgbClr val="FFFFFF"/>
          </a:solidFill>
          <a:ln w="12700">
            <a:solidFill>
              <a:srgbClr val="F2A900"/>
            </a:solidFill>
            <a:prstDash val="solid"/>
          </a:ln>
          <a:effectLst>
            <a:outerShdw sx="100000" sy="100000" kx="0" ky="0" algn="bl" rotWithShape="0" blurRad="101600" dist="38100" dir="8100000">
              <a:srgbClr val="000000">
                <a:alpha val="12000"/>
              </a:srgbClr>
            </a:outerShdw>
          </a:effectLst>
        </p:spPr>
      </p:sp>
      <p:sp>
        <p:nvSpPr>
          <p:cNvPr id="15" name="Shape 12"/>
          <p:cNvSpPr/>
          <p:nvPr/>
        </p:nvSpPr>
        <p:spPr>
          <a:xfrm>
            <a:off x="6400800" y="4315968"/>
            <a:ext cx="5577840" cy="347472"/>
          </a:xfrm>
          <a:prstGeom prst="rect">
            <a:avLst/>
          </a:prstGeom>
          <a:solidFill>
            <a:srgbClr val="F2A900"/>
          </a:solidFill>
          <a:ln w="12700">
            <a:solidFill>
              <a:srgbClr val="F2A900"/>
            </a:solidFill>
            <a:prstDash val="solid"/>
          </a:ln>
        </p:spPr>
      </p:sp>
      <p:sp>
        <p:nvSpPr>
          <p:cNvPr id="16" name="Text 13"/>
          <p:cNvSpPr/>
          <p:nvPr/>
        </p:nvSpPr>
        <p:spPr>
          <a:xfrm>
            <a:off x="6492240" y="4315968"/>
            <a:ext cx="5394960" cy="347472"/>
          </a:xfrm>
          <a:prstGeom prst="rect">
            <a:avLst/>
          </a:prstGeom>
          <a:noFill/>
          <a:ln/>
        </p:spPr>
        <p:txBody>
          <a:bodyPr wrap="square" lIns="0" tIns="0" rIns="0" bIns="0" rtlCol="0" anchor="ctr"/>
          <a:lstStyle/>
          <a:p>
            <a:pPr indent="0" marL="0">
              <a:buNone/>
            </a:pPr>
            <a:r>
              <a:rPr lang="en-US" sz="1100" b="1" dirty="0">
                <a:solidFill>
                  <a:srgbClr val="0B2545"/>
                </a:solidFill>
                <a:latin typeface="Calibri" pitchFamily="34" charset="0"/>
                <a:ea typeface="Calibri" pitchFamily="34" charset="-122"/>
                <a:cs typeface="Calibri" pitchFamily="34" charset="-120"/>
              </a:rPr>
              <a:t>💡  The 55 Persistent Genes — Clinical Significance</a:t>
            </a:r>
            <a:endParaRPr lang="en-US" sz="1100" dirty="0"/>
          </a:p>
        </p:txBody>
      </p:sp>
      <p:sp>
        <p:nvSpPr>
          <p:cNvPr id="17" name="Text 14"/>
          <p:cNvSpPr/>
          <p:nvPr/>
        </p:nvSpPr>
        <p:spPr>
          <a:xfrm>
            <a:off x="6492240" y="4718304"/>
            <a:ext cx="5394960" cy="1353312"/>
          </a:xfrm>
          <a:prstGeom prst="rect">
            <a:avLst/>
          </a:prstGeom>
          <a:noFill/>
          <a:ln/>
        </p:spPr>
        <p:txBody>
          <a:bodyPr wrap="square" lIns="0" tIns="0" rIns="0" bIns="0" rtlCol="0" anchor="t"/>
          <a:lstStyle/>
          <a:p>
            <a:pPr indent="0" marL="0">
              <a:buNone/>
            </a:pPr>
            <a:r>
              <a:rPr lang="en-US" sz="1050" b="1" dirty="0">
                <a:solidFill>
                  <a:srgbClr val="1E293B"/>
                </a:solidFill>
                <a:latin typeface="Calibri" pitchFamily="34" charset="0"/>
                <a:ea typeface="Calibri" pitchFamily="34" charset="-122"/>
                <a:cs typeface="Calibri" pitchFamily="34" charset="-120"/>
              </a:rPr>
              <a:t>Persistently altered at 48 hours → most biologically meaningful set
</a:t>
            </a:r>
            <a:pPr indent="0" marL="0">
              <a:buNone/>
            </a:pPr>
            <a:r>
              <a:rPr lang="en-US" sz="1050" dirty="0">
                <a:solidFill>
                  <a:srgbClr val="1E293B"/>
                </a:solidFill>
                <a:latin typeface="Calibri" pitchFamily="34" charset="0"/>
                <a:ea typeface="Calibri" pitchFamily="34" charset="-122"/>
                <a:cs typeface="Calibri" pitchFamily="34" charset="-120"/>
              </a:rPr>
              <a:t>• Candidate prognostic biomarkers for stroke severity
</a:t>
            </a:r>
            <a:pPr indent="0" marL="0">
              <a:buNone/>
            </a:pPr>
            <a:r>
              <a:rPr lang="en-US" sz="1050" dirty="0">
                <a:solidFill>
                  <a:srgbClr val="1E293B"/>
                </a:solidFill>
                <a:latin typeface="Calibri" pitchFamily="34" charset="0"/>
                <a:ea typeface="Calibri" pitchFamily="34" charset="-122"/>
                <a:cs typeface="Calibri" pitchFamily="34" charset="-120"/>
              </a:rPr>
              <a:t>• Potential therapeutic targets for post-stroke immune dysregulation
</a:t>
            </a:r>
            <a:pPr indent="0" marL="0">
              <a:buNone/>
            </a:pPr>
            <a:r>
              <a:rPr lang="en-US" sz="1050" dirty="0">
                <a:solidFill>
                  <a:srgbClr val="1E293B"/>
                </a:solidFill>
                <a:latin typeface="Calibri" pitchFamily="34" charset="0"/>
                <a:ea typeface="Calibri" pitchFamily="34" charset="-122"/>
                <a:cs typeface="Calibri" pitchFamily="34" charset="-120"/>
              </a:rPr>
              <a:t>• Core (not reactive) components of the stroke immune signature</a:t>
            </a:r>
            <a:endParaRPr lang="en-US" sz="1050" dirty="0"/>
          </a:p>
        </p:txBody>
      </p:sp>
      <p:sp>
        <p:nvSpPr>
          <p:cNvPr id="18" name="Shape 15"/>
          <p:cNvSpPr/>
          <p:nvPr/>
        </p:nvSpPr>
        <p:spPr>
          <a:xfrm>
            <a:off x="274320" y="5349240"/>
            <a:ext cx="5943600" cy="777240"/>
          </a:xfrm>
          <a:prstGeom prst="rect">
            <a:avLst/>
          </a:prstGeom>
          <a:solidFill>
            <a:srgbClr val="EFF6FF"/>
          </a:solidFill>
          <a:ln w="12700">
            <a:solidFill>
              <a:srgbClr val="1368AA"/>
            </a:solidFill>
            <a:prstDash val="solid"/>
          </a:ln>
        </p:spPr>
      </p:sp>
      <p:sp>
        <p:nvSpPr>
          <p:cNvPr id="19" name="Text 16"/>
          <p:cNvSpPr/>
          <p:nvPr/>
        </p:nvSpPr>
        <p:spPr>
          <a:xfrm>
            <a:off x="365760" y="5376672"/>
            <a:ext cx="5760720" cy="7315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The 143-fold reduction in DEGs (8,594 → 60) between Day 1 and Day 2 demonstrates that the acute transcriptomic response is largely transient, resolving within 24 hours — consistent with normal immunological homeostasis.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D7377"/>
          </a:solidFill>
          <a:ln w="12700">
            <a:solidFill>
              <a:srgbClr val="0D7377"/>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RESULTS — KEGG PATHWAY ENRICHMENT: ACUTE STROKE (DAY 1)</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13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200" b="1" dirty="0">
                <a:solidFill>
                  <a:srgbClr val="0B2545"/>
                </a:solidFill>
                <a:latin typeface="Calibri" pitchFamily="34" charset="0"/>
                <a:ea typeface="Calibri" pitchFamily="34" charset="-122"/>
                <a:cs typeface="Calibri" pitchFamily="34" charset="-120"/>
              </a:rPr>
              <a:t>12 Enriched KEGG Pathways  |  Four Major Biological Themes</a:t>
            </a:r>
            <a:endParaRPr lang="en-US" sz="2200" dirty="0"/>
          </a:p>
        </p:txBody>
      </p:sp>
      <p:pic>
        <p:nvPicPr>
          <p:cNvPr id="8" name="Image 0" descr="C:\Users\arpit\Desktop\Genomics_project\results\figures\kegg_dotplot_D1_vs_NC.png">    </p:cNvPr>
          <p:cNvPicPr>
            <a:picLocks noChangeAspect="1"/>
          </p:cNvPicPr>
          <p:nvPr/>
        </p:nvPicPr>
        <p:blipFill>
          <a:blip r:embed="rId1"/>
          <a:srcRect l="0" r="0" t="0" b="0"/>
          <a:stretch/>
        </p:blipFill>
        <p:spPr>
          <a:xfrm>
            <a:off x="274320" y="1234440"/>
            <a:ext cx="6400800" cy="4846320"/>
          </a:xfrm>
          <a:prstGeom prst="rect">
            <a:avLst/>
          </a:prstGeom>
        </p:spPr>
      </p:pic>
      <p:sp>
        <p:nvSpPr>
          <p:cNvPr id="9" name="Shape 6"/>
          <p:cNvSpPr/>
          <p:nvPr/>
        </p:nvSpPr>
        <p:spPr>
          <a:xfrm>
            <a:off x="6903720" y="1234440"/>
            <a:ext cx="5029200" cy="1097280"/>
          </a:xfrm>
          <a:prstGeom prst="rect">
            <a:avLst/>
          </a:prstGeom>
          <a:solidFill>
            <a:srgbClr val="FFFFFF"/>
          </a:solidFill>
          <a:ln w="12700">
            <a:solidFill>
              <a:srgbClr val="1368AA"/>
            </a:solidFill>
            <a:prstDash val="solid"/>
          </a:ln>
          <a:effectLst>
            <a:outerShdw sx="100000" sy="100000" kx="0" ky="0" algn="bl" rotWithShape="0" blurRad="101600" dist="38100" dir="8100000">
              <a:srgbClr val="000000">
                <a:alpha val="12000"/>
              </a:srgbClr>
            </a:outerShdw>
          </a:effectLst>
        </p:spPr>
      </p:sp>
      <p:sp>
        <p:nvSpPr>
          <p:cNvPr id="10" name="Shape 7"/>
          <p:cNvSpPr/>
          <p:nvPr/>
        </p:nvSpPr>
        <p:spPr>
          <a:xfrm>
            <a:off x="6903720" y="1234440"/>
            <a:ext cx="5029200" cy="320040"/>
          </a:xfrm>
          <a:prstGeom prst="rect">
            <a:avLst/>
          </a:prstGeom>
          <a:solidFill>
            <a:srgbClr val="1368AA"/>
          </a:solidFill>
          <a:ln w="12700">
            <a:solidFill>
              <a:srgbClr val="1368AA"/>
            </a:solidFill>
            <a:prstDash val="solid"/>
          </a:ln>
        </p:spPr>
      </p:sp>
      <p:sp>
        <p:nvSpPr>
          <p:cNvPr id="11" name="Text 8"/>
          <p:cNvSpPr/>
          <p:nvPr/>
        </p:nvSpPr>
        <p:spPr>
          <a:xfrm>
            <a:off x="6995160" y="1234440"/>
            <a:ext cx="48463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① Ribosomal Biogenesis</a:t>
            </a:r>
            <a:endParaRPr lang="en-US" sz="1100" dirty="0"/>
          </a:p>
        </p:txBody>
      </p:sp>
      <p:sp>
        <p:nvSpPr>
          <p:cNvPr id="12" name="Text 9"/>
          <p:cNvSpPr/>
          <p:nvPr/>
        </p:nvSpPr>
        <p:spPr>
          <a:xfrm>
            <a:off x="6995160" y="1581912"/>
            <a:ext cx="4846320" cy="68580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Ribosome (112 genes, p=5.7×10⁻²³)</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Immune cells ramp up protein synthesis to fuel the response</a:t>
            </a:r>
            <a:endParaRPr lang="en-US" sz="1000" dirty="0"/>
          </a:p>
        </p:txBody>
      </p:sp>
      <p:sp>
        <p:nvSpPr>
          <p:cNvPr id="13" name="Shape 10"/>
          <p:cNvSpPr/>
          <p:nvPr/>
        </p:nvSpPr>
        <p:spPr>
          <a:xfrm>
            <a:off x="6903720" y="2468880"/>
            <a:ext cx="5029200" cy="109728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14" name="Shape 11"/>
          <p:cNvSpPr/>
          <p:nvPr/>
        </p:nvSpPr>
        <p:spPr>
          <a:xfrm>
            <a:off x="6903720" y="2468880"/>
            <a:ext cx="5029200" cy="320040"/>
          </a:xfrm>
          <a:prstGeom prst="rect">
            <a:avLst/>
          </a:prstGeom>
          <a:solidFill>
            <a:srgbClr val="C0392B"/>
          </a:solidFill>
          <a:ln w="12700">
            <a:solidFill>
              <a:srgbClr val="C0392B"/>
            </a:solidFill>
            <a:prstDash val="solid"/>
          </a:ln>
        </p:spPr>
      </p:sp>
      <p:sp>
        <p:nvSpPr>
          <p:cNvPr id="15" name="Text 12"/>
          <p:cNvSpPr/>
          <p:nvPr/>
        </p:nvSpPr>
        <p:spPr>
          <a:xfrm>
            <a:off x="6995160" y="2468880"/>
            <a:ext cx="48463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② Immunothrombosis</a:t>
            </a:r>
            <a:endParaRPr lang="en-US" sz="1100" dirty="0"/>
          </a:p>
        </p:txBody>
      </p:sp>
      <p:sp>
        <p:nvSpPr>
          <p:cNvPr id="16" name="Text 13"/>
          <p:cNvSpPr/>
          <p:nvPr/>
        </p:nvSpPr>
        <p:spPr>
          <a:xfrm>
            <a:off x="6995160" y="2816352"/>
            <a:ext cx="4846320" cy="68580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Neutrophil extracellular traps (82 genes, p=1.0×10⁻⁵)</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Histones + ELANE → NETs promote clotting &amp; brain damage</a:t>
            </a:r>
            <a:endParaRPr lang="en-US" sz="1000" dirty="0"/>
          </a:p>
        </p:txBody>
      </p:sp>
      <p:sp>
        <p:nvSpPr>
          <p:cNvPr id="17" name="Shape 14"/>
          <p:cNvSpPr/>
          <p:nvPr/>
        </p:nvSpPr>
        <p:spPr>
          <a:xfrm>
            <a:off x="6903720" y="3703320"/>
            <a:ext cx="5029200" cy="1097280"/>
          </a:xfrm>
          <a:prstGeom prst="rect">
            <a:avLst/>
          </a:prstGeom>
          <a:solidFill>
            <a:srgbClr val="FFFFFF"/>
          </a:solidFill>
          <a:ln w="12700">
            <a:solidFill>
              <a:srgbClr val="0D7377"/>
            </a:solidFill>
            <a:prstDash val="solid"/>
          </a:ln>
          <a:effectLst>
            <a:outerShdw sx="100000" sy="100000" kx="0" ky="0" algn="bl" rotWithShape="0" blurRad="101600" dist="38100" dir="8100000">
              <a:srgbClr val="000000">
                <a:alpha val="12000"/>
              </a:srgbClr>
            </a:outerShdw>
          </a:effectLst>
        </p:spPr>
      </p:sp>
      <p:sp>
        <p:nvSpPr>
          <p:cNvPr id="18" name="Shape 15"/>
          <p:cNvSpPr/>
          <p:nvPr/>
        </p:nvSpPr>
        <p:spPr>
          <a:xfrm>
            <a:off x="6903720" y="3703320"/>
            <a:ext cx="5029200" cy="320040"/>
          </a:xfrm>
          <a:prstGeom prst="rect">
            <a:avLst/>
          </a:prstGeom>
          <a:solidFill>
            <a:srgbClr val="0D7377"/>
          </a:solidFill>
          <a:ln w="12700">
            <a:solidFill>
              <a:srgbClr val="0D7377"/>
            </a:solidFill>
            <a:prstDash val="solid"/>
          </a:ln>
        </p:spPr>
      </p:sp>
      <p:sp>
        <p:nvSpPr>
          <p:cNvPr id="19" name="Text 16"/>
          <p:cNvSpPr/>
          <p:nvPr/>
        </p:nvSpPr>
        <p:spPr>
          <a:xfrm>
            <a:off x="6995160" y="3703320"/>
            <a:ext cx="48463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③ Metabolic Reprogramming</a:t>
            </a:r>
            <a:endParaRPr lang="en-US" sz="1100" dirty="0"/>
          </a:p>
        </p:txBody>
      </p:sp>
      <p:sp>
        <p:nvSpPr>
          <p:cNvPr id="20" name="Text 17"/>
          <p:cNvSpPr/>
          <p:nvPr/>
        </p:nvSpPr>
        <p:spPr>
          <a:xfrm>
            <a:off x="6995160" y="4050792"/>
            <a:ext cx="4846320" cy="68580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Oxidative phosphorylation (49 genes, p=1.4×10⁻²)</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Mitochondrial upregulation to power immune activation</a:t>
            </a:r>
            <a:endParaRPr lang="en-US" sz="1000" dirty="0"/>
          </a:p>
        </p:txBody>
      </p:sp>
      <p:sp>
        <p:nvSpPr>
          <p:cNvPr id="21" name="Shape 18"/>
          <p:cNvSpPr/>
          <p:nvPr/>
        </p:nvSpPr>
        <p:spPr>
          <a:xfrm>
            <a:off x="6903720" y="4937760"/>
            <a:ext cx="5029200" cy="1097280"/>
          </a:xfrm>
          <a:prstGeom prst="rect">
            <a:avLst/>
          </a:prstGeom>
          <a:solidFill>
            <a:srgbClr val="FFFFFF"/>
          </a:solidFill>
          <a:ln w="12700">
            <a:solidFill>
              <a:srgbClr val="F2A900"/>
            </a:solidFill>
            <a:prstDash val="solid"/>
          </a:ln>
          <a:effectLst>
            <a:outerShdw sx="100000" sy="100000" kx="0" ky="0" algn="bl" rotWithShape="0" blurRad="101600" dist="38100" dir="8100000">
              <a:srgbClr val="000000">
                <a:alpha val="12000"/>
              </a:srgbClr>
            </a:outerShdw>
          </a:effectLst>
        </p:spPr>
      </p:sp>
      <p:sp>
        <p:nvSpPr>
          <p:cNvPr id="22" name="Shape 19"/>
          <p:cNvSpPr/>
          <p:nvPr/>
        </p:nvSpPr>
        <p:spPr>
          <a:xfrm>
            <a:off x="6903720" y="4937760"/>
            <a:ext cx="5029200" cy="320040"/>
          </a:xfrm>
          <a:prstGeom prst="rect">
            <a:avLst/>
          </a:prstGeom>
          <a:solidFill>
            <a:srgbClr val="F2A900"/>
          </a:solidFill>
          <a:ln w="12700">
            <a:solidFill>
              <a:srgbClr val="F2A900"/>
            </a:solidFill>
            <a:prstDash val="solid"/>
          </a:ln>
        </p:spPr>
      </p:sp>
      <p:sp>
        <p:nvSpPr>
          <p:cNvPr id="23" name="Text 20"/>
          <p:cNvSpPr/>
          <p:nvPr/>
        </p:nvSpPr>
        <p:spPr>
          <a:xfrm>
            <a:off x="6995160" y="4937760"/>
            <a:ext cx="48463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④ Chromatin Remodeling</a:t>
            </a:r>
            <a:endParaRPr lang="en-US" sz="1100" dirty="0"/>
          </a:p>
        </p:txBody>
      </p:sp>
      <p:sp>
        <p:nvSpPr>
          <p:cNvPr id="24" name="Text 21"/>
          <p:cNvSpPr/>
          <p:nvPr/>
        </p:nvSpPr>
        <p:spPr>
          <a:xfrm>
            <a:off x="6995160" y="5285232"/>
            <a:ext cx="4846320" cy="685800"/>
          </a:xfrm>
          <a:prstGeom prst="rect">
            <a:avLst/>
          </a:prstGeom>
          <a:noFill/>
          <a:ln/>
        </p:spPr>
        <p:txBody>
          <a:bodyPr wrap="square" lIns="0" tIns="0" rIns="0" bIns="0" rtlCol="0" anchor="t"/>
          <a:lstStyle/>
          <a:p>
            <a:pPr indent="0" marL="0">
              <a:buNone/>
            </a:pPr>
            <a:r>
              <a:rPr lang="en-US" sz="1000" dirty="0">
                <a:solidFill>
                  <a:srgbClr val="1E293B"/>
                </a:solidFill>
                <a:latin typeface="Calibri" pitchFamily="34" charset="0"/>
                <a:ea typeface="Calibri" pitchFamily="34" charset="-122"/>
                <a:cs typeface="Calibri" pitchFamily="34" charset="-120"/>
              </a:rPr>
              <a:t>Systemic lupus (79 genes) + Alcoholism (83 genes)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 Histone gene clusters H2A/H2B/H3/H4 upregulated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D7377"/>
          </a:solidFill>
          <a:ln w="12700">
            <a:solidFill>
              <a:srgbClr val="0D7377"/>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RESULTS — GO ENRICHMENT: ACUTE STROKE (DAY 1)</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14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200" b="1" dirty="0">
                <a:solidFill>
                  <a:srgbClr val="0B2545"/>
                </a:solidFill>
                <a:latin typeface="Calibri" pitchFamily="34" charset="0"/>
                <a:ea typeface="Calibri" pitchFamily="34" charset="-122"/>
                <a:cs typeface="Calibri" pitchFamily="34" charset="-120"/>
              </a:rPr>
              <a:t>63 Enriched GO Terms  |  Antimicrobial Immune Response Dominant</a:t>
            </a:r>
            <a:endParaRPr lang="en-US" sz="2200" dirty="0"/>
          </a:p>
        </p:txBody>
      </p:sp>
      <p:pic>
        <p:nvPicPr>
          <p:cNvPr id="8" name="Image 0" descr="C:\Users\arpit\Desktop\Genomics_project\results\figures\go_dotplot_D1_vs_NC.png">    </p:cNvPr>
          <p:cNvPicPr>
            <a:picLocks noChangeAspect="1"/>
          </p:cNvPicPr>
          <p:nvPr/>
        </p:nvPicPr>
        <p:blipFill>
          <a:blip r:embed="rId1"/>
          <a:srcRect l="0" r="0" t="0" b="0"/>
          <a:stretch/>
        </p:blipFill>
        <p:spPr>
          <a:xfrm>
            <a:off x="274320" y="1234440"/>
            <a:ext cx="6858000" cy="4846320"/>
          </a:xfrm>
          <a:prstGeom prst="rect">
            <a:avLst/>
          </a:prstGeom>
        </p:spPr>
      </p:pic>
      <p:sp>
        <p:nvSpPr>
          <p:cNvPr id="9" name="Shape 6"/>
          <p:cNvSpPr/>
          <p:nvPr/>
        </p:nvSpPr>
        <p:spPr>
          <a:xfrm>
            <a:off x="7360920" y="1234440"/>
            <a:ext cx="4572000" cy="150876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0" name="Shape 7"/>
          <p:cNvSpPr/>
          <p:nvPr/>
        </p:nvSpPr>
        <p:spPr>
          <a:xfrm>
            <a:off x="7360920" y="1234440"/>
            <a:ext cx="4572000" cy="301752"/>
          </a:xfrm>
          <a:prstGeom prst="rect">
            <a:avLst/>
          </a:prstGeom>
          <a:solidFill>
            <a:srgbClr val="0D7377"/>
          </a:solidFill>
          <a:ln w="12700">
            <a:solidFill>
              <a:srgbClr val="0D7377"/>
            </a:solidFill>
            <a:prstDash val="solid"/>
          </a:ln>
        </p:spPr>
      </p:sp>
      <p:sp>
        <p:nvSpPr>
          <p:cNvPr id="11" name="Text 8"/>
          <p:cNvSpPr/>
          <p:nvPr/>
        </p:nvSpPr>
        <p:spPr>
          <a:xfrm>
            <a:off x="7452360" y="1234440"/>
            <a:ext cx="448056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GO Enrichment Design</a:t>
            </a:r>
            <a:endParaRPr lang="en-US" sz="1100" dirty="0"/>
          </a:p>
        </p:txBody>
      </p:sp>
      <p:sp>
        <p:nvSpPr>
          <p:cNvPr id="12" name="Text 9"/>
          <p:cNvSpPr/>
          <p:nvPr/>
        </p:nvSpPr>
        <p:spPr>
          <a:xfrm>
            <a:off x="7498080" y="1581912"/>
            <a:ext cx="4343400" cy="109728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Three ontologies tested independently:</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BP (Biological Process) — what the genes do</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MF (Molecular Function) — their biochemical role</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CC (Cellular Component) — where they act</a:t>
            </a:r>
            <a:endParaRPr lang="en-US" sz="1050" dirty="0"/>
          </a:p>
        </p:txBody>
      </p:sp>
      <p:sp>
        <p:nvSpPr>
          <p:cNvPr id="13" name="Shape 10"/>
          <p:cNvSpPr/>
          <p:nvPr/>
        </p:nvSpPr>
        <p:spPr>
          <a:xfrm>
            <a:off x="7360920" y="2852928"/>
            <a:ext cx="4572000" cy="150876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4" name="Shape 11"/>
          <p:cNvSpPr/>
          <p:nvPr/>
        </p:nvSpPr>
        <p:spPr>
          <a:xfrm>
            <a:off x="7360920" y="2852928"/>
            <a:ext cx="4572000" cy="301752"/>
          </a:xfrm>
          <a:prstGeom prst="rect">
            <a:avLst/>
          </a:prstGeom>
          <a:solidFill>
            <a:srgbClr val="1368AA"/>
          </a:solidFill>
          <a:ln w="12700">
            <a:solidFill>
              <a:srgbClr val="1368AA"/>
            </a:solidFill>
            <a:prstDash val="solid"/>
          </a:ln>
        </p:spPr>
      </p:sp>
      <p:sp>
        <p:nvSpPr>
          <p:cNvPr id="15" name="Text 12"/>
          <p:cNvSpPr/>
          <p:nvPr/>
        </p:nvSpPr>
        <p:spPr>
          <a:xfrm>
            <a:off x="7452360" y="2852928"/>
            <a:ext cx="448056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Top GO-BP Hits</a:t>
            </a:r>
            <a:endParaRPr lang="en-US" sz="1100" dirty="0"/>
          </a:p>
        </p:txBody>
      </p:sp>
      <p:sp>
        <p:nvSpPr>
          <p:cNvPr id="16" name="Text 13"/>
          <p:cNvSpPr/>
          <p:nvPr/>
        </p:nvSpPr>
        <p:spPr>
          <a:xfrm>
            <a:off x="7498080" y="3200400"/>
            <a:ext cx="4343400" cy="109728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 Antimicrobial humoral immune response (p=5.4×10⁻⁵)</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Neutrophil activation (CXCL5, CXCL9, CXCL10)</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Defense response to bacterium</a:t>
            </a:r>
            <a:endParaRPr lang="en-US" sz="1050" dirty="0"/>
          </a:p>
          <a:p>
            <a:pPr indent="0" marL="0">
              <a:buNone/>
            </a:pPr>
            <a:r>
              <a:rPr lang="en-US" sz="1050" dirty="0">
                <a:solidFill>
                  <a:srgbClr val="1E293B"/>
                </a:solidFill>
                <a:latin typeface="Calibri" pitchFamily="34" charset="0"/>
                <a:ea typeface="Calibri" pitchFamily="34" charset="-122"/>
                <a:cs typeface="Calibri" pitchFamily="34" charset="-120"/>
              </a:rPr>
              <a:t>• Cytokine-mediated signaling pathway</a:t>
            </a:r>
            <a:endParaRPr lang="en-US" sz="1050" dirty="0"/>
          </a:p>
        </p:txBody>
      </p:sp>
      <p:sp>
        <p:nvSpPr>
          <p:cNvPr id="17" name="Shape 14"/>
          <p:cNvSpPr/>
          <p:nvPr/>
        </p:nvSpPr>
        <p:spPr>
          <a:xfrm>
            <a:off x="7360920" y="4480560"/>
            <a:ext cx="4572000" cy="16002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8" name="Shape 15"/>
          <p:cNvSpPr/>
          <p:nvPr/>
        </p:nvSpPr>
        <p:spPr>
          <a:xfrm>
            <a:off x="7360920" y="4480560"/>
            <a:ext cx="4572000" cy="301752"/>
          </a:xfrm>
          <a:prstGeom prst="rect">
            <a:avLst/>
          </a:prstGeom>
          <a:solidFill>
            <a:srgbClr val="1368AA"/>
          </a:solidFill>
          <a:ln w="12700">
            <a:solidFill>
              <a:srgbClr val="1368AA"/>
            </a:solidFill>
            <a:prstDash val="solid"/>
          </a:ln>
        </p:spPr>
      </p:sp>
      <p:sp>
        <p:nvSpPr>
          <p:cNvPr id="19" name="Text 16"/>
          <p:cNvSpPr/>
          <p:nvPr/>
        </p:nvSpPr>
        <p:spPr>
          <a:xfrm>
            <a:off x="7452360" y="4480560"/>
            <a:ext cx="448056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Effector Genes</a:t>
            </a:r>
            <a:endParaRPr lang="en-US" sz="1100" dirty="0"/>
          </a:p>
        </p:txBody>
      </p:sp>
      <p:sp>
        <p:nvSpPr>
          <p:cNvPr id="20" name="Text 17"/>
          <p:cNvSpPr/>
          <p:nvPr/>
        </p:nvSpPr>
        <p:spPr>
          <a:xfrm>
            <a:off x="7498080" y="4828032"/>
            <a:ext cx="4343400" cy="1188720"/>
          </a:xfrm>
          <a:prstGeom prst="rect">
            <a:avLst/>
          </a:prstGeom>
          <a:noFill/>
          <a:ln/>
        </p:spPr>
        <p:txBody>
          <a:bodyPr wrap="square" lIns="0" tIns="0" rIns="0" bIns="0" rtlCol="0" anchor="t"/>
          <a:lstStyle/>
          <a:p>
            <a:pPr indent="0" marL="0">
              <a:buNone/>
            </a:pPr>
            <a:r>
              <a:rPr lang="en-US" sz="1050" b="1" dirty="0">
                <a:solidFill>
                  <a:srgbClr val="00A878"/>
                </a:solidFill>
                <a:latin typeface="Calibri" pitchFamily="34" charset="0"/>
                <a:ea typeface="Calibri" pitchFamily="34" charset="-122"/>
                <a:cs typeface="Calibri" pitchFamily="34" charset="-120"/>
              </a:rPr>
              <a:t>ELANE</a:t>
            </a:r>
            <a:pPr indent="0" marL="0">
              <a:buNone/>
            </a:pPr>
            <a:r>
              <a:rPr lang="en-US" sz="1050" dirty="0">
                <a:solidFill>
                  <a:srgbClr val="1E293B"/>
                </a:solidFill>
                <a:latin typeface="Calibri" pitchFamily="34" charset="0"/>
                <a:ea typeface="Calibri" pitchFamily="34" charset="-122"/>
                <a:cs typeface="Calibri" pitchFamily="34" charset="-120"/>
              </a:rPr>
              <a:t> — neutrophil elastase (NET)
</a:t>
            </a:r>
            <a:pPr indent="0" marL="0">
              <a:buNone/>
            </a:pPr>
            <a:r>
              <a:rPr lang="en-US" sz="1050" b="1" dirty="0">
                <a:solidFill>
                  <a:srgbClr val="00A878"/>
                </a:solidFill>
                <a:latin typeface="Calibri" pitchFamily="34" charset="0"/>
                <a:ea typeface="Calibri" pitchFamily="34" charset="-122"/>
                <a:cs typeface="Calibri" pitchFamily="34" charset="-120"/>
              </a:rPr>
              <a:t>S100A12</a:t>
            </a:r>
            <a:pPr indent="0" marL="0">
              <a:buNone/>
            </a:pPr>
            <a:r>
              <a:rPr lang="en-US" sz="1050" dirty="0">
                <a:solidFill>
                  <a:srgbClr val="1E293B"/>
                </a:solidFill>
                <a:latin typeface="Calibri" pitchFamily="34" charset="0"/>
                <a:ea typeface="Calibri" pitchFamily="34" charset="-122"/>
                <a:cs typeface="Calibri" pitchFamily="34" charset="-120"/>
              </a:rPr>
              <a:t> — alarmin, monocyte/neutrophil activation
</a:t>
            </a:r>
            <a:pPr indent="0" marL="0">
              <a:buNone/>
            </a:pPr>
            <a:r>
              <a:rPr lang="en-US" sz="1050" b="1" dirty="0">
                <a:solidFill>
                  <a:srgbClr val="00A878"/>
                </a:solidFill>
                <a:latin typeface="Calibri" pitchFamily="34" charset="0"/>
                <a:ea typeface="Calibri" pitchFamily="34" charset="-122"/>
                <a:cs typeface="Calibri" pitchFamily="34" charset="-120"/>
              </a:rPr>
              <a:t>CXCL9/CXCL10</a:t>
            </a:r>
            <a:pPr indent="0" marL="0">
              <a:buNone/>
            </a:pPr>
            <a:r>
              <a:rPr lang="en-US" sz="1050" dirty="0">
                <a:solidFill>
                  <a:srgbClr val="1E293B"/>
                </a:solidFill>
                <a:latin typeface="Calibri" pitchFamily="34" charset="0"/>
                <a:ea typeface="Calibri" pitchFamily="34" charset="-122"/>
                <a:cs typeface="Calibri" pitchFamily="34" charset="-120"/>
              </a:rPr>
              <a:t> — chemokine recruitment signals
</a:t>
            </a:r>
            <a:pPr indent="0" marL="0">
              <a:buNone/>
            </a:pPr>
            <a:r>
              <a:rPr lang="en-US" sz="1050" b="1" dirty="0">
                <a:solidFill>
                  <a:srgbClr val="C0392B"/>
                </a:solidFill>
                <a:latin typeface="Calibri" pitchFamily="34" charset="0"/>
                <a:ea typeface="Calibri" pitchFamily="34" charset="-122"/>
                <a:cs typeface="Calibri" pitchFamily="34" charset="-120"/>
              </a:rPr>
              <a:t>PPBP/CXCL7</a:t>
            </a:r>
            <a:pPr indent="0" marL="0">
              <a:buNone/>
            </a:pPr>
            <a:r>
              <a:rPr lang="en-US" sz="1050" dirty="0">
                <a:solidFill>
                  <a:srgbClr val="1E293B"/>
                </a:solidFill>
                <a:latin typeface="Calibri" pitchFamily="34" charset="0"/>
                <a:ea typeface="Calibri" pitchFamily="34" charset="-122"/>
                <a:cs typeface="Calibri" pitchFamily="34" charset="-120"/>
              </a:rPr>
              <a:t> — platelet chemokine (downregulated)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C0392B"/>
          </a:solidFill>
          <a:ln w="12700">
            <a:solidFill>
              <a:srgbClr val="C0392B"/>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BIOLOGICAL DEEP DIVE — NEUTROPHIL EXTRACELLULAR TRAPS (NETs)</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15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100" b="1" dirty="0">
                <a:solidFill>
                  <a:srgbClr val="0B2545"/>
                </a:solidFill>
                <a:latin typeface="Calibri" pitchFamily="34" charset="0"/>
                <a:ea typeface="Calibri" pitchFamily="34" charset="-122"/>
                <a:cs typeface="Calibri" pitchFamily="34" charset="-120"/>
              </a:rPr>
              <a:t>NETs: The Critical Mechanistic Link Between Stroke &amp; Thrombosis</a:t>
            </a:r>
            <a:endParaRPr lang="en-US" sz="2100" dirty="0"/>
          </a:p>
        </p:txBody>
      </p:sp>
      <p:sp>
        <p:nvSpPr>
          <p:cNvPr id="8" name="Shape 6"/>
          <p:cNvSpPr/>
          <p:nvPr/>
        </p:nvSpPr>
        <p:spPr>
          <a:xfrm>
            <a:off x="274320" y="1280160"/>
            <a:ext cx="2697480" cy="1508760"/>
          </a:xfrm>
          <a:prstGeom prst="rect">
            <a:avLst/>
          </a:prstGeom>
          <a:solidFill>
            <a:srgbClr val="0B2545"/>
          </a:solidFill>
          <a:ln w="12700">
            <a:solidFill>
              <a:srgbClr val="0B2545"/>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274320" y="1280160"/>
            <a:ext cx="26974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Stroke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Onset</a:t>
            </a:r>
            <a:endParaRPr lang="en-US" sz="1300" dirty="0"/>
          </a:p>
        </p:txBody>
      </p:sp>
      <p:sp>
        <p:nvSpPr>
          <p:cNvPr id="10" name="Text 8"/>
          <p:cNvSpPr/>
          <p:nvPr/>
        </p:nvSpPr>
        <p:spPr>
          <a:xfrm>
            <a:off x="274320" y="1828800"/>
            <a:ext cx="2697480" cy="89611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Ischemia → DAMPs released</a:t>
            </a:r>
            <a:endParaRPr lang="en-US" sz="1000" dirty="0"/>
          </a:p>
        </p:txBody>
      </p:sp>
      <p:sp>
        <p:nvSpPr>
          <p:cNvPr id="11" name="Shape 9"/>
          <p:cNvSpPr/>
          <p:nvPr/>
        </p:nvSpPr>
        <p:spPr>
          <a:xfrm>
            <a:off x="2971800" y="1938528"/>
            <a:ext cx="274320" cy="91440"/>
          </a:xfrm>
          <a:prstGeom prst="rect">
            <a:avLst/>
          </a:prstGeom>
          <a:solidFill>
            <a:srgbClr val="CBD5E1"/>
          </a:solidFill>
          <a:ln w="12700">
            <a:solidFill>
              <a:srgbClr val="CBD5E1"/>
            </a:solidFill>
            <a:prstDash val="solid"/>
          </a:ln>
        </p:spPr>
      </p:sp>
      <p:sp>
        <p:nvSpPr>
          <p:cNvPr id="12" name="Shape 10"/>
          <p:cNvSpPr/>
          <p:nvPr/>
        </p:nvSpPr>
        <p:spPr>
          <a:xfrm>
            <a:off x="3246120" y="1280160"/>
            <a:ext cx="2697480" cy="1508760"/>
          </a:xfrm>
          <a:prstGeom prst="rect">
            <a:avLst/>
          </a:prstGeom>
          <a:solidFill>
            <a:srgbClr val="6A5ACD"/>
          </a:solidFill>
          <a:ln w="12700">
            <a:solidFill>
              <a:srgbClr val="6A5ACD"/>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3246120" y="1280160"/>
            <a:ext cx="26974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Neutrophil</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Activation</a:t>
            </a:r>
            <a:endParaRPr lang="en-US" sz="1300" dirty="0"/>
          </a:p>
        </p:txBody>
      </p:sp>
      <p:sp>
        <p:nvSpPr>
          <p:cNvPr id="14" name="Text 12"/>
          <p:cNvSpPr/>
          <p:nvPr/>
        </p:nvSpPr>
        <p:spPr>
          <a:xfrm>
            <a:off x="3246120" y="1828800"/>
            <a:ext cx="2697480" cy="89611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Mobilized from bone marrow → blood</a:t>
            </a:r>
            <a:endParaRPr lang="en-US" sz="1000" dirty="0"/>
          </a:p>
        </p:txBody>
      </p:sp>
      <p:sp>
        <p:nvSpPr>
          <p:cNvPr id="15" name="Shape 13"/>
          <p:cNvSpPr/>
          <p:nvPr/>
        </p:nvSpPr>
        <p:spPr>
          <a:xfrm>
            <a:off x="5943600" y="1938528"/>
            <a:ext cx="274320" cy="91440"/>
          </a:xfrm>
          <a:prstGeom prst="rect">
            <a:avLst/>
          </a:prstGeom>
          <a:solidFill>
            <a:srgbClr val="CBD5E1"/>
          </a:solidFill>
          <a:ln w="12700">
            <a:solidFill>
              <a:srgbClr val="CBD5E1"/>
            </a:solidFill>
            <a:prstDash val="solid"/>
          </a:ln>
        </p:spPr>
      </p:sp>
      <p:sp>
        <p:nvSpPr>
          <p:cNvPr id="16" name="Shape 14"/>
          <p:cNvSpPr/>
          <p:nvPr/>
        </p:nvSpPr>
        <p:spPr>
          <a:xfrm>
            <a:off x="6217920" y="1280160"/>
            <a:ext cx="2697480" cy="1508760"/>
          </a:xfrm>
          <a:prstGeom prst="rect">
            <a:avLst/>
          </a:prstGeom>
          <a:solidFill>
            <a:srgbClr val="C0392B"/>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6217920" y="1280160"/>
            <a:ext cx="26974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Formation</a:t>
            </a:r>
            <a:endParaRPr lang="en-US" sz="1300" dirty="0"/>
          </a:p>
        </p:txBody>
      </p:sp>
      <p:sp>
        <p:nvSpPr>
          <p:cNvPr id="18" name="Text 16"/>
          <p:cNvSpPr/>
          <p:nvPr/>
        </p:nvSpPr>
        <p:spPr>
          <a:xfrm>
            <a:off x="6217920" y="1828800"/>
            <a:ext cx="2697480" cy="89611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Chromatin decondenses:</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H2A/H2B/H3/H4 + ELANE</a:t>
            </a:r>
            <a:endParaRPr lang="en-US" sz="1000" dirty="0"/>
          </a:p>
        </p:txBody>
      </p:sp>
      <p:sp>
        <p:nvSpPr>
          <p:cNvPr id="19" name="Shape 17"/>
          <p:cNvSpPr/>
          <p:nvPr/>
        </p:nvSpPr>
        <p:spPr>
          <a:xfrm>
            <a:off x="8915400" y="1938528"/>
            <a:ext cx="274320" cy="91440"/>
          </a:xfrm>
          <a:prstGeom prst="rect">
            <a:avLst/>
          </a:prstGeom>
          <a:solidFill>
            <a:srgbClr val="CBD5E1"/>
          </a:solidFill>
          <a:ln w="12700">
            <a:solidFill>
              <a:srgbClr val="CBD5E1"/>
            </a:solidFill>
            <a:prstDash val="solid"/>
          </a:ln>
        </p:spPr>
      </p:sp>
      <p:sp>
        <p:nvSpPr>
          <p:cNvPr id="20" name="Shape 18"/>
          <p:cNvSpPr/>
          <p:nvPr/>
        </p:nvSpPr>
        <p:spPr>
          <a:xfrm>
            <a:off x="9189720" y="1280160"/>
            <a:ext cx="2697480" cy="1508760"/>
          </a:xfrm>
          <a:prstGeom prst="rect">
            <a:avLst/>
          </a:prstGeom>
          <a:solidFill>
            <a:srgbClr val="8B0000"/>
          </a:solidFill>
          <a:ln w="12700">
            <a:solidFill>
              <a:srgbClr val="8B0000"/>
            </a:solidFill>
            <a:prstDash val="solid"/>
          </a:ln>
          <a:effectLst>
            <a:outerShdw sx="100000" sy="100000" kx="0" ky="0" algn="bl" rotWithShape="0" blurRad="101600" dist="38100" dir="8100000">
              <a:srgbClr val="000000">
                <a:alpha val="12000"/>
              </a:srgbClr>
            </a:outerShdw>
          </a:effectLst>
        </p:spPr>
      </p:sp>
      <p:sp>
        <p:nvSpPr>
          <p:cNvPr id="21" name="Text 19"/>
          <p:cNvSpPr/>
          <p:nvPr/>
        </p:nvSpPr>
        <p:spPr>
          <a:xfrm>
            <a:off x="9189720" y="1280160"/>
            <a:ext cx="26974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Vascular</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Damage</a:t>
            </a:r>
            <a:endParaRPr lang="en-US" sz="1300" dirty="0"/>
          </a:p>
        </p:txBody>
      </p:sp>
      <p:sp>
        <p:nvSpPr>
          <p:cNvPr id="22" name="Text 20"/>
          <p:cNvSpPr/>
          <p:nvPr/>
        </p:nvSpPr>
        <p:spPr>
          <a:xfrm>
            <a:off x="9189720" y="1828800"/>
            <a:ext cx="2697480" cy="89611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NETs → promote thrombosis, damage BBB</a:t>
            </a:r>
            <a:endParaRPr lang="en-US" sz="1000" dirty="0"/>
          </a:p>
        </p:txBody>
      </p:sp>
      <p:sp>
        <p:nvSpPr>
          <p:cNvPr id="23" name="Shape 21"/>
          <p:cNvSpPr/>
          <p:nvPr/>
        </p:nvSpPr>
        <p:spPr>
          <a:xfrm>
            <a:off x="274320" y="2971800"/>
            <a:ext cx="5486400" cy="310896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274320" y="2971800"/>
            <a:ext cx="5486400" cy="301752"/>
          </a:xfrm>
          <a:prstGeom prst="rect">
            <a:avLst/>
          </a:prstGeom>
          <a:solidFill>
            <a:srgbClr val="1368AA"/>
          </a:solidFill>
          <a:ln w="12700">
            <a:solidFill>
              <a:srgbClr val="1368AA"/>
            </a:solidFill>
            <a:prstDash val="solid"/>
          </a:ln>
        </p:spPr>
      </p:sp>
      <p:sp>
        <p:nvSpPr>
          <p:cNvPr id="25" name="Text 23"/>
          <p:cNvSpPr/>
          <p:nvPr/>
        </p:nvSpPr>
        <p:spPr>
          <a:xfrm>
            <a:off x="365760" y="2971800"/>
            <a:ext cx="539496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Evidence From Our Data</a:t>
            </a:r>
            <a:endParaRPr lang="en-US" sz="1100" dirty="0"/>
          </a:p>
        </p:txBody>
      </p:sp>
      <p:sp>
        <p:nvSpPr>
          <p:cNvPr id="26" name="Text 24"/>
          <p:cNvSpPr/>
          <p:nvPr/>
        </p:nvSpPr>
        <p:spPr>
          <a:xfrm>
            <a:off x="411480" y="3319272"/>
            <a:ext cx="5257800" cy="269748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Genes enriched in NET formation pathway:
</a:t>
            </a:r>
            <a:pPr indent="0" marL="0">
              <a:buNone/>
            </a:pPr>
            <a:r>
              <a:rPr lang="en-US" sz="1050" b="1" dirty="0">
                <a:solidFill>
                  <a:srgbClr val="1E293B"/>
                </a:solidFill>
                <a:latin typeface="Calibri" pitchFamily="34" charset="0"/>
                <a:ea typeface="Calibri" pitchFamily="34" charset="-122"/>
                <a:cs typeface="Calibri" pitchFamily="34" charset="-120"/>
              </a:rPr>
              <a:t>• H2A, H2B, H3, H4 family genes</a:t>
            </a:r>
            <a:pPr indent="0" marL="0">
              <a:buNone/>
            </a:pPr>
            <a:r>
              <a:rPr lang="en-US" sz="1050" dirty="0">
                <a:solidFill>
                  <a:srgbClr val="1E293B"/>
                </a:solidFill>
                <a:latin typeface="Calibri" pitchFamily="34" charset="0"/>
                <a:ea typeface="Calibri" pitchFamily="34" charset="-122"/>
                <a:cs typeface="Calibri" pitchFamily="34" charset="-120"/>
              </a:rPr>
              <a:t>
  — Histone proteins forming the NET chromatin scaffold
</a:t>
            </a:r>
            <a:pPr indent="0" marL="0">
              <a:buNone/>
            </a:pPr>
            <a:r>
              <a:rPr lang="en-US" sz="1050" b="1" dirty="0">
                <a:solidFill>
                  <a:srgbClr val="1E293B"/>
                </a:solidFill>
                <a:latin typeface="Calibri" pitchFamily="34" charset="0"/>
                <a:ea typeface="Calibri" pitchFamily="34" charset="-122"/>
                <a:cs typeface="Calibri" pitchFamily="34" charset="-120"/>
              </a:rPr>
              <a:t>• ELANE</a:t>
            </a:r>
            <a:pPr indent="0" marL="0">
              <a:buNone/>
            </a:pPr>
            <a:r>
              <a:rPr lang="en-US" sz="1050" dirty="0">
                <a:solidFill>
                  <a:srgbClr val="1E293B"/>
                </a:solidFill>
                <a:latin typeface="Calibri" pitchFamily="34" charset="0"/>
                <a:ea typeface="Calibri" pitchFamily="34" charset="-122"/>
                <a:cs typeface="Calibri" pitchFamily="34" charset="-120"/>
              </a:rPr>
              <a:t>
  — Neutrophil elastase, released into NETs to kill bacteria
</a:t>
            </a:r>
            <a:pPr indent="0" marL="0">
              <a:buNone/>
            </a:pPr>
            <a:r>
              <a:rPr lang="en-US" sz="1050" b="1" dirty="0">
                <a:solidFill>
                  <a:srgbClr val="1E293B"/>
                </a:solidFill>
                <a:latin typeface="Calibri" pitchFamily="34" charset="0"/>
                <a:ea typeface="Calibri" pitchFamily="34" charset="-122"/>
                <a:cs typeface="Calibri" pitchFamily="34" charset="-120"/>
              </a:rPr>
              <a:t>• MPO (Myeloperoxidase)</a:t>
            </a:r>
            <a:pPr indent="0" marL="0">
              <a:buNone/>
            </a:pPr>
            <a:r>
              <a:rPr lang="en-US" sz="1050" dirty="0">
                <a:solidFill>
                  <a:srgbClr val="1E293B"/>
                </a:solidFill>
                <a:latin typeface="Calibri" pitchFamily="34" charset="0"/>
                <a:ea typeface="Calibri" pitchFamily="34" charset="-122"/>
                <a:cs typeface="Calibri" pitchFamily="34" charset="-120"/>
              </a:rPr>
              <a:t>
  — Oxidative burst enzyme, NET component
</a:t>
            </a:r>
            <a:pPr indent="0" marL="0">
              <a:buNone/>
            </a:pPr>
            <a:r>
              <a:rPr lang="en-US" sz="1050" i="1" dirty="0">
                <a:solidFill>
                  <a:srgbClr val="64748B"/>
                </a:solidFill>
                <a:latin typeface="Calibri" pitchFamily="34" charset="0"/>
                <a:ea typeface="Calibri" pitchFamily="34" charset="-122"/>
                <a:cs typeface="Calibri" pitchFamily="34" charset="-120"/>
              </a:rPr>
              <a:t>82 genes enriched  |  KEGG p = 1.0 × 10⁻⁵</a:t>
            </a:r>
            <a:endParaRPr lang="en-US" sz="1050" dirty="0"/>
          </a:p>
        </p:txBody>
      </p:sp>
      <p:sp>
        <p:nvSpPr>
          <p:cNvPr id="27" name="Shape 25"/>
          <p:cNvSpPr/>
          <p:nvPr/>
        </p:nvSpPr>
        <p:spPr>
          <a:xfrm>
            <a:off x="6035040" y="2971800"/>
            <a:ext cx="5852160" cy="310896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28" name="Shape 26"/>
          <p:cNvSpPr/>
          <p:nvPr/>
        </p:nvSpPr>
        <p:spPr>
          <a:xfrm>
            <a:off x="6035040" y="2971800"/>
            <a:ext cx="5852160" cy="301752"/>
          </a:xfrm>
          <a:prstGeom prst="rect">
            <a:avLst/>
          </a:prstGeom>
          <a:solidFill>
            <a:srgbClr val="1368AA"/>
          </a:solidFill>
          <a:ln w="12700">
            <a:solidFill>
              <a:srgbClr val="1368AA"/>
            </a:solidFill>
            <a:prstDash val="solid"/>
          </a:ln>
        </p:spPr>
      </p:sp>
      <p:sp>
        <p:nvSpPr>
          <p:cNvPr id="29" name="Text 27"/>
          <p:cNvSpPr/>
          <p:nvPr/>
        </p:nvSpPr>
        <p:spPr>
          <a:xfrm>
            <a:off x="6126480" y="2971800"/>
            <a:ext cx="576072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Clinical &amp; Therapeutic Implications</a:t>
            </a:r>
            <a:endParaRPr lang="en-US" sz="1100" dirty="0"/>
          </a:p>
        </p:txBody>
      </p:sp>
      <p:sp>
        <p:nvSpPr>
          <p:cNvPr id="30" name="Text 28"/>
          <p:cNvSpPr/>
          <p:nvPr/>
        </p:nvSpPr>
        <p:spPr>
          <a:xfrm>
            <a:off x="6172200" y="3319272"/>
            <a:ext cx="5623560" cy="2697480"/>
          </a:xfrm>
          <a:prstGeom prst="rect">
            <a:avLst/>
          </a:prstGeom>
          <a:noFill/>
          <a:ln/>
        </p:spPr>
        <p:txBody>
          <a:bodyPr wrap="square" lIns="0" tIns="0" rIns="0" bIns="0" rtlCol="0" anchor="t"/>
          <a:lstStyle/>
          <a:p>
            <a:pPr indent="0" marL="0">
              <a:buNone/>
            </a:pPr>
            <a:r>
              <a:rPr lang="en-US" sz="1050" b="1" dirty="0">
                <a:solidFill>
                  <a:srgbClr val="1E293B"/>
                </a:solidFill>
                <a:latin typeface="Calibri" pitchFamily="34" charset="0"/>
                <a:ea typeface="Calibri" pitchFamily="34" charset="-122"/>
                <a:cs typeface="Calibri" pitchFamily="34" charset="-120"/>
              </a:rPr>
              <a:t>NETs in Stroke (Literature):
</a:t>
            </a:r>
            <a:pPr indent="0" marL="0">
              <a:buNone/>
            </a:pPr>
            <a:r>
              <a:rPr lang="en-US" sz="1050" dirty="0">
                <a:solidFill>
                  <a:srgbClr val="1E293B"/>
                </a:solidFill>
                <a:latin typeface="Calibri" pitchFamily="34" charset="0"/>
                <a:ea typeface="Calibri" pitchFamily="34" charset="-122"/>
                <a:cs typeface="Calibri" pitchFamily="34" charset="-120"/>
              </a:rPr>
              <a:t>• Identified </a:t>
            </a:r>
            <a:pPr indent="0" marL="0">
              <a:buNone/>
            </a:pPr>
            <a:r>
              <a:rPr lang="en-US" sz="1050" b="1" dirty="0">
                <a:solidFill>
                  <a:srgbClr val="1E293B"/>
                </a:solidFill>
                <a:latin typeface="Calibri" pitchFamily="34" charset="0"/>
                <a:ea typeface="Calibri" pitchFamily="34" charset="-122"/>
                <a:cs typeface="Calibri" pitchFamily="34" charset="-120"/>
              </a:rPr>
              <a:t>within cerebral thrombi</a:t>
            </a:r>
            <a:pPr indent="0" marL="0">
              <a:buNone/>
            </a:pPr>
            <a:r>
              <a:rPr lang="en-US" sz="1050" dirty="0">
                <a:solidFill>
                  <a:srgbClr val="1E293B"/>
                </a:solidFill>
                <a:latin typeface="Calibri" pitchFamily="34" charset="0"/>
                <a:ea typeface="Calibri" pitchFamily="34" charset="-122"/>
                <a:cs typeface="Calibri" pitchFamily="34" charset="-120"/>
              </a:rPr>
              <a:t> recovered by thrombectomy
</a:t>
            </a:r>
            <a:pPr indent="0" marL="0">
              <a:buNone/>
            </a:pPr>
            <a:r>
              <a:rPr lang="en-US" sz="1050" dirty="0">
                <a:solidFill>
                  <a:srgbClr val="1E293B"/>
                </a:solidFill>
                <a:latin typeface="Calibri" pitchFamily="34" charset="0"/>
                <a:ea typeface="Calibri" pitchFamily="34" charset="-122"/>
                <a:cs typeface="Calibri" pitchFamily="34" charset="-120"/>
              </a:rPr>
              <a:t>• Promote platelet aggregation and coagulation
</a:t>
            </a:r>
            <a:pPr indent="0" marL="0">
              <a:buNone/>
            </a:pPr>
            <a:r>
              <a:rPr lang="en-US" sz="1050" dirty="0">
                <a:solidFill>
                  <a:srgbClr val="1E293B"/>
                </a:solidFill>
                <a:latin typeface="Calibri" pitchFamily="34" charset="0"/>
                <a:ea typeface="Calibri" pitchFamily="34" charset="-122"/>
                <a:cs typeface="Calibri" pitchFamily="34" charset="-120"/>
              </a:rPr>
              <a:t>• Directly damage the blood-brain barrier (BBB)
</a:t>
            </a:r>
            <a:pPr indent="0" marL="0">
              <a:buNone/>
            </a:pPr>
            <a:r>
              <a:rPr lang="en-US" sz="1050" dirty="0">
                <a:solidFill>
                  <a:srgbClr val="1E293B"/>
                </a:solidFill>
                <a:latin typeface="Calibri" pitchFamily="34" charset="0"/>
                <a:ea typeface="Calibri" pitchFamily="34" charset="-122"/>
                <a:cs typeface="Calibri" pitchFamily="34" charset="-120"/>
              </a:rPr>
              <a:t>• DNase I (degrades NETs) reduces infarct in animal models
</a:t>
            </a:r>
            <a:pPr indent="0" marL="0">
              <a:buNone/>
            </a:pPr>
            <a:r>
              <a:rPr lang="en-US" sz="1050" b="1" dirty="0">
                <a:solidFill>
                  <a:srgbClr val="1E293B"/>
                </a:solidFill>
                <a:latin typeface="Calibri" pitchFamily="34" charset="0"/>
                <a:ea typeface="Calibri" pitchFamily="34" charset="-122"/>
                <a:cs typeface="Calibri" pitchFamily="34" charset="-120"/>
              </a:rPr>
              <a:t>Therapeutic Target:
</a:t>
            </a:r>
            <a:pPr indent="0" marL="0">
              <a:buNone/>
            </a:pPr>
            <a:r>
              <a:rPr lang="en-US" sz="1050" dirty="0">
                <a:solidFill>
                  <a:srgbClr val="0D7377"/>
                </a:solidFill>
                <a:latin typeface="Calibri" pitchFamily="34" charset="0"/>
                <a:ea typeface="Calibri" pitchFamily="34" charset="-122"/>
                <a:cs typeface="Calibri" pitchFamily="34" charset="-120"/>
              </a:rPr>
              <a:t>NET inhibition (PAD4 inhibitors, DNase I) is under active investigation as stroke therapy. Our transcriptomic signature supports this approach.</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D7377"/>
          </a:solidFill>
          <a:ln w="12700">
            <a:solidFill>
              <a:srgbClr val="0D7377"/>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RESULTS — ENRICHMENT: SUBACUTE STROKE (DAY 2)</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16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200" b="1" dirty="0">
                <a:solidFill>
                  <a:srgbClr val="0B2545"/>
                </a:solidFill>
                <a:latin typeface="Calibri" pitchFamily="34" charset="0"/>
                <a:ea typeface="Calibri" pitchFamily="34" charset="-122"/>
                <a:cs typeface="Calibri" pitchFamily="34" charset="-120"/>
              </a:rPr>
              <a:t>Day 2 Enrichment — Resolution &amp; Repair Pathways</a:t>
            </a:r>
            <a:endParaRPr lang="en-US" sz="2200" dirty="0"/>
          </a:p>
        </p:txBody>
      </p:sp>
      <p:pic>
        <p:nvPicPr>
          <p:cNvPr id="8" name="Image 0" descr="C:\Users\arpit\Desktop\Genomics_project\results\figures\kegg_dotplot_D2_vs_NC.png">    </p:cNvPr>
          <p:cNvPicPr>
            <a:picLocks noChangeAspect="1"/>
          </p:cNvPicPr>
          <p:nvPr/>
        </p:nvPicPr>
        <p:blipFill>
          <a:blip r:embed="rId1"/>
          <a:srcRect l="0" r="0" t="0" b="0"/>
          <a:stretch/>
        </p:blipFill>
        <p:spPr>
          <a:xfrm>
            <a:off x="228600" y="1234440"/>
            <a:ext cx="4114800" cy="2560320"/>
          </a:xfrm>
          <a:prstGeom prst="rect">
            <a:avLst/>
          </a:prstGeom>
        </p:spPr>
      </p:pic>
      <p:pic>
        <p:nvPicPr>
          <p:cNvPr id="9" name="Image 1" descr="C:\Users\arpit\Desktop\Genomics_project\results\figures\go_dotplot_D2_vs_NC.png">    </p:cNvPr>
          <p:cNvPicPr>
            <a:picLocks noChangeAspect="1"/>
          </p:cNvPicPr>
          <p:nvPr/>
        </p:nvPicPr>
        <p:blipFill>
          <a:blip r:embed="rId2"/>
          <a:srcRect l="0" r="0" t="0" b="0"/>
          <a:stretch/>
        </p:blipFill>
        <p:spPr>
          <a:xfrm>
            <a:off x="228600" y="3931920"/>
            <a:ext cx="4114800" cy="2560320"/>
          </a:xfrm>
          <a:prstGeom prst="rect">
            <a:avLst/>
          </a:prstGeom>
        </p:spPr>
      </p:pic>
      <p:sp>
        <p:nvSpPr>
          <p:cNvPr id="10" name="Text 6"/>
          <p:cNvSpPr/>
          <p:nvPr/>
        </p:nvSpPr>
        <p:spPr>
          <a:xfrm>
            <a:off x="228600" y="1234440"/>
            <a:ext cx="4114800" cy="320040"/>
          </a:xfrm>
          <a:prstGeom prst="rect">
            <a:avLst/>
          </a:prstGeom>
          <a:noFill/>
          <a:ln/>
        </p:spPr>
        <p:txBody>
          <a:bodyPr wrap="square" lIns="0" tIns="0" rIns="0" bIns="0" rtlCol="0" anchor="ctr"/>
          <a:lstStyle/>
          <a:p>
            <a:pPr algn="ctr" indent="0" marL="0">
              <a:buNone/>
            </a:pPr>
            <a:r>
              <a:rPr lang="en-US" sz="1000" b="1" dirty="0">
                <a:solidFill>
                  <a:srgbClr val="0D7377"/>
                </a:solidFill>
                <a:latin typeface="Calibri" pitchFamily="34" charset="0"/>
                <a:ea typeface="Calibri" pitchFamily="34" charset="-122"/>
                <a:cs typeface="Calibri" pitchFamily="34" charset="-120"/>
              </a:rPr>
              <a:t>KEGG Pathways (Day 2)</a:t>
            </a:r>
            <a:endParaRPr lang="en-US" sz="1000" dirty="0"/>
          </a:p>
        </p:txBody>
      </p:sp>
      <p:sp>
        <p:nvSpPr>
          <p:cNvPr id="11" name="Text 7"/>
          <p:cNvSpPr/>
          <p:nvPr/>
        </p:nvSpPr>
        <p:spPr>
          <a:xfrm>
            <a:off x="228600" y="3931920"/>
            <a:ext cx="4114800" cy="320040"/>
          </a:xfrm>
          <a:prstGeom prst="rect">
            <a:avLst/>
          </a:prstGeom>
          <a:noFill/>
          <a:ln/>
        </p:spPr>
        <p:txBody>
          <a:bodyPr wrap="square" lIns="0" tIns="0" rIns="0" bIns="0" rtlCol="0" anchor="ctr"/>
          <a:lstStyle/>
          <a:p>
            <a:pPr algn="ctr" indent="0" marL="0">
              <a:buNone/>
            </a:pPr>
            <a:r>
              <a:rPr lang="en-US" sz="1000" b="1" dirty="0">
                <a:solidFill>
                  <a:srgbClr val="0D7377"/>
                </a:solidFill>
                <a:latin typeface="Calibri" pitchFamily="34" charset="0"/>
                <a:ea typeface="Calibri" pitchFamily="34" charset="-122"/>
                <a:cs typeface="Calibri" pitchFamily="34" charset="-120"/>
              </a:rPr>
              <a:t>GO Terms (Day 2)</a:t>
            </a:r>
            <a:endParaRPr lang="en-US" sz="1000" dirty="0"/>
          </a:p>
        </p:txBody>
      </p:sp>
      <p:sp>
        <p:nvSpPr>
          <p:cNvPr id="12" name="Shape 8"/>
          <p:cNvSpPr/>
          <p:nvPr/>
        </p:nvSpPr>
        <p:spPr>
          <a:xfrm>
            <a:off x="4572000" y="1234440"/>
            <a:ext cx="7406640" cy="242316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3" name="Shape 9"/>
          <p:cNvSpPr/>
          <p:nvPr/>
        </p:nvSpPr>
        <p:spPr>
          <a:xfrm>
            <a:off x="4572000" y="1234440"/>
            <a:ext cx="7406640" cy="301752"/>
          </a:xfrm>
          <a:prstGeom prst="rect">
            <a:avLst/>
          </a:prstGeom>
          <a:solidFill>
            <a:srgbClr val="0D7377"/>
          </a:solidFill>
          <a:ln w="12700">
            <a:solidFill>
              <a:srgbClr val="0D7377"/>
            </a:solidFill>
            <a:prstDash val="solid"/>
          </a:ln>
        </p:spPr>
      </p:sp>
      <p:sp>
        <p:nvSpPr>
          <p:cNvPr id="14" name="Text 10"/>
          <p:cNvSpPr/>
          <p:nvPr/>
        </p:nvSpPr>
        <p:spPr>
          <a:xfrm>
            <a:off x="4663440" y="1234440"/>
            <a:ext cx="731520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KEGG: 2 Pathways Enriched</a:t>
            </a:r>
            <a:endParaRPr lang="en-US" sz="1100" dirty="0"/>
          </a:p>
        </p:txBody>
      </p:sp>
      <p:sp>
        <p:nvSpPr>
          <p:cNvPr id="15" name="Text 11"/>
          <p:cNvSpPr/>
          <p:nvPr/>
        </p:nvSpPr>
        <p:spPr>
          <a:xfrm>
            <a:off x="4709160" y="1581912"/>
            <a:ext cx="7178040" cy="2011680"/>
          </a:xfrm>
          <a:prstGeom prst="rect">
            <a:avLst/>
          </a:prstGeom>
          <a:noFill/>
          <a:ln/>
        </p:spPr>
        <p:txBody>
          <a:bodyPr wrap="square" lIns="0" tIns="0" rIns="0" bIns="0" rtlCol="0" anchor="t"/>
          <a:lstStyle/>
          <a:p>
            <a:pPr indent="0" marL="0">
              <a:buNone/>
            </a:pPr>
            <a:r>
              <a:rPr lang="en-US" sz="1050" b="1" dirty="0">
                <a:solidFill>
                  <a:srgbClr val="0D7377"/>
                </a:solidFill>
                <a:latin typeface="Calibri" pitchFamily="34" charset="0"/>
                <a:ea typeface="Calibri" pitchFamily="34" charset="-122"/>
                <a:cs typeface="Calibri" pitchFamily="34" charset="-120"/>
              </a:rPr>
              <a:t>1. Efferocytosis</a:t>
            </a:r>
            <a:pPr indent="0" marL="0">
              <a:buNone/>
            </a:pPr>
            <a:r>
              <a:rPr lang="en-US" sz="1050" dirty="0">
                <a:solidFill>
                  <a:srgbClr val="1E293B"/>
                </a:solidFill>
                <a:latin typeface="Calibri" pitchFamily="34" charset="0"/>
                <a:ea typeface="Calibri" pitchFamily="34" charset="-122"/>
                <a:cs typeface="Calibri" pitchFamily="34" charset="-120"/>
              </a:rPr>
              <a:t> (p = 6.6×10⁻³)
</a:t>
            </a:r>
            <a:pPr indent="0" marL="0">
              <a:buNone/>
            </a:pPr>
            <a:r>
              <a:rPr lang="en-US" sz="1050" dirty="0">
                <a:solidFill>
                  <a:srgbClr val="1E293B"/>
                </a:solidFill>
                <a:latin typeface="Calibri" pitchFamily="34" charset="0"/>
                <a:ea typeface="Calibri" pitchFamily="34" charset="-122"/>
                <a:cs typeface="Calibri" pitchFamily="34" charset="-120"/>
              </a:rPr>
              <a:t>   Clearance of apoptotic cells by macrophages → cleanup mode after acute immune activation
</a:t>
            </a:r>
            <a:pPr indent="0" marL="0">
              <a:buNone/>
            </a:pPr>
            <a:r>
              <a:rPr lang="en-US" sz="1050" b="1" dirty="0">
                <a:solidFill>
                  <a:srgbClr val="1368AA"/>
                </a:solidFill>
                <a:latin typeface="Calibri" pitchFamily="34" charset="0"/>
                <a:ea typeface="Calibri" pitchFamily="34" charset="-122"/>
                <a:cs typeface="Calibri" pitchFamily="34" charset="-120"/>
              </a:rPr>
              <a:t>2. Homologous Recombination</a:t>
            </a:r>
            <a:pPr indent="0" marL="0">
              <a:buNone/>
            </a:pPr>
            <a:r>
              <a:rPr lang="en-US" sz="1050" dirty="0">
                <a:solidFill>
                  <a:srgbClr val="1E293B"/>
                </a:solidFill>
                <a:latin typeface="Calibri" pitchFamily="34" charset="0"/>
                <a:ea typeface="Calibri" pitchFamily="34" charset="-122"/>
                <a:cs typeface="Calibri" pitchFamily="34" charset="-120"/>
              </a:rPr>
              <a:t> (p = 6.7×10⁻³)
</a:t>
            </a:r>
            <a:pPr indent="0" marL="0">
              <a:buNone/>
            </a:pPr>
            <a:r>
              <a:rPr lang="en-US" sz="1050" dirty="0">
                <a:solidFill>
                  <a:srgbClr val="1E293B"/>
                </a:solidFill>
                <a:latin typeface="Calibri" pitchFamily="34" charset="0"/>
                <a:ea typeface="Calibri" pitchFamily="34" charset="-122"/>
                <a:cs typeface="Calibri" pitchFamily="34" charset="-120"/>
              </a:rPr>
              <a:t>   DNA damage repair → oxidative DNA damage from ROS burst during acute stroke is being repaired</a:t>
            </a:r>
            <a:endParaRPr lang="en-US" sz="1050" dirty="0"/>
          </a:p>
        </p:txBody>
      </p:sp>
      <p:sp>
        <p:nvSpPr>
          <p:cNvPr id="16" name="Shape 12"/>
          <p:cNvSpPr/>
          <p:nvPr/>
        </p:nvSpPr>
        <p:spPr>
          <a:xfrm>
            <a:off x="4572000" y="3767328"/>
            <a:ext cx="7406640" cy="233172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17" name="Shape 13"/>
          <p:cNvSpPr/>
          <p:nvPr/>
        </p:nvSpPr>
        <p:spPr>
          <a:xfrm>
            <a:off x="4572000" y="3767328"/>
            <a:ext cx="7406640" cy="301752"/>
          </a:xfrm>
          <a:prstGeom prst="rect">
            <a:avLst/>
          </a:prstGeom>
          <a:solidFill>
            <a:srgbClr val="1368AA"/>
          </a:solidFill>
          <a:ln w="12700">
            <a:solidFill>
              <a:srgbClr val="1368AA"/>
            </a:solidFill>
            <a:prstDash val="solid"/>
          </a:ln>
        </p:spPr>
      </p:sp>
      <p:sp>
        <p:nvSpPr>
          <p:cNvPr id="18" name="Text 14"/>
          <p:cNvSpPr/>
          <p:nvPr/>
        </p:nvSpPr>
        <p:spPr>
          <a:xfrm>
            <a:off x="4663440" y="3767328"/>
            <a:ext cx="731520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GO: 6 Terms — All MAP Kinase Phosphatase Activity</a:t>
            </a:r>
            <a:endParaRPr lang="en-US" sz="1100" dirty="0"/>
          </a:p>
        </p:txBody>
      </p:sp>
      <p:sp>
        <p:nvSpPr>
          <p:cNvPr id="19" name="Text 15"/>
          <p:cNvSpPr/>
          <p:nvPr/>
        </p:nvSpPr>
        <p:spPr>
          <a:xfrm>
            <a:off x="4709160" y="4114800"/>
            <a:ext cx="7178040" cy="192024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All 6 enriched GO terms relate to MAP kinase phosphatase activity:
</a:t>
            </a:r>
            <a:pPr indent="0" marL="0">
              <a:buNone/>
            </a:pPr>
            <a:r>
              <a:rPr lang="en-US" sz="1050" b="1" dirty="0">
                <a:solidFill>
                  <a:srgbClr val="1E293B"/>
                </a:solidFill>
                <a:latin typeface="Calibri" pitchFamily="34" charset="0"/>
                <a:ea typeface="Calibri" pitchFamily="34" charset="-122"/>
                <a:cs typeface="Calibri" pitchFamily="34" charset="-120"/>
              </a:rPr>
              <a:t>• GO:0017017</a:t>
            </a:r>
            <a:pPr indent="0" marL="0">
              <a:buNone/>
            </a:pPr>
            <a:r>
              <a:rPr lang="en-US" sz="1050" dirty="0">
                <a:solidFill>
                  <a:srgbClr val="1E293B"/>
                </a:solidFill>
                <a:latin typeface="Calibri" pitchFamily="34" charset="0"/>
                <a:ea typeface="Calibri" pitchFamily="34" charset="-122"/>
                <a:cs typeface="Calibri" pitchFamily="34" charset="-120"/>
              </a:rPr>
              <a:t> MAP kinase Tyr/Ser/Thr phosphatase activity
</a:t>
            </a:r>
            <a:pPr indent="0" marL="0">
              <a:buNone/>
            </a:pPr>
            <a:r>
              <a:rPr lang="en-US" sz="1050" b="1" dirty="0">
                <a:solidFill>
                  <a:srgbClr val="1E293B"/>
                </a:solidFill>
                <a:latin typeface="Calibri" pitchFamily="34" charset="0"/>
                <a:ea typeface="Calibri" pitchFamily="34" charset="-122"/>
                <a:cs typeface="Calibri" pitchFamily="34" charset="-120"/>
              </a:rPr>
              <a:t>• GO:0033549</a:t>
            </a:r>
            <a:pPr indent="0" marL="0">
              <a:buNone/>
            </a:pPr>
            <a:r>
              <a:rPr lang="en-US" sz="1050" dirty="0">
                <a:solidFill>
                  <a:srgbClr val="1E293B"/>
                </a:solidFill>
                <a:latin typeface="Calibri" pitchFamily="34" charset="0"/>
                <a:ea typeface="Calibri" pitchFamily="34" charset="-122"/>
                <a:cs typeface="Calibri" pitchFamily="34" charset="-120"/>
              </a:rPr>
              <a:t> MAP kinase phosphatase activity
</a:t>
            </a:r>
            <a:pPr indent="0" marL="0">
              <a:buNone/>
            </a:pPr>
            <a:r>
              <a:rPr lang="en-US" sz="1050" dirty="0">
                <a:solidFill>
                  <a:srgbClr val="1E293B"/>
                </a:solidFill>
                <a:latin typeface="Calibri" pitchFamily="34" charset="0"/>
                <a:ea typeface="Calibri" pitchFamily="34" charset="-122"/>
                <a:cs typeface="Calibri" pitchFamily="34" charset="-120"/>
              </a:rPr>
              <a:t>• Driven by: </a:t>
            </a:r>
            <a:pPr indent="0" marL="0">
              <a:buNone/>
            </a:pPr>
            <a:r>
              <a:rPr lang="en-US" sz="1050" b="1" dirty="0">
                <a:solidFill>
                  <a:srgbClr val="0D7377"/>
                </a:solidFill>
                <a:latin typeface="Calibri" pitchFamily="34" charset="0"/>
                <a:ea typeface="Calibri" pitchFamily="34" charset="-122"/>
                <a:cs typeface="Calibri" pitchFamily="34" charset="-120"/>
              </a:rPr>
              <a:t>DUSP2 + DUSP8</a:t>
            </a:r>
            <a:pPr indent="0" marL="0">
              <a:buNone/>
            </a:pPr>
            <a:r>
              <a:rPr lang="en-US" sz="1050" dirty="0">
                <a:solidFill>
                  <a:srgbClr val="1E293B"/>
                </a:solidFill>
                <a:latin typeface="Calibri" pitchFamily="34" charset="0"/>
                <a:ea typeface="Calibri" pitchFamily="34" charset="-122"/>
                <a:cs typeface="Calibri" pitchFamily="34" charset="-120"/>
              </a:rPr>
              <a:t> — the immune system's 'off switch'
</a:t>
            </a:r>
            <a:pPr indent="0" marL="0">
              <a:buNone/>
            </a:pPr>
            <a:r>
              <a:rPr lang="en-US" sz="1050" i="1" dirty="0">
                <a:solidFill>
                  <a:srgbClr val="64748B"/>
                </a:solidFill>
                <a:latin typeface="Calibri" pitchFamily="34" charset="0"/>
                <a:ea typeface="Calibri" pitchFamily="34" charset="-122"/>
                <a:cs typeface="Calibri" pitchFamily="34" charset="-120"/>
              </a:rPr>
              <a:t>Conclusion: By Day 2, the transcriptome reflects active immune SUPPRESSION, not activation.</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1368AA"/>
          </a:solidFill>
          <a:ln w="12700">
            <a:solidFill>
              <a:srgbClr val="1368AA"/>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RESULTS — GENE SET ENRICHMENT ANALYSIS (GSEA)</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17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200" b="1" dirty="0">
                <a:solidFill>
                  <a:srgbClr val="0B2545"/>
                </a:solidFill>
                <a:latin typeface="Calibri" pitchFamily="34" charset="0"/>
                <a:ea typeface="Calibri" pitchFamily="34" charset="-122"/>
                <a:cs typeface="Calibri" pitchFamily="34" charset="-120"/>
              </a:rPr>
              <a:t>GSEA — Sensitivity Beyond Hard DEG Thresholds</a:t>
            </a:r>
            <a:endParaRPr lang="en-US" sz="2200" dirty="0"/>
          </a:p>
        </p:txBody>
      </p:sp>
      <p:sp>
        <p:nvSpPr>
          <p:cNvPr id="8" name="Shape 6"/>
          <p:cNvSpPr/>
          <p:nvPr/>
        </p:nvSpPr>
        <p:spPr>
          <a:xfrm>
            <a:off x="274320" y="1261872"/>
            <a:ext cx="5303520" cy="18288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274320" y="1261872"/>
            <a:ext cx="5303520" cy="301752"/>
          </a:xfrm>
          <a:prstGeom prst="rect">
            <a:avLst/>
          </a:prstGeom>
          <a:solidFill>
            <a:srgbClr val="0D7377"/>
          </a:solidFill>
          <a:ln w="12700">
            <a:solidFill>
              <a:srgbClr val="0D7377"/>
            </a:solidFill>
            <a:prstDash val="solid"/>
          </a:ln>
        </p:spPr>
      </p:sp>
      <p:sp>
        <p:nvSpPr>
          <p:cNvPr id="10" name="Text 8"/>
          <p:cNvSpPr/>
          <p:nvPr/>
        </p:nvSpPr>
        <p:spPr>
          <a:xfrm>
            <a:off x="365760" y="1261872"/>
            <a:ext cx="5212080" cy="30175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GSEA Works (vs. ORA)</a:t>
            </a:r>
            <a:endParaRPr lang="en-US" sz="1100" dirty="0"/>
          </a:p>
        </p:txBody>
      </p:sp>
      <p:sp>
        <p:nvSpPr>
          <p:cNvPr id="11" name="Text 9"/>
          <p:cNvSpPr/>
          <p:nvPr/>
        </p:nvSpPr>
        <p:spPr>
          <a:xfrm>
            <a:off x="411480" y="1609344"/>
            <a:ext cx="5074920" cy="1417320"/>
          </a:xfrm>
          <a:prstGeom prst="rect">
            <a:avLst/>
          </a:prstGeom>
          <a:noFill/>
          <a:ln/>
        </p:spPr>
        <p:txBody>
          <a:bodyPr wrap="square" lIns="0" tIns="0" rIns="0" bIns="0" rtlCol="0" anchor="t"/>
          <a:lstStyle/>
          <a:p>
            <a:pPr indent="0" marL="0">
              <a:buNone/>
            </a:pPr>
            <a:r>
              <a:rPr lang="en-US" sz="1050" b="1" dirty="0">
                <a:solidFill>
                  <a:srgbClr val="1E293B"/>
                </a:solidFill>
                <a:latin typeface="Calibri" pitchFamily="34" charset="0"/>
                <a:ea typeface="Calibri" pitchFamily="34" charset="-122"/>
                <a:cs typeface="Calibri" pitchFamily="34" charset="-120"/>
              </a:rPr>
              <a:t>Over-representation analysis (ORA):</a:t>
            </a:r>
            <a:pPr indent="0" marL="0">
              <a:buNone/>
            </a:pPr>
            <a:r>
              <a:rPr lang="en-US" sz="1050" dirty="0">
                <a:solidFill>
                  <a:srgbClr val="1E293B"/>
                </a:solidFill>
                <a:latin typeface="Calibri" pitchFamily="34" charset="0"/>
                <a:ea typeface="Calibri" pitchFamily="34" charset="-122"/>
                <a:cs typeface="Calibri" pitchFamily="34" charset="-120"/>
              </a:rPr>
              <a:t> tests whether DEGs are enriched in a pathway.
</a:t>
            </a:r>
            <a:pPr indent="0" marL="0">
              <a:buNone/>
            </a:pPr>
            <a:r>
              <a:rPr lang="en-US" sz="1050" b="1" dirty="0">
                <a:solidFill>
                  <a:srgbClr val="1E293B"/>
                </a:solidFill>
                <a:latin typeface="Calibri" pitchFamily="34" charset="0"/>
                <a:ea typeface="Calibri" pitchFamily="34" charset="-122"/>
                <a:cs typeface="Calibri" pitchFamily="34" charset="-120"/>
              </a:rPr>
              <a:t>GSEA:</a:t>
            </a:r>
            <a:pPr indent="0" marL="0">
              <a:buNone/>
            </a:pPr>
            <a:r>
              <a:rPr lang="en-US" sz="1050" dirty="0">
                <a:solidFill>
                  <a:srgbClr val="1E293B"/>
                </a:solidFill>
                <a:latin typeface="Calibri" pitchFamily="34" charset="0"/>
                <a:ea typeface="Calibri" pitchFamily="34" charset="-122"/>
                <a:cs typeface="Calibri" pitchFamily="34" charset="-120"/>
              </a:rPr>
              <a:t> ranks ALL expressed genes by a score (sign(LFC) × −log10(p)), then tests for coordinated shifts. No hard cutoff needed — detects subtle changes.</a:t>
            </a:r>
            <a:endParaRPr lang="en-US" sz="1050" dirty="0"/>
          </a:p>
        </p:txBody>
      </p:sp>
      <p:sp>
        <p:nvSpPr>
          <p:cNvPr id="12" name="Shape 10"/>
          <p:cNvSpPr/>
          <p:nvPr/>
        </p:nvSpPr>
        <p:spPr>
          <a:xfrm>
            <a:off x="274320" y="3200400"/>
            <a:ext cx="2468880" cy="914400"/>
          </a:xfrm>
          <a:prstGeom prst="rect">
            <a:avLst/>
          </a:prstGeom>
          <a:solidFill>
            <a:srgbClr val="1368AA"/>
          </a:solidFill>
          <a:ln w="12700">
            <a:solidFill>
              <a:srgbClr val="1368AA"/>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274320" y="3246120"/>
            <a:ext cx="2468880"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189</a:t>
            </a:r>
            <a:endParaRPr lang="en-US" sz="2800" dirty="0"/>
          </a:p>
        </p:txBody>
      </p:sp>
      <p:sp>
        <p:nvSpPr>
          <p:cNvPr id="14" name="Text 12"/>
          <p:cNvSpPr/>
          <p:nvPr/>
        </p:nvSpPr>
        <p:spPr>
          <a:xfrm>
            <a:off x="274320" y="3675888"/>
            <a:ext cx="2468880" cy="41148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GO-BP terms enriched</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Day 1 vs NC</a:t>
            </a:r>
            <a:endParaRPr lang="en-US" sz="1000" dirty="0"/>
          </a:p>
        </p:txBody>
      </p:sp>
      <p:sp>
        <p:nvSpPr>
          <p:cNvPr id="15" name="Shape 13"/>
          <p:cNvSpPr/>
          <p:nvPr/>
        </p:nvSpPr>
        <p:spPr>
          <a:xfrm>
            <a:off x="2926080" y="3200400"/>
            <a:ext cx="2468880" cy="914400"/>
          </a:xfrm>
          <a:prstGeom prst="rect">
            <a:avLst/>
          </a:prstGeom>
          <a:solidFill>
            <a:srgbClr val="C0392B"/>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2926080" y="3246120"/>
            <a:ext cx="2468880"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155</a:t>
            </a:r>
            <a:endParaRPr lang="en-US" sz="2800" dirty="0"/>
          </a:p>
        </p:txBody>
      </p:sp>
      <p:sp>
        <p:nvSpPr>
          <p:cNvPr id="17" name="Text 15"/>
          <p:cNvSpPr/>
          <p:nvPr/>
        </p:nvSpPr>
        <p:spPr>
          <a:xfrm>
            <a:off x="2926080" y="3675888"/>
            <a:ext cx="2468880" cy="41148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GO-BP terms enriched</a:t>
            </a:r>
            <a:endParaRPr lang="en-US" sz="1000" dirty="0"/>
          </a:p>
          <a:p>
            <a:pPr algn="ctr" indent="0" marL="0">
              <a:buNone/>
            </a:pPr>
            <a:r>
              <a:rPr lang="en-US" sz="1000" dirty="0">
                <a:solidFill>
                  <a:srgbClr val="FFFFFF"/>
                </a:solidFill>
                <a:latin typeface="Calibri" pitchFamily="34" charset="0"/>
                <a:ea typeface="Calibri" pitchFamily="34" charset="-122"/>
                <a:cs typeface="Calibri" pitchFamily="34" charset="-120"/>
              </a:rPr>
              <a:t>Day 2 vs NC</a:t>
            </a:r>
            <a:endParaRPr lang="en-US" sz="1000" dirty="0"/>
          </a:p>
        </p:txBody>
      </p:sp>
      <p:sp>
        <p:nvSpPr>
          <p:cNvPr id="18" name="Shape 16"/>
          <p:cNvSpPr/>
          <p:nvPr/>
        </p:nvSpPr>
        <p:spPr>
          <a:xfrm>
            <a:off x="274320" y="4224528"/>
            <a:ext cx="5303520" cy="1874520"/>
          </a:xfrm>
          <a:prstGeom prst="rect">
            <a:avLst/>
          </a:prstGeom>
          <a:solidFill>
            <a:srgbClr val="FFF8E1"/>
          </a:solidFill>
          <a:ln w="12700">
            <a:solidFill>
              <a:srgbClr val="F2A900"/>
            </a:solidFill>
            <a:prstDash val="solid"/>
          </a:ln>
        </p:spPr>
      </p:sp>
      <p:sp>
        <p:nvSpPr>
          <p:cNvPr id="19" name="Text 17"/>
          <p:cNvSpPr/>
          <p:nvPr/>
        </p:nvSpPr>
        <p:spPr>
          <a:xfrm>
            <a:off x="411480" y="4279392"/>
            <a:ext cx="5029200" cy="347472"/>
          </a:xfrm>
          <a:prstGeom prst="rect">
            <a:avLst/>
          </a:prstGeom>
          <a:noFill/>
          <a:ln/>
        </p:spPr>
        <p:txBody>
          <a:bodyPr wrap="square" lIns="0" tIns="0" rIns="0" bIns="0" rtlCol="0" anchor="ctr"/>
          <a:lstStyle/>
          <a:p>
            <a:pPr indent="0" marL="0">
              <a:buNone/>
            </a:pPr>
            <a:r>
              <a:rPr lang="en-US" sz="1100" b="1" dirty="0">
                <a:solidFill>
                  <a:srgbClr val="F2A900"/>
                </a:solidFill>
                <a:latin typeface="Calibri" pitchFamily="34" charset="0"/>
                <a:ea typeface="Calibri" pitchFamily="34" charset="-122"/>
                <a:cs typeface="Calibri" pitchFamily="34" charset="-120"/>
              </a:rPr>
              <a:t>⚠️  Why GSEA finds MORE terms in Day 2 than ORA:</a:t>
            </a:r>
            <a:endParaRPr lang="en-US" sz="1100" dirty="0"/>
          </a:p>
        </p:txBody>
      </p:sp>
      <p:sp>
        <p:nvSpPr>
          <p:cNvPr id="20" name="Text 18"/>
          <p:cNvSpPr/>
          <p:nvPr/>
        </p:nvSpPr>
        <p:spPr>
          <a:xfrm>
            <a:off x="411480" y="4663440"/>
            <a:ext cx="5029200" cy="1353312"/>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Despite fewer DEGs at Day 2, GSEA found 155 enriched pathways (vs 6 by ORA). Because GSEA uses ALL genes ranked by effect size, not just significant ones — it captures subtle but coordinated expression changes during the recovery phase that don't reach the hard significance threshold.</a:t>
            </a:r>
            <a:endParaRPr lang="en-US" sz="1050" dirty="0"/>
          </a:p>
        </p:txBody>
      </p:sp>
      <p:sp>
        <p:nvSpPr>
          <p:cNvPr id="21" name="Shape 19"/>
          <p:cNvSpPr/>
          <p:nvPr/>
        </p:nvSpPr>
        <p:spPr>
          <a:xfrm>
            <a:off x="5852160" y="1261872"/>
            <a:ext cx="6035040" cy="4828032"/>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5852160" y="1261872"/>
            <a:ext cx="6035040" cy="384048"/>
          </a:xfrm>
          <a:prstGeom prst="rect">
            <a:avLst/>
          </a:prstGeom>
          <a:solidFill>
            <a:srgbClr val="1368AA"/>
          </a:solidFill>
          <a:ln w="12700">
            <a:solidFill>
              <a:srgbClr val="1368AA"/>
            </a:solidFill>
            <a:prstDash val="solid"/>
          </a:ln>
        </p:spPr>
      </p:sp>
      <p:sp>
        <p:nvSpPr>
          <p:cNvPr id="23" name="Text 21"/>
          <p:cNvSpPr/>
          <p:nvPr/>
        </p:nvSpPr>
        <p:spPr>
          <a:xfrm>
            <a:off x="5943600" y="1261872"/>
            <a:ext cx="585216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Top GSEA Terms — Day 1 (Positive Enrichment)</a:t>
            </a:r>
            <a:endParaRPr lang="en-US" sz="1100" dirty="0"/>
          </a:p>
        </p:txBody>
      </p:sp>
      <p:sp>
        <p:nvSpPr>
          <p:cNvPr id="24" name="Shape 22"/>
          <p:cNvSpPr/>
          <p:nvPr/>
        </p:nvSpPr>
        <p:spPr>
          <a:xfrm>
            <a:off x="5989320" y="1783080"/>
            <a:ext cx="1005840" cy="292608"/>
          </a:xfrm>
          <a:prstGeom prst="rect">
            <a:avLst/>
          </a:prstGeom>
          <a:solidFill>
            <a:srgbClr val="00A878"/>
          </a:solidFill>
          <a:ln w="12700">
            <a:solidFill>
              <a:srgbClr val="00A878"/>
            </a:solidFill>
            <a:prstDash val="solid"/>
          </a:ln>
        </p:spPr>
      </p:sp>
      <p:sp>
        <p:nvSpPr>
          <p:cNvPr id="25" name="Text 23"/>
          <p:cNvSpPr/>
          <p:nvPr/>
        </p:nvSpPr>
        <p:spPr>
          <a:xfrm>
            <a:off x="5989320" y="1783080"/>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NES +3.2</a:t>
            </a:r>
            <a:endParaRPr lang="en-US" sz="850" dirty="0"/>
          </a:p>
        </p:txBody>
      </p:sp>
      <p:sp>
        <p:nvSpPr>
          <p:cNvPr id="26" name="Text 24"/>
          <p:cNvSpPr/>
          <p:nvPr/>
        </p:nvSpPr>
        <p:spPr>
          <a:xfrm>
            <a:off x="7059168" y="1783080"/>
            <a:ext cx="2286000" cy="292608"/>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Ribosome biogenesis</a:t>
            </a:r>
            <a:endParaRPr lang="en-US" sz="950" dirty="0"/>
          </a:p>
        </p:txBody>
      </p:sp>
      <p:sp>
        <p:nvSpPr>
          <p:cNvPr id="27" name="Text 25"/>
          <p:cNvSpPr/>
          <p:nvPr/>
        </p:nvSpPr>
        <p:spPr>
          <a:xfrm>
            <a:off x="9372600" y="1783080"/>
            <a:ext cx="2423160" cy="29260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Protein synthesis activation</a:t>
            </a:r>
            <a:endParaRPr lang="en-US" sz="900" dirty="0"/>
          </a:p>
        </p:txBody>
      </p:sp>
      <p:sp>
        <p:nvSpPr>
          <p:cNvPr id="28" name="Shape 26"/>
          <p:cNvSpPr/>
          <p:nvPr/>
        </p:nvSpPr>
        <p:spPr>
          <a:xfrm>
            <a:off x="5989320" y="2212848"/>
            <a:ext cx="1005840" cy="292608"/>
          </a:xfrm>
          <a:prstGeom prst="rect">
            <a:avLst/>
          </a:prstGeom>
          <a:solidFill>
            <a:srgbClr val="00A878"/>
          </a:solidFill>
          <a:ln w="12700">
            <a:solidFill>
              <a:srgbClr val="00A878"/>
            </a:solidFill>
            <a:prstDash val="solid"/>
          </a:ln>
        </p:spPr>
      </p:sp>
      <p:sp>
        <p:nvSpPr>
          <p:cNvPr id="29" name="Text 27"/>
          <p:cNvSpPr/>
          <p:nvPr/>
        </p:nvSpPr>
        <p:spPr>
          <a:xfrm>
            <a:off x="5989320" y="2212848"/>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NES +2.9</a:t>
            </a:r>
            <a:endParaRPr lang="en-US" sz="850" dirty="0"/>
          </a:p>
        </p:txBody>
      </p:sp>
      <p:sp>
        <p:nvSpPr>
          <p:cNvPr id="30" name="Text 28"/>
          <p:cNvSpPr/>
          <p:nvPr/>
        </p:nvSpPr>
        <p:spPr>
          <a:xfrm>
            <a:off x="7059168" y="2212848"/>
            <a:ext cx="2286000" cy="292608"/>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mRNA translation</a:t>
            </a:r>
            <a:endParaRPr lang="en-US" sz="950" dirty="0"/>
          </a:p>
        </p:txBody>
      </p:sp>
      <p:sp>
        <p:nvSpPr>
          <p:cNvPr id="31" name="Text 29"/>
          <p:cNvSpPr/>
          <p:nvPr/>
        </p:nvSpPr>
        <p:spPr>
          <a:xfrm>
            <a:off x="9372600" y="2212848"/>
            <a:ext cx="2423160" cy="29260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Translational upregulation</a:t>
            </a:r>
            <a:endParaRPr lang="en-US" sz="900" dirty="0"/>
          </a:p>
        </p:txBody>
      </p:sp>
      <p:sp>
        <p:nvSpPr>
          <p:cNvPr id="32" name="Shape 30"/>
          <p:cNvSpPr/>
          <p:nvPr/>
        </p:nvSpPr>
        <p:spPr>
          <a:xfrm>
            <a:off x="5989320" y="2642616"/>
            <a:ext cx="1005840" cy="292608"/>
          </a:xfrm>
          <a:prstGeom prst="rect">
            <a:avLst/>
          </a:prstGeom>
          <a:solidFill>
            <a:srgbClr val="00A878"/>
          </a:solidFill>
          <a:ln w="12700">
            <a:solidFill>
              <a:srgbClr val="00A878"/>
            </a:solidFill>
            <a:prstDash val="solid"/>
          </a:ln>
        </p:spPr>
      </p:sp>
      <p:sp>
        <p:nvSpPr>
          <p:cNvPr id="33" name="Text 31"/>
          <p:cNvSpPr/>
          <p:nvPr/>
        </p:nvSpPr>
        <p:spPr>
          <a:xfrm>
            <a:off x="5989320" y="2642616"/>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NES +2.7</a:t>
            </a:r>
            <a:endParaRPr lang="en-US" sz="850" dirty="0"/>
          </a:p>
        </p:txBody>
      </p:sp>
      <p:sp>
        <p:nvSpPr>
          <p:cNvPr id="34" name="Text 32"/>
          <p:cNvSpPr/>
          <p:nvPr/>
        </p:nvSpPr>
        <p:spPr>
          <a:xfrm>
            <a:off x="7059168" y="2642616"/>
            <a:ext cx="2286000" cy="292608"/>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Neutrophil activation</a:t>
            </a:r>
            <a:endParaRPr lang="en-US" sz="950" dirty="0"/>
          </a:p>
        </p:txBody>
      </p:sp>
      <p:sp>
        <p:nvSpPr>
          <p:cNvPr id="35" name="Text 33"/>
          <p:cNvSpPr/>
          <p:nvPr/>
        </p:nvSpPr>
        <p:spPr>
          <a:xfrm>
            <a:off x="9372600" y="2642616"/>
            <a:ext cx="2423160" cy="29260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Innate immune alarm</a:t>
            </a:r>
            <a:endParaRPr lang="en-US" sz="900" dirty="0"/>
          </a:p>
        </p:txBody>
      </p:sp>
      <p:sp>
        <p:nvSpPr>
          <p:cNvPr id="36" name="Shape 34"/>
          <p:cNvSpPr/>
          <p:nvPr/>
        </p:nvSpPr>
        <p:spPr>
          <a:xfrm>
            <a:off x="5989320" y="3072384"/>
            <a:ext cx="1005840" cy="292608"/>
          </a:xfrm>
          <a:prstGeom prst="rect">
            <a:avLst/>
          </a:prstGeom>
          <a:solidFill>
            <a:srgbClr val="00A878"/>
          </a:solidFill>
          <a:ln w="12700">
            <a:solidFill>
              <a:srgbClr val="00A878"/>
            </a:solidFill>
            <a:prstDash val="solid"/>
          </a:ln>
        </p:spPr>
      </p:sp>
      <p:sp>
        <p:nvSpPr>
          <p:cNvPr id="37" name="Text 35"/>
          <p:cNvSpPr/>
          <p:nvPr/>
        </p:nvSpPr>
        <p:spPr>
          <a:xfrm>
            <a:off x="5989320" y="3072384"/>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NES +2.5</a:t>
            </a:r>
            <a:endParaRPr lang="en-US" sz="850" dirty="0"/>
          </a:p>
        </p:txBody>
      </p:sp>
      <p:sp>
        <p:nvSpPr>
          <p:cNvPr id="38" name="Text 36"/>
          <p:cNvSpPr/>
          <p:nvPr/>
        </p:nvSpPr>
        <p:spPr>
          <a:xfrm>
            <a:off x="7059168" y="3072384"/>
            <a:ext cx="2286000" cy="292608"/>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Oxidative phosphorylation</a:t>
            </a:r>
            <a:endParaRPr lang="en-US" sz="950" dirty="0"/>
          </a:p>
        </p:txBody>
      </p:sp>
      <p:sp>
        <p:nvSpPr>
          <p:cNvPr id="39" name="Text 37"/>
          <p:cNvSpPr/>
          <p:nvPr/>
        </p:nvSpPr>
        <p:spPr>
          <a:xfrm>
            <a:off x="9372600" y="3072384"/>
            <a:ext cx="2423160" cy="29260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Metabolic reprogramming</a:t>
            </a:r>
            <a:endParaRPr lang="en-US" sz="900" dirty="0"/>
          </a:p>
        </p:txBody>
      </p:sp>
      <p:sp>
        <p:nvSpPr>
          <p:cNvPr id="40" name="Shape 38"/>
          <p:cNvSpPr/>
          <p:nvPr/>
        </p:nvSpPr>
        <p:spPr>
          <a:xfrm>
            <a:off x="5989320" y="3502152"/>
            <a:ext cx="1005840" cy="292608"/>
          </a:xfrm>
          <a:prstGeom prst="rect">
            <a:avLst/>
          </a:prstGeom>
          <a:solidFill>
            <a:srgbClr val="00A878"/>
          </a:solidFill>
          <a:ln w="12700">
            <a:solidFill>
              <a:srgbClr val="00A878"/>
            </a:solidFill>
            <a:prstDash val="solid"/>
          </a:ln>
        </p:spPr>
      </p:sp>
      <p:sp>
        <p:nvSpPr>
          <p:cNvPr id="41" name="Text 39"/>
          <p:cNvSpPr/>
          <p:nvPr/>
        </p:nvSpPr>
        <p:spPr>
          <a:xfrm>
            <a:off x="5989320" y="3502152"/>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NES +2.4</a:t>
            </a:r>
            <a:endParaRPr lang="en-US" sz="850" dirty="0"/>
          </a:p>
        </p:txBody>
      </p:sp>
      <p:sp>
        <p:nvSpPr>
          <p:cNvPr id="42" name="Text 40"/>
          <p:cNvSpPr/>
          <p:nvPr/>
        </p:nvSpPr>
        <p:spPr>
          <a:xfrm>
            <a:off x="7059168" y="3502152"/>
            <a:ext cx="2286000" cy="292608"/>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Antimicrobial response</a:t>
            </a:r>
            <a:endParaRPr lang="en-US" sz="950" dirty="0"/>
          </a:p>
        </p:txBody>
      </p:sp>
      <p:sp>
        <p:nvSpPr>
          <p:cNvPr id="43" name="Text 41"/>
          <p:cNvSpPr/>
          <p:nvPr/>
        </p:nvSpPr>
        <p:spPr>
          <a:xfrm>
            <a:off x="9372600" y="3502152"/>
            <a:ext cx="2423160" cy="29260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Defense activation</a:t>
            </a:r>
            <a:endParaRPr lang="en-US" sz="900" dirty="0"/>
          </a:p>
        </p:txBody>
      </p:sp>
      <p:sp>
        <p:nvSpPr>
          <p:cNvPr id="44" name="Shape 42"/>
          <p:cNvSpPr/>
          <p:nvPr/>
        </p:nvSpPr>
        <p:spPr>
          <a:xfrm>
            <a:off x="5989320" y="3931920"/>
            <a:ext cx="1005840" cy="292608"/>
          </a:xfrm>
          <a:prstGeom prst="rect">
            <a:avLst/>
          </a:prstGeom>
          <a:solidFill>
            <a:srgbClr val="00A878"/>
          </a:solidFill>
          <a:ln w="12700">
            <a:solidFill>
              <a:srgbClr val="00A878"/>
            </a:solidFill>
            <a:prstDash val="solid"/>
          </a:ln>
        </p:spPr>
      </p:sp>
      <p:sp>
        <p:nvSpPr>
          <p:cNvPr id="45" name="Text 43"/>
          <p:cNvSpPr/>
          <p:nvPr/>
        </p:nvSpPr>
        <p:spPr>
          <a:xfrm>
            <a:off x="5989320" y="3931920"/>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NES +2.3</a:t>
            </a:r>
            <a:endParaRPr lang="en-US" sz="850" dirty="0"/>
          </a:p>
        </p:txBody>
      </p:sp>
      <p:sp>
        <p:nvSpPr>
          <p:cNvPr id="46" name="Text 44"/>
          <p:cNvSpPr/>
          <p:nvPr/>
        </p:nvSpPr>
        <p:spPr>
          <a:xfrm>
            <a:off x="7059168" y="3931920"/>
            <a:ext cx="2286000" cy="292608"/>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NET formation</a:t>
            </a:r>
            <a:endParaRPr lang="en-US" sz="950" dirty="0"/>
          </a:p>
        </p:txBody>
      </p:sp>
      <p:sp>
        <p:nvSpPr>
          <p:cNvPr id="47" name="Text 45"/>
          <p:cNvSpPr/>
          <p:nvPr/>
        </p:nvSpPr>
        <p:spPr>
          <a:xfrm>
            <a:off x="9372600" y="3931920"/>
            <a:ext cx="2423160" cy="29260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Immunothrombosis</a:t>
            </a:r>
            <a:endParaRPr lang="en-US" sz="900" dirty="0"/>
          </a:p>
        </p:txBody>
      </p:sp>
      <p:sp>
        <p:nvSpPr>
          <p:cNvPr id="48" name="Shape 46"/>
          <p:cNvSpPr/>
          <p:nvPr/>
        </p:nvSpPr>
        <p:spPr>
          <a:xfrm>
            <a:off x="5989320" y="4361688"/>
            <a:ext cx="1005840" cy="292608"/>
          </a:xfrm>
          <a:prstGeom prst="rect">
            <a:avLst/>
          </a:prstGeom>
          <a:solidFill>
            <a:srgbClr val="00A878"/>
          </a:solidFill>
          <a:ln w="12700">
            <a:solidFill>
              <a:srgbClr val="00A878"/>
            </a:solidFill>
            <a:prstDash val="solid"/>
          </a:ln>
        </p:spPr>
      </p:sp>
      <p:sp>
        <p:nvSpPr>
          <p:cNvPr id="49" name="Text 47"/>
          <p:cNvSpPr/>
          <p:nvPr/>
        </p:nvSpPr>
        <p:spPr>
          <a:xfrm>
            <a:off x="5989320" y="4361688"/>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NES +2.1</a:t>
            </a:r>
            <a:endParaRPr lang="en-US" sz="850" dirty="0"/>
          </a:p>
        </p:txBody>
      </p:sp>
      <p:sp>
        <p:nvSpPr>
          <p:cNvPr id="50" name="Text 48"/>
          <p:cNvSpPr/>
          <p:nvPr/>
        </p:nvSpPr>
        <p:spPr>
          <a:xfrm>
            <a:off x="7059168" y="4361688"/>
            <a:ext cx="2286000" cy="292608"/>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Cytokine signaling</a:t>
            </a:r>
            <a:endParaRPr lang="en-US" sz="950" dirty="0"/>
          </a:p>
        </p:txBody>
      </p:sp>
      <p:sp>
        <p:nvSpPr>
          <p:cNvPr id="51" name="Text 49"/>
          <p:cNvSpPr/>
          <p:nvPr/>
        </p:nvSpPr>
        <p:spPr>
          <a:xfrm>
            <a:off x="9372600" y="4361688"/>
            <a:ext cx="2423160" cy="29260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Inflammatory cascade</a:t>
            </a:r>
            <a:endParaRPr lang="en-US" sz="900" dirty="0"/>
          </a:p>
        </p:txBody>
      </p:sp>
      <p:sp>
        <p:nvSpPr>
          <p:cNvPr id="52" name="Shape 50"/>
          <p:cNvSpPr/>
          <p:nvPr/>
        </p:nvSpPr>
        <p:spPr>
          <a:xfrm>
            <a:off x="5989320" y="4791456"/>
            <a:ext cx="1005840" cy="292608"/>
          </a:xfrm>
          <a:prstGeom prst="rect">
            <a:avLst/>
          </a:prstGeom>
          <a:solidFill>
            <a:srgbClr val="C0392B"/>
          </a:solidFill>
          <a:ln w="12700">
            <a:solidFill>
              <a:srgbClr val="C0392B"/>
            </a:solidFill>
            <a:prstDash val="solid"/>
          </a:ln>
        </p:spPr>
      </p:sp>
      <p:sp>
        <p:nvSpPr>
          <p:cNvPr id="53" name="Text 51"/>
          <p:cNvSpPr/>
          <p:nvPr/>
        </p:nvSpPr>
        <p:spPr>
          <a:xfrm>
            <a:off x="5989320" y="4791456"/>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NES −1.8</a:t>
            </a:r>
            <a:endParaRPr lang="en-US" sz="850" dirty="0"/>
          </a:p>
        </p:txBody>
      </p:sp>
      <p:sp>
        <p:nvSpPr>
          <p:cNvPr id="54" name="Text 52"/>
          <p:cNvSpPr/>
          <p:nvPr/>
        </p:nvSpPr>
        <p:spPr>
          <a:xfrm>
            <a:off x="7059168" y="4791456"/>
            <a:ext cx="2286000" cy="292608"/>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DNA repair</a:t>
            </a:r>
            <a:endParaRPr lang="en-US" sz="950" dirty="0"/>
          </a:p>
        </p:txBody>
      </p:sp>
      <p:sp>
        <p:nvSpPr>
          <p:cNvPr id="55" name="Text 53"/>
          <p:cNvSpPr/>
          <p:nvPr/>
        </p:nvSpPr>
        <p:spPr>
          <a:xfrm>
            <a:off x="9372600" y="4791456"/>
            <a:ext cx="2423160" cy="29260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Downregulated in acute phase</a:t>
            </a:r>
            <a:endParaRPr lang="en-US" sz="900" dirty="0"/>
          </a:p>
        </p:txBody>
      </p:sp>
      <p:sp>
        <p:nvSpPr>
          <p:cNvPr id="56" name="Shape 54"/>
          <p:cNvSpPr/>
          <p:nvPr/>
        </p:nvSpPr>
        <p:spPr>
          <a:xfrm>
            <a:off x="5989320" y="5221224"/>
            <a:ext cx="1005840" cy="292608"/>
          </a:xfrm>
          <a:prstGeom prst="rect">
            <a:avLst/>
          </a:prstGeom>
          <a:solidFill>
            <a:srgbClr val="C0392B"/>
          </a:solidFill>
          <a:ln w="12700">
            <a:solidFill>
              <a:srgbClr val="C0392B"/>
            </a:solidFill>
            <a:prstDash val="solid"/>
          </a:ln>
        </p:spPr>
      </p:sp>
      <p:sp>
        <p:nvSpPr>
          <p:cNvPr id="57" name="Text 55"/>
          <p:cNvSpPr/>
          <p:nvPr/>
        </p:nvSpPr>
        <p:spPr>
          <a:xfrm>
            <a:off x="5989320" y="5221224"/>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NES −2.0</a:t>
            </a:r>
            <a:endParaRPr lang="en-US" sz="850" dirty="0"/>
          </a:p>
        </p:txBody>
      </p:sp>
      <p:sp>
        <p:nvSpPr>
          <p:cNvPr id="58" name="Text 56"/>
          <p:cNvSpPr/>
          <p:nvPr/>
        </p:nvSpPr>
        <p:spPr>
          <a:xfrm>
            <a:off x="7059168" y="5221224"/>
            <a:ext cx="2286000" cy="292608"/>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T cell differentiation</a:t>
            </a:r>
            <a:endParaRPr lang="en-US" sz="950" dirty="0"/>
          </a:p>
        </p:txBody>
      </p:sp>
      <p:sp>
        <p:nvSpPr>
          <p:cNvPr id="59" name="Text 57"/>
          <p:cNvSpPr/>
          <p:nvPr/>
        </p:nvSpPr>
        <p:spPr>
          <a:xfrm>
            <a:off x="9372600" y="5221224"/>
            <a:ext cx="2423160" cy="29260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Adaptive immunity suppressed</a:t>
            </a:r>
            <a:endParaRPr lang="en-US" sz="900" dirty="0"/>
          </a:p>
        </p:txBody>
      </p:sp>
      <p:sp>
        <p:nvSpPr>
          <p:cNvPr id="60" name="Shape 58"/>
          <p:cNvSpPr/>
          <p:nvPr/>
        </p:nvSpPr>
        <p:spPr>
          <a:xfrm>
            <a:off x="5989320" y="5650992"/>
            <a:ext cx="1005840" cy="292608"/>
          </a:xfrm>
          <a:prstGeom prst="rect">
            <a:avLst/>
          </a:prstGeom>
          <a:solidFill>
            <a:srgbClr val="C0392B"/>
          </a:solidFill>
          <a:ln w="12700">
            <a:solidFill>
              <a:srgbClr val="C0392B"/>
            </a:solidFill>
            <a:prstDash val="solid"/>
          </a:ln>
        </p:spPr>
      </p:sp>
      <p:sp>
        <p:nvSpPr>
          <p:cNvPr id="61" name="Text 59"/>
          <p:cNvSpPr/>
          <p:nvPr/>
        </p:nvSpPr>
        <p:spPr>
          <a:xfrm>
            <a:off x="5989320" y="5650992"/>
            <a:ext cx="100584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NES −2.2</a:t>
            </a:r>
            <a:endParaRPr lang="en-US" sz="850" dirty="0"/>
          </a:p>
        </p:txBody>
      </p:sp>
      <p:sp>
        <p:nvSpPr>
          <p:cNvPr id="62" name="Text 60"/>
          <p:cNvSpPr/>
          <p:nvPr/>
        </p:nvSpPr>
        <p:spPr>
          <a:xfrm>
            <a:off x="7059168" y="5650992"/>
            <a:ext cx="2286000" cy="292608"/>
          </a:xfrm>
          <a:prstGeom prst="rect">
            <a:avLst/>
          </a:prstGeom>
          <a:noFill/>
          <a:ln/>
        </p:spPr>
        <p:txBody>
          <a:bodyPr wrap="square" lIns="0" tIns="0" rIns="0" bIns="0" rtlCol="0" anchor="ctr"/>
          <a:lstStyle/>
          <a:p>
            <a:pPr indent="0" marL="0">
              <a:buNone/>
            </a:pPr>
            <a:r>
              <a:rPr lang="en-US" sz="950" b="1" dirty="0">
                <a:solidFill>
                  <a:srgbClr val="1E293B"/>
                </a:solidFill>
                <a:latin typeface="Calibri" pitchFamily="34" charset="0"/>
                <a:ea typeface="Calibri" pitchFamily="34" charset="-122"/>
                <a:cs typeface="Calibri" pitchFamily="34" charset="-120"/>
              </a:rPr>
              <a:t>B cell activation</a:t>
            </a:r>
            <a:endParaRPr lang="en-US" sz="950" dirty="0"/>
          </a:p>
        </p:txBody>
      </p:sp>
      <p:sp>
        <p:nvSpPr>
          <p:cNvPr id="63" name="Text 61"/>
          <p:cNvSpPr/>
          <p:nvPr/>
        </p:nvSpPr>
        <p:spPr>
          <a:xfrm>
            <a:off x="9372600" y="5650992"/>
            <a:ext cx="2423160" cy="29260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Lymphocyte suppression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B2545"/>
          </a:solidFill>
          <a:ln w="12700">
            <a:solidFill>
              <a:srgbClr val="0B2545"/>
            </a:solidFill>
            <a:prstDash val="solid"/>
          </a:ln>
        </p:spPr>
      </p:sp>
      <p:sp>
        <p:nvSpPr>
          <p:cNvPr id="3" name="Text 1"/>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4" name="Text 2"/>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18 / 22</a:t>
            </a:r>
            <a:endParaRPr lang="en-US" sz="750" dirty="0"/>
          </a:p>
        </p:txBody>
      </p:sp>
      <p:sp>
        <p:nvSpPr>
          <p:cNvPr id="5" name="Text 3"/>
          <p:cNvSpPr/>
          <p:nvPr/>
        </p:nvSpPr>
        <p:spPr>
          <a:xfrm>
            <a:off x="365760" y="137160"/>
            <a:ext cx="10972800" cy="5943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Discussion</a:t>
            </a:r>
            <a:endParaRPr lang="en-US" sz="2800" dirty="0"/>
          </a:p>
        </p:txBody>
      </p:sp>
      <p:sp>
        <p:nvSpPr>
          <p:cNvPr id="6" name="Text 4"/>
          <p:cNvSpPr/>
          <p:nvPr/>
        </p:nvSpPr>
        <p:spPr>
          <a:xfrm>
            <a:off x="365760" y="713232"/>
            <a:ext cx="10972800" cy="347472"/>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Connecting Findings to the Stroke Biology Literature</a:t>
            </a:r>
            <a:endParaRPr lang="en-US" sz="1300" dirty="0"/>
          </a:p>
        </p:txBody>
      </p:sp>
      <p:sp>
        <p:nvSpPr>
          <p:cNvPr id="7" name="Shape 5"/>
          <p:cNvSpPr/>
          <p:nvPr/>
        </p:nvSpPr>
        <p:spPr>
          <a:xfrm>
            <a:off x="274320" y="1188720"/>
            <a:ext cx="5669280" cy="2377440"/>
          </a:xfrm>
          <a:prstGeom prst="rect">
            <a:avLst/>
          </a:prstGeom>
          <a:solidFill>
            <a:srgbClr val="112B50"/>
          </a:solidFill>
          <a:ln w="12700">
            <a:solidFill>
              <a:srgbClr val="1368AA"/>
            </a:solidFill>
            <a:prstDash val="solid"/>
          </a:ln>
        </p:spPr>
      </p:sp>
      <p:sp>
        <p:nvSpPr>
          <p:cNvPr id="8" name="Shape 6"/>
          <p:cNvSpPr/>
          <p:nvPr/>
        </p:nvSpPr>
        <p:spPr>
          <a:xfrm>
            <a:off x="274320" y="1188720"/>
            <a:ext cx="5669280" cy="438912"/>
          </a:xfrm>
          <a:prstGeom prst="rect">
            <a:avLst/>
          </a:prstGeom>
          <a:solidFill>
            <a:srgbClr val="1368AA"/>
          </a:solidFill>
          <a:ln w="12700">
            <a:solidFill>
              <a:srgbClr val="1368AA"/>
            </a:solidFill>
            <a:prstDash val="solid"/>
          </a:ln>
        </p:spPr>
      </p:sp>
      <p:sp>
        <p:nvSpPr>
          <p:cNvPr id="9" name="Text 7"/>
          <p:cNvSpPr/>
          <p:nvPr/>
        </p:nvSpPr>
        <p:spPr>
          <a:xfrm>
            <a:off x="365760" y="1188720"/>
            <a:ext cx="5486400" cy="43891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4.1  Magnitude of Response</a:t>
            </a:r>
            <a:endParaRPr lang="en-US" sz="1200" dirty="0"/>
          </a:p>
        </p:txBody>
      </p:sp>
      <p:sp>
        <p:nvSpPr>
          <p:cNvPr id="10" name="Text 8"/>
          <p:cNvSpPr/>
          <p:nvPr/>
        </p:nvSpPr>
        <p:spPr>
          <a:xfrm>
            <a:off x="411480" y="1691640"/>
            <a:ext cx="5394960" cy="178308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8,594 DEGs exceeds typical LPS stimulation (2,000–4,000 DEGs). Multiple simultaneous insults converge: ischemia-induced DAMPs, coagulation activation, rapid neutrophil/monocyte mobilization. Consistent with prior stroke transcriptomic studies reporting large-scale changes within hours of onset.</a:t>
            </a:r>
            <a:endParaRPr lang="en-US" sz="1000" dirty="0"/>
          </a:p>
        </p:txBody>
      </p:sp>
      <p:sp>
        <p:nvSpPr>
          <p:cNvPr id="11" name="Shape 9"/>
          <p:cNvSpPr/>
          <p:nvPr/>
        </p:nvSpPr>
        <p:spPr>
          <a:xfrm>
            <a:off x="274320" y="3794760"/>
            <a:ext cx="5669280" cy="2377440"/>
          </a:xfrm>
          <a:prstGeom prst="rect">
            <a:avLst/>
          </a:prstGeom>
          <a:solidFill>
            <a:srgbClr val="112B50"/>
          </a:solidFill>
          <a:ln w="12700">
            <a:solidFill>
              <a:srgbClr val="0D7377"/>
            </a:solidFill>
            <a:prstDash val="solid"/>
          </a:ln>
        </p:spPr>
      </p:sp>
      <p:sp>
        <p:nvSpPr>
          <p:cNvPr id="12" name="Shape 10"/>
          <p:cNvSpPr/>
          <p:nvPr/>
        </p:nvSpPr>
        <p:spPr>
          <a:xfrm>
            <a:off x="274320" y="3794760"/>
            <a:ext cx="5669280" cy="438912"/>
          </a:xfrm>
          <a:prstGeom prst="rect">
            <a:avLst/>
          </a:prstGeom>
          <a:solidFill>
            <a:srgbClr val="0D7377"/>
          </a:solidFill>
          <a:ln w="12700">
            <a:solidFill>
              <a:srgbClr val="0D7377"/>
            </a:solidFill>
            <a:prstDash val="solid"/>
          </a:ln>
        </p:spPr>
      </p:sp>
      <p:sp>
        <p:nvSpPr>
          <p:cNvPr id="13" name="Text 11"/>
          <p:cNvSpPr/>
          <p:nvPr/>
        </p:nvSpPr>
        <p:spPr>
          <a:xfrm>
            <a:off x="365760" y="3794760"/>
            <a:ext cx="5486400" cy="43891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4.2  Ribosomal Signature of Immune Activation</a:t>
            </a:r>
            <a:endParaRPr lang="en-US" sz="1200" dirty="0"/>
          </a:p>
        </p:txBody>
      </p:sp>
      <p:sp>
        <p:nvSpPr>
          <p:cNvPr id="14" name="Text 12"/>
          <p:cNvSpPr/>
          <p:nvPr/>
        </p:nvSpPr>
        <p:spPr>
          <a:xfrm>
            <a:off x="411480" y="4297680"/>
            <a:ext cx="5394960" cy="178308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Ribosomal protein upregulation is a well-established signature of monocyte activation. Cells transitioning from resting to activated state dramatically upregulate translational machinery to produce cytokines, receptors, and effectors. Reported in sepsis and trauma — conditions sharing the 'systemic alarm' with stroke.</a:t>
            </a:r>
            <a:endParaRPr lang="en-US" sz="1000" dirty="0"/>
          </a:p>
        </p:txBody>
      </p:sp>
      <p:sp>
        <p:nvSpPr>
          <p:cNvPr id="15" name="Shape 13"/>
          <p:cNvSpPr/>
          <p:nvPr/>
        </p:nvSpPr>
        <p:spPr>
          <a:xfrm>
            <a:off x="6217920" y="1188720"/>
            <a:ext cx="5669280" cy="2377440"/>
          </a:xfrm>
          <a:prstGeom prst="rect">
            <a:avLst/>
          </a:prstGeom>
          <a:solidFill>
            <a:srgbClr val="112B50"/>
          </a:solidFill>
          <a:ln w="12700">
            <a:solidFill>
              <a:srgbClr val="F2A900"/>
            </a:solidFill>
            <a:prstDash val="solid"/>
          </a:ln>
        </p:spPr>
      </p:sp>
      <p:sp>
        <p:nvSpPr>
          <p:cNvPr id="16" name="Shape 14"/>
          <p:cNvSpPr/>
          <p:nvPr/>
        </p:nvSpPr>
        <p:spPr>
          <a:xfrm>
            <a:off x="6217920" y="1188720"/>
            <a:ext cx="5669280" cy="438912"/>
          </a:xfrm>
          <a:prstGeom prst="rect">
            <a:avLst/>
          </a:prstGeom>
          <a:solidFill>
            <a:srgbClr val="F2A900"/>
          </a:solidFill>
          <a:ln w="12700">
            <a:solidFill>
              <a:srgbClr val="F2A900"/>
            </a:solidFill>
            <a:prstDash val="solid"/>
          </a:ln>
        </p:spPr>
      </p:sp>
      <p:sp>
        <p:nvSpPr>
          <p:cNvPr id="17" name="Text 15"/>
          <p:cNvSpPr/>
          <p:nvPr/>
        </p:nvSpPr>
        <p:spPr>
          <a:xfrm>
            <a:off x="6309360" y="1188720"/>
            <a:ext cx="5486400" cy="43891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4.3  PPBP Downregulation — Platelet Biology</a:t>
            </a:r>
            <a:endParaRPr lang="en-US" sz="1200" dirty="0"/>
          </a:p>
        </p:txBody>
      </p:sp>
      <p:sp>
        <p:nvSpPr>
          <p:cNvPr id="18" name="Text 16"/>
          <p:cNvSpPr/>
          <p:nvPr/>
        </p:nvSpPr>
        <p:spPr>
          <a:xfrm>
            <a:off x="6355080" y="1691640"/>
            <a:ext cx="5394960" cy="178308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PPBP (CXCL7, LFC=−4.69) is the most strongly downregulated gene. As a platelet alpha-granule chemokine that recruits neutrophils, its depletion likely reflects: platelet consumption at thrombus, altered platelet-monocyte crosstalk, or negative feedback suppressing runaway inflammation. RGS18 (platelet regulator, LFC=−3.2) supports the same theme.</a:t>
            </a:r>
            <a:endParaRPr lang="en-US" sz="1000" dirty="0"/>
          </a:p>
        </p:txBody>
      </p:sp>
      <p:sp>
        <p:nvSpPr>
          <p:cNvPr id="19" name="Shape 17"/>
          <p:cNvSpPr/>
          <p:nvPr/>
        </p:nvSpPr>
        <p:spPr>
          <a:xfrm>
            <a:off x="6217920" y="3794760"/>
            <a:ext cx="5669280" cy="2377440"/>
          </a:xfrm>
          <a:prstGeom prst="rect">
            <a:avLst/>
          </a:prstGeom>
          <a:solidFill>
            <a:srgbClr val="112B50"/>
          </a:solidFill>
          <a:ln w="12700">
            <a:solidFill>
              <a:srgbClr val="C0392B"/>
            </a:solidFill>
            <a:prstDash val="solid"/>
          </a:ln>
        </p:spPr>
      </p:sp>
      <p:sp>
        <p:nvSpPr>
          <p:cNvPr id="20" name="Shape 18"/>
          <p:cNvSpPr/>
          <p:nvPr/>
        </p:nvSpPr>
        <p:spPr>
          <a:xfrm>
            <a:off x="6217920" y="3794760"/>
            <a:ext cx="5669280" cy="438912"/>
          </a:xfrm>
          <a:prstGeom prst="rect">
            <a:avLst/>
          </a:prstGeom>
          <a:solidFill>
            <a:srgbClr val="C0392B"/>
          </a:solidFill>
          <a:ln w="12700">
            <a:solidFill>
              <a:srgbClr val="C0392B"/>
            </a:solidFill>
            <a:prstDash val="solid"/>
          </a:ln>
        </p:spPr>
      </p:sp>
      <p:sp>
        <p:nvSpPr>
          <p:cNvPr id="21" name="Text 19"/>
          <p:cNvSpPr/>
          <p:nvPr/>
        </p:nvSpPr>
        <p:spPr>
          <a:xfrm>
            <a:off x="6309360" y="3794760"/>
            <a:ext cx="5486400" cy="43891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4.4  Rapid Resolution &amp; PIDS</a:t>
            </a:r>
            <a:endParaRPr lang="en-US" sz="1200" dirty="0"/>
          </a:p>
        </p:txBody>
      </p:sp>
      <p:sp>
        <p:nvSpPr>
          <p:cNvPr id="22" name="Text 20"/>
          <p:cNvSpPr/>
          <p:nvPr/>
        </p:nvSpPr>
        <p:spPr>
          <a:xfrm>
            <a:off x="6355080" y="4297680"/>
            <a:ext cx="5394960" cy="178308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The collapse from 8,594 → 60 DEGs in 24h reflects homeostatic immune resolution — DUSP2/DUSP8 upregulation actively suppresses MAP kinase signaling. Clinically, this connects to Post-Stroke Immunodepression Syndrome (PIDS): after initial alarm, profound immune suppression increases susceptibility to pneumonia and UTIs, worsening outcomes.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64748B"/>
          </a:solidFill>
          <a:ln w="12700">
            <a:solidFill>
              <a:srgbClr val="64748B"/>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LIMITATIONS &amp; FUTURE DIRECTIONS</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19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300" b="1" dirty="0">
                <a:solidFill>
                  <a:srgbClr val="0B2545"/>
                </a:solidFill>
                <a:latin typeface="Calibri" pitchFamily="34" charset="0"/>
                <a:ea typeface="Calibri" pitchFamily="34" charset="-122"/>
                <a:cs typeface="Calibri" pitchFamily="34" charset="-120"/>
              </a:rPr>
              <a:t>Limitations &amp; Future Directions</a:t>
            </a:r>
            <a:endParaRPr lang="en-US" sz="2300" dirty="0"/>
          </a:p>
        </p:txBody>
      </p:sp>
      <p:sp>
        <p:nvSpPr>
          <p:cNvPr id="8" name="Shape 6"/>
          <p:cNvSpPr/>
          <p:nvPr/>
        </p:nvSpPr>
        <p:spPr>
          <a:xfrm>
            <a:off x="274320" y="1261872"/>
            <a:ext cx="5669280" cy="160020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274320" y="1261872"/>
            <a:ext cx="5669280" cy="347472"/>
          </a:xfrm>
          <a:prstGeom prst="rect">
            <a:avLst/>
          </a:prstGeom>
          <a:solidFill>
            <a:srgbClr val="C0392B"/>
          </a:solidFill>
          <a:ln w="12700">
            <a:solidFill>
              <a:srgbClr val="C0392B"/>
            </a:solidFill>
            <a:prstDash val="solid"/>
          </a:ln>
        </p:spPr>
      </p:sp>
      <p:sp>
        <p:nvSpPr>
          <p:cNvPr id="10" name="Text 8"/>
          <p:cNvSpPr/>
          <p:nvPr/>
        </p:nvSpPr>
        <p:spPr>
          <a:xfrm>
            <a:off x="347472" y="1261872"/>
            <a:ext cx="54864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Small Sample Size (n=5)</a:t>
            </a:r>
            <a:endParaRPr lang="en-US" sz="1100" dirty="0"/>
          </a:p>
        </p:txBody>
      </p:sp>
      <p:sp>
        <p:nvSpPr>
          <p:cNvPr id="11" name="Text 9"/>
          <p:cNvSpPr/>
          <p:nvPr/>
        </p:nvSpPr>
        <p:spPr>
          <a:xfrm>
            <a:off x="365760" y="1645920"/>
            <a:ext cx="5486400" cy="749808"/>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Statistical power is limited. Some true biological differences may be missed (false negatives). Results require validation in a larger cohort (n≥20 per group).</a:t>
            </a:r>
            <a:endParaRPr lang="en-US" sz="950" dirty="0"/>
          </a:p>
        </p:txBody>
      </p:sp>
      <p:sp>
        <p:nvSpPr>
          <p:cNvPr id="12" name="Text 10"/>
          <p:cNvSpPr/>
          <p:nvPr/>
        </p:nvSpPr>
        <p:spPr>
          <a:xfrm>
            <a:off x="365760" y="2450592"/>
            <a:ext cx="5486400" cy="347472"/>
          </a:xfrm>
          <a:prstGeom prst="rect">
            <a:avLst/>
          </a:prstGeom>
          <a:noFill/>
          <a:ln/>
        </p:spPr>
        <p:txBody>
          <a:bodyPr wrap="square" lIns="0" tIns="0" rIns="0" bIns="0" rtlCol="0" anchor="t"/>
          <a:lstStyle/>
          <a:p>
            <a:pPr indent="0" marL="0">
              <a:buNone/>
            </a:pPr>
            <a:r>
              <a:rPr lang="en-US" sz="950" b="1" dirty="0">
                <a:solidFill>
                  <a:srgbClr val="C0392B"/>
                </a:solidFill>
                <a:latin typeface="Calibri" pitchFamily="34" charset="0"/>
                <a:ea typeface="Calibri" pitchFamily="34" charset="-122"/>
                <a:cs typeface="Calibri" pitchFamily="34" charset="-120"/>
              </a:rPr>
              <a:t>→ Future: </a:t>
            </a:r>
            <a:pPr indent="0" marL="0">
              <a:buNone/>
            </a:pPr>
            <a:r>
              <a:rPr lang="en-US" sz="950" dirty="0">
                <a:solidFill>
                  <a:srgbClr val="1E293B"/>
                </a:solidFill>
                <a:latin typeface="Calibri" pitchFamily="34" charset="0"/>
                <a:ea typeface="Calibri" pitchFamily="34" charset="-122"/>
                <a:cs typeface="Calibri" pitchFamily="34" charset="-120"/>
              </a:rPr>
              <a:t>Meta-analysis combining multiple stroke transcriptome datasets.</a:t>
            </a:r>
            <a:endParaRPr lang="en-US" sz="950" dirty="0"/>
          </a:p>
        </p:txBody>
      </p:sp>
      <p:sp>
        <p:nvSpPr>
          <p:cNvPr id="13" name="Shape 11"/>
          <p:cNvSpPr/>
          <p:nvPr/>
        </p:nvSpPr>
        <p:spPr>
          <a:xfrm>
            <a:off x="274320" y="3017520"/>
            <a:ext cx="5669280" cy="1600200"/>
          </a:xfrm>
          <a:prstGeom prst="rect">
            <a:avLst/>
          </a:prstGeom>
          <a:solidFill>
            <a:srgbClr val="FFFFFF"/>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274320" y="3017520"/>
            <a:ext cx="5669280" cy="347472"/>
          </a:xfrm>
          <a:prstGeom prst="rect">
            <a:avLst/>
          </a:prstGeom>
          <a:solidFill>
            <a:srgbClr val="C0392B"/>
          </a:solidFill>
          <a:ln w="12700">
            <a:solidFill>
              <a:srgbClr val="C0392B"/>
            </a:solidFill>
            <a:prstDash val="solid"/>
          </a:ln>
        </p:spPr>
      </p:sp>
      <p:sp>
        <p:nvSpPr>
          <p:cNvPr id="15" name="Text 13"/>
          <p:cNvSpPr/>
          <p:nvPr/>
        </p:nvSpPr>
        <p:spPr>
          <a:xfrm>
            <a:off x="347472" y="3017520"/>
            <a:ext cx="54864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Cross-Sectional Design</a:t>
            </a:r>
            <a:endParaRPr lang="en-US" sz="1100" dirty="0"/>
          </a:p>
        </p:txBody>
      </p:sp>
      <p:sp>
        <p:nvSpPr>
          <p:cNvPr id="16" name="Text 14"/>
          <p:cNvSpPr/>
          <p:nvPr/>
        </p:nvSpPr>
        <p:spPr>
          <a:xfrm>
            <a:off x="365760" y="3401568"/>
            <a:ext cx="5486400" cy="749808"/>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Different patients at Day 1 vs Day 2 (not same patients longitudinally). Limits causal inference — we cannot track individual immune trajectories.</a:t>
            </a:r>
            <a:endParaRPr lang="en-US" sz="950" dirty="0"/>
          </a:p>
        </p:txBody>
      </p:sp>
      <p:sp>
        <p:nvSpPr>
          <p:cNvPr id="17" name="Text 15"/>
          <p:cNvSpPr/>
          <p:nvPr/>
        </p:nvSpPr>
        <p:spPr>
          <a:xfrm>
            <a:off x="365760" y="4206240"/>
            <a:ext cx="5486400" cy="347472"/>
          </a:xfrm>
          <a:prstGeom prst="rect">
            <a:avLst/>
          </a:prstGeom>
          <a:noFill/>
          <a:ln/>
        </p:spPr>
        <p:txBody>
          <a:bodyPr wrap="square" lIns="0" tIns="0" rIns="0" bIns="0" rtlCol="0" anchor="t"/>
          <a:lstStyle/>
          <a:p>
            <a:pPr indent="0" marL="0">
              <a:buNone/>
            </a:pPr>
            <a:r>
              <a:rPr lang="en-US" sz="950" b="1" dirty="0">
                <a:solidFill>
                  <a:srgbClr val="C0392B"/>
                </a:solidFill>
                <a:latin typeface="Calibri" pitchFamily="34" charset="0"/>
                <a:ea typeface="Calibri" pitchFamily="34" charset="-122"/>
                <a:cs typeface="Calibri" pitchFamily="34" charset="-120"/>
              </a:rPr>
              <a:t>→ Future: </a:t>
            </a:r>
            <a:pPr indent="0" marL="0">
              <a:buNone/>
            </a:pPr>
            <a:r>
              <a:rPr lang="en-US" sz="950" dirty="0">
                <a:solidFill>
                  <a:srgbClr val="1E293B"/>
                </a:solidFill>
                <a:latin typeface="Calibri" pitchFamily="34" charset="0"/>
                <a:ea typeface="Calibri" pitchFamily="34" charset="-122"/>
                <a:cs typeface="Calibri" pitchFamily="34" charset="-120"/>
              </a:rPr>
              <a:t>Longitudinal sampling of the same patients at Days 1, 2, 3, 7, 30.</a:t>
            </a:r>
            <a:endParaRPr lang="en-US" sz="950" dirty="0"/>
          </a:p>
        </p:txBody>
      </p:sp>
      <p:sp>
        <p:nvSpPr>
          <p:cNvPr id="18" name="Shape 16"/>
          <p:cNvSpPr/>
          <p:nvPr/>
        </p:nvSpPr>
        <p:spPr>
          <a:xfrm>
            <a:off x="274320" y="4773168"/>
            <a:ext cx="5669280" cy="1600200"/>
          </a:xfrm>
          <a:prstGeom prst="rect">
            <a:avLst/>
          </a:prstGeom>
          <a:solidFill>
            <a:srgbClr val="FFFFFF"/>
          </a:solidFill>
          <a:ln w="12700">
            <a:solidFill>
              <a:srgbClr val="F59E0B"/>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274320" y="4773168"/>
            <a:ext cx="5669280" cy="347472"/>
          </a:xfrm>
          <a:prstGeom prst="rect">
            <a:avLst/>
          </a:prstGeom>
          <a:solidFill>
            <a:srgbClr val="F59E0B"/>
          </a:solidFill>
          <a:ln w="12700">
            <a:solidFill>
              <a:srgbClr val="F59E0B"/>
            </a:solidFill>
            <a:prstDash val="solid"/>
          </a:ln>
        </p:spPr>
      </p:sp>
      <p:sp>
        <p:nvSpPr>
          <p:cNvPr id="20" name="Text 18"/>
          <p:cNvSpPr/>
          <p:nvPr/>
        </p:nvSpPr>
        <p:spPr>
          <a:xfrm>
            <a:off x="347472" y="4773168"/>
            <a:ext cx="54864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PBMC Heterogeneity</a:t>
            </a:r>
            <a:endParaRPr lang="en-US" sz="1100" dirty="0"/>
          </a:p>
        </p:txBody>
      </p:sp>
      <p:sp>
        <p:nvSpPr>
          <p:cNvPr id="21" name="Text 19"/>
          <p:cNvSpPr/>
          <p:nvPr/>
        </p:nvSpPr>
        <p:spPr>
          <a:xfrm>
            <a:off x="365760" y="5157216"/>
            <a:ext cx="5486400" cy="749808"/>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PBMCs contain monocytes, T cells, B cells, and NK cells. Our findings represent averaged expression across this mixture — masking cell-type-specific changes.</a:t>
            </a:r>
            <a:endParaRPr lang="en-US" sz="950" dirty="0"/>
          </a:p>
        </p:txBody>
      </p:sp>
      <p:sp>
        <p:nvSpPr>
          <p:cNvPr id="22" name="Text 20"/>
          <p:cNvSpPr/>
          <p:nvPr/>
        </p:nvSpPr>
        <p:spPr>
          <a:xfrm>
            <a:off x="365760" y="5961888"/>
            <a:ext cx="5486400" cy="347472"/>
          </a:xfrm>
          <a:prstGeom prst="rect">
            <a:avLst/>
          </a:prstGeom>
          <a:noFill/>
          <a:ln/>
        </p:spPr>
        <p:txBody>
          <a:bodyPr wrap="square" lIns="0" tIns="0" rIns="0" bIns="0" rtlCol="0" anchor="t"/>
          <a:lstStyle/>
          <a:p>
            <a:pPr indent="0" marL="0">
              <a:buNone/>
            </a:pPr>
            <a:r>
              <a:rPr lang="en-US" sz="950" b="1" dirty="0">
                <a:solidFill>
                  <a:srgbClr val="F59E0B"/>
                </a:solidFill>
                <a:latin typeface="Calibri" pitchFamily="34" charset="0"/>
                <a:ea typeface="Calibri" pitchFamily="34" charset="-122"/>
                <a:cs typeface="Calibri" pitchFamily="34" charset="-120"/>
              </a:rPr>
              <a:t>→ Future: </a:t>
            </a:r>
            <a:pPr indent="0" marL="0">
              <a:buNone/>
            </a:pPr>
            <a:r>
              <a:rPr lang="en-US" sz="950" dirty="0">
                <a:solidFill>
                  <a:srgbClr val="1E293B"/>
                </a:solidFill>
                <a:latin typeface="Calibri" pitchFamily="34" charset="0"/>
                <a:ea typeface="Calibri" pitchFamily="34" charset="-122"/>
                <a:cs typeface="Calibri" pitchFamily="34" charset="-120"/>
              </a:rPr>
              <a:t>Single-cell RNA-seq (scRNA-seq) to resolve cell-type-specific responses.</a:t>
            </a:r>
            <a:endParaRPr lang="en-US" sz="950" dirty="0"/>
          </a:p>
        </p:txBody>
      </p:sp>
      <p:sp>
        <p:nvSpPr>
          <p:cNvPr id="23" name="Shape 21"/>
          <p:cNvSpPr/>
          <p:nvPr/>
        </p:nvSpPr>
        <p:spPr>
          <a:xfrm>
            <a:off x="6217920" y="1261872"/>
            <a:ext cx="5669280" cy="1600200"/>
          </a:xfrm>
          <a:prstGeom prst="rect">
            <a:avLst/>
          </a:prstGeom>
          <a:solidFill>
            <a:srgbClr val="FFFFFF"/>
          </a:solidFill>
          <a:ln w="12700">
            <a:solidFill>
              <a:srgbClr val="F59E0B"/>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6217920" y="1261872"/>
            <a:ext cx="5669280" cy="347472"/>
          </a:xfrm>
          <a:prstGeom prst="rect">
            <a:avLst/>
          </a:prstGeom>
          <a:solidFill>
            <a:srgbClr val="F59E0B"/>
          </a:solidFill>
          <a:ln w="12700">
            <a:solidFill>
              <a:srgbClr val="F59E0B"/>
            </a:solidFill>
            <a:prstDash val="solid"/>
          </a:ln>
        </p:spPr>
      </p:sp>
      <p:sp>
        <p:nvSpPr>
          <p:cNvPr id="25" name="Text 23"/>
          <p:cNvSpPr/>
          <p:nvPr/>
        </p:nvSpPr>
        <p:spPr>
          <a:xfrm>
            <a:off x="6291072" y="1261872"/>
            <a:ext cx="54864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Read Assignment Rate (34–47%)</a:t>
            </a:r>
            <a:endParaRPr lang="en-US" sz="1100" dirty="0"/>
          </a:p>
        </p:txBody>
      </p:sp>
      <p:sp>
        <p:nvSpPr>
          <p:cNvPr id="26" name="Text 24"/>
          <p:cNvSpPr/>
          <p:nvPr/>
        </p:nvSpPr>
        <p:spPr>
          <a:xfrm>
            <a:off x="6309360" y="1645920"/>
            <a:ext cx="5486400" cy="749808"/>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Below the ideal 60% benchmark due to intronic/intergenic alignment. Consistent within groups, so differential analysis is valid, but absolute quantification is less accurate.</a:t>
            </a:r>
            <a:endParaRPr lang="en-US" sz="950" dirty="0"/>
          </a:p>
        </p:txBody>
      </p:sp>
      <p:sp>
        <p:nvSpPr>
          <p:cNvPr id="27" name="Text 25"/>
          <p:cNvSpPr/>
          <p:nvPr/>
        </p:nvSpPr>
        <p:spPr>
          <a:xfrm>
            <a:off x="6309360" y="2450592"/>
            <a:ext cx="5486400" cy="347472"/>
          </a:xfrm>
          <a:prstGeom prst="rect">
            <a:avLst/>
          </a:prstGeom>
          <a:noFill/>
          <a:ln/>
        </p:spPr>
        <p:txBody>
          <a:bodyPr wrap="square" lIns="0" tIns="0" rIns="0" bIns="0" rtlCol="0" anchor="t"/>
          <a:lstStyle/>
          <a:p>
            <a:pPr indent="0" marL="0">
              <a:buNone/>
            </a:pPr>
            <a:r>
              <a:rPr lang="en-US" sz="950" b="1" dirty="0">
                <a:solidFill>
                  <a:srgbClr val="F59E0B"/>
                </a:solidFill>
                <a:latin typeface="Calibri" pitchFamily="34" charset="0"/>
                <a:ea typeface="Calibri" pitchFamily="34" charset="-122"/>
                <a:cs typeface="Calibri" pitchFamily="34" charset="-120"/>
              </a:rPr>
              <a:t>→ Future: </a:t>
            </a:r>
            <a:pPr indent="0" marL="0">
              <a:buNone/>
            </a:pPr>
            <a:r>
              <a:rPr lang="en-US" sz="950" dirty="0">
                <a:solidFill>
                  <a:srgbClr val="1E293B"/>
                </a:solidFill>
                <a:latin typeface="Calibri" pitchFamily="34" charset="0"/>
                <a:ea typeface="Calibri" pitchFamily="34" charset="-122"/>
                <a:cs typeface="Calibri" pitchFamily="34" charset="-120"/>
              </a:rPr>
              <a:t>Use RNA-seq with transcript-guided alignment (STAR + StringTie).</a:t>
            </a:r>
            <a:endParaRPr lang="en-US" sz="950" dirty="0"/>
          </a:p>
        </p:txBody>
      </p:sp>
      <p:sp>
        <p:nvSpPr>
          <p:cNvPr id="28" name="Shape 26"/>
          <p:cNvSpPr/>
          <p:nvPr/>
        </p:nvSpPr>
        <p:spPr>
          <a:xfrm>
            <a:off x="6217920" y="3017520"/>
            <a:ext cx="5669280" cy="1600200"/>
          </a:xfrm>
          <a:prstGeom prst="rect">
            <a:avLst/>
          </a:prstGeom>
          <a:solidFill>
            <a:srgbClr val="FFFFFF"/>
          </a:solidFill>
          <a:ln w="12700">
            <a:solidFill>
              <a:srgbClr val="1368AA"/>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6217920" y="3017520"/>
            <a:ext cx="5669280" cy="347472"/>
          </a:xfrm>
          <a:prstGeom prst="rect">
            <a:avLst/>
          </a:prstGeom>
          <a:solidFill>
            <a:srgbClr val="1368AA"/>
          </a:solidFill>
          <a:ln w="12700">
            <a:solidFill>
              <a:srgbClr val="1368AA"/>
            </a:solidFill>
            <a:prstDash val="solid"/>
          </a:ln>
        </p:spPr>
      </p:sp>
      <p:sp>
        <p:nvSpPr>
          <p:cNvPr id="30" name="Text 28"/>
          <p:cNvSpPr/>
          <p:nvPr/>
        </p:nvSpPr>
        <p:spPr>
          <a:xfrm>
            <a:off x="6291072" y="3017520"/>
            <a:ext cx="54864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Two Timepoints Only</a:t>
            </a:r>
            <a:endParaRPr lang="en-US" sz="1100" dirty="0"/>
          </a:p>
        </p:txBody>
      </p:sp>
      <p:sp>
        <p:nvSpPr>
          <p:cNvPr id="31" name="Text 29"/>
          <p:cNvSpPr/>
          <p:nvPr/>
        </p:nvSpPr>
        <p:spPr>
          <a:xfrm>
            <a:off x="6309360" y="3401568"/>
            <a:ext cx="5486400" cy="749808"/>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Day 1 and Day 2 capture the acute window only. The full temporal trajectory — including Days 3, 7, and 30 — remains unexplored.</a:t>
            </a:r>
            <a:endParaRPr lang="en-US" sz="950" dirty="0"/>
          </a:p>
        </p:txBody>
      </p:sp>
      <p:sp>
        <p:nvSpPr>
          <p:cNvPr id="32" name="Text 30"/>
          <p:cNvSpPr/>
          <p:nvPr/>
        </p:nvSpPr>
        <p:spPr>
          <a:xfrm>
            <a:off x="6309360" y="4206240"/>
            <a:ext cx="5486400" cy="347472"/>
          </a:xfrm>
          <a:prstGeom prst="rect">
            <a:avLst/>
          </a:prstGeom>
          <a:noFill/>
          <a:ln/>
        </p:spPr>
        <p:txBody>
          <a:bodyPr wrap="square" lIns="0" tIns="0" rIns="0" bIns="0" rtlCol="0" anchor="t"/>
          <a:lstStyle/>
          <a:p>
            <a:pPr indent="0" marL="0">
              <a:buNone/>
            </a:pPr>
            <a:r>
              <a:rPr lang="en-US" sz="950" b="1" dirty="0">
                <a:solidFill>
                  <a:srgbClr val="1368AA"/>
                </a:solidFill>
                <a:latin typeface="Calibri" pitchFamily="34" charset="0"/>
                <a:ea typeface="Calibri" pitchFamily="34" charset="-122"/>
                <a:cs typeface="Calibri" pitchFamily="34" charset="-120"/>
              </a:rPr>
              <a:t>→ Future: </a:t>
            </a:r>
            <a:pPr indent="0" marL="0">
              <a:buNone/>
            </a:pPr>
            <a:r>
              <a:rPr lang="en-US" sz="950" dirty="0">
                <a:solidFill>
                  <a:srgbClr val="1E293B"/>
                </a:solidFill>
                <a:latin typeface="Calibri" pitchFamily="34" charset="0"/>
                <a:ea typeface="Calibri" pitchFamily="34" charset="-122"/>
                <a:cs typeface="Calibri" pitchFamily="34" charset="-120"/>
              </a:rPr>
              <a:t>Extended sampling to characterize full immune recovery arc and identify late biomarkers.</a:t>
            </a:r>
            <a:endParaRPr lang="en-US" sz="950" dirty="0"/>
          </a:p>
        </p:txBody>
      </p:sp>
      <p:sp>
        <p:nvSpPr>
          <p:cNvPr id="33" name="Shape 31"/>
          <p:cNvSpPr/>
          <p:nvPr/>
        </p:nvSpPr>
        <p:spPr>
          <a:xfrm>
            <a:off x="6217920" y="4773168"/>
            <a:ext cx="5669280" cy="1600200"/>
          </a:xfrm>
          <a:prstGeom prst="rect">
            <a:avLst/>
          </a:prstGeom>
          <a:solidFill>
            <a:srgbClr val="FFFFFF"/>
          </a:solidFill>
          <a:ln w="12700">
            <a:solidFill>
              <a:srgbClr val="1368AA"/>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6217920" y="4773168"/>
            <a:ext cx="5669280" cy="347472"/>
          </a:xfrm>
          <a:prstGeom prst="rect">
            <a:avLst/>
          </a:prstGeom>
          <a:solidFill>
            <a:srgbClr val="1368AA"/>
          </a:solidFill>
          <a:ln w="12700">
            <a:solidFill>
              <a:srgbClr val="1368AA"/>
            </a:solidFill>
            <a:prstDash val="solid"/>
          </a:ln>
        </p:spPr>
      </p:sp>
      <p:sp>
        <p:nvSpPr>
          <p:cNvPr id="35" name="Text 33"/>
          <p:cNvSpPr/>
          <p:nvPr/>
        </p:nvSpPr>
        <p:spPr>
          <a:xfrm>
            <a:off x="6291072" y="4773168"/>
            <a:ext cx="548640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Stroke Subtype Not Stratified</a:t>
            </a:r>
            <a:endParaRPr lang="en-US" sz="1100" dirty="0"/>
          </a:p>
        </p:txBody>
      </p:sp>
      <p:sp>
        <p:nvSpPr>
          <p:cNvPr id="36" name="Text 34"/>
          <p:cNvSpPr/>
          <p:nvPr/>
        </p:nvSpPr>
        <p:spPr>
          <a:xfrm>
            <a:off x="6309360" y="5157216"/>
            <a:ext cx="5486400" cy="749808"/>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GSE122709 includes all ischemic stroke subtypes (cardioembolic, large artery, lacunar). Different subtypes may have distinct immune signatures.</a:t>
            </a:r>
            <a:endParaRPr lang="en-US" sz="950" dirty="0"/>
          </a:p>
        </p:txBody>
      </p:sp>
      <p:sp>
        <p:nvSpPr>
          <p:cNvPr id="37" name="Text 35"/>
          <p:cNvSpPr/>
          <p:nvPr/>
        </p:nvSpPr>
        <p:spPr>
          <a:xfrm>
            <a:off x="6309360" y="5961888"/>
            <a:ext cx="5486400" cy="347472"/>
          </a:xfrm>
          <a:prstGeom prst="rect">
            <a:avLst/>
          </a:prstGeom>
          <a:noFill/>
          <a:ln/>
        </p:spPr>
        <p:txBody>
          <a:bodyPr wrap="square" lIns="0" tIns="0" rIns="0" bIns="0" rtlCol="0" anchor="t"/>
          <a:lstStyle/>
          <a:p>
            <a:pPr indent="0" marL="0">
              <a:buNone/>
            </a:pPr>
            <a:r>
              <a:rPr lang="en-US" sz="950" b="1" dirty="0">
                <a:solidFill>
                  <a:srgbClr val="1368AA"/>
                </a:solidFill>
                <a:latin typeface="Calibri" pitchFamily="34" charset="0"/>
                <a:ea typeface="Calibri" pitchFamily="34" charset="-122"/>
                <a:cs typeface="Calibri" pitchFamily="34" charset="-120"/>
              </a:rPr>
              <a:t>→ Future: </a:t>
            </a:r>
            <a:pPr indent="0" marL="0">
              <a:buNone/>
            </a:pPr>
            <a:r>
              <a:rPr lang="en-US" sz="950" dirty="0">
                <a:solidFill>
                  <a:srgbClr val="1E293B"/>
                </a:solidFill>
                <a:latin typeface="Calibri" pitchFamily="34" charset="0"/>
                <a:ea typeface="Calibri" pitchFamily="34" charset="-122"/>
                <a:cs typeface="Calibri" pitchFamily="34" charset="-120"/>
              </a:rPr>
              <a:t>Subtype-stratified analysis; validation in subtype-specific cohorts.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6656832"/>
            <a:ext cx="12188952" cy="201168"/>
          </a:xfrm>
          <a:prstGeom prst="rect">
            <a:avLst/>
          </a:prstGeom>
          <a:solidFill>
            <a:srgbClr val="0B2545"/>
          </a:solidFill>
          <a:ln w="12700">
            <a:solidFill>
              <a:srgbClr val="0B2545"/>
            </a:solidFill>
            <a:prstDash val="solid"/>
          </a:ln>
        </p:spPr>
      </p:sp>
      <p:sp>
        <p:nvSpPr>
          <p:cNvPr id="3" name="Text 1"/>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4" name="Text 2"/>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20 / 22</a:t>
            </a:r>
            <a:endParaRPr lang="en-US" sz="750" dirty="0"/>
          </a:p>
        </p:txBody>
      </p:sp>
      <p:sp>
        <p:nvSpPr>
          <p:cNvPr id="5" name="Shape 3"/>
          <p:cNvSpPr/>
          <p:nvPr/>
        </p:nvSpPr>
        <p:spPr>
          <a:xfrm>
            <a:off x="0" y="0"/>
            <a:ext cx="12188952" cy="777240"/>
          </a:xfrm>
          <a:prstGeom prst="rect">
            <a:avLst/>
          </a:prstGeom>
          <a:solidFill>
            <a:srgbClr val="1368AA"/>
          </a:solidFill>
          <a:ln w="12700">
            <a:solidFill>
              <a:srgbClr val="1368AA"/>
            </a:solidFill>
            <a:prstDash val="solid"/>
          </a:ln>
        </p:spPr>
      </p:sp>
      <p:sp>
        <p:nvSpPr>
          <p:cNvPr id="6" name="Text 4"/>
          <p:cNvSpPr/>
          <p:nvPr/>
        </p:nvSpPr>
        <p:spPr>
          <a:xfrm>
            <a:off x="365760" y="0"/>
            <a:ext cx="10972800" cy="7772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Key Conclusions</a:t>
            </a:r>
            <a:endParaRPr lang="en-US" sz="2800" dirty="0"/>
          </a:p>
        </p:txBody>
      </p:sp>
      <p:sp>
        <p:nvSpPr>
          <p:cNvPr id="7" name="Shape 5"/>
          <p:cNvSpPr/>
          <p:nvPr/>
        </p:nvSpPr>
        <p:spPr>
          <a:xfrm>
            <a:off x="274320" y="914400"/>
            <a:ext cx="11612880" cy="960120"/>
          </a:xfrm>
          <a:prstGeom prst="rect">
            <a:avLst/>
          </a:prstGeom>
          <a:solidFill>
            <a:srgbClr val="112B50"/>
          </a:solidFill>
          <a:ln w="12700">
            <a:solidFill>
              <a:srgbClr val="1368AA"/>
            </a:solidFill>
            <a:prstDash val="solid"/>
          </a:ln>
        </p:spPr>
      </p:sp>
      <p:sp>
        <p:nvSpPr>
          <p:cNvPr id="8" name="Shape 6"/>
          <p:cNvSpPr/>
          <p:nvPr/>
        </p:nvSpPr>
        <p:spPr>
          <a:xfrm>
            <a:off x="320040" y="1051560"/>
            <a:ext cx="658368" cy="658368"/>
          </a:xfrm>
          <a:prstGeom prst="oval">
            <a:avLst/>
          </a:prstGeom>
          <a:solidFill>
            <a:srgbClr val="1368AA"/>
          </a:solidFill>
          <a:ln w="12700">
            <a:solidFill>
              <a:srgbClr val="1368AA"/>
            </a:solidFill>
            <a:prstDash val="solid"/>
          </a:ln>
        </p:spPr>
      </p:sp>
      <p:sp>
        <p:nvSpPr>
          <p:cNvPr id="9" name="Text 7"/>
          <p:cNvSpPr/>
          <p:nvPr/>
        </p:nvSpPr>
        <p:spPr>
          <a:xfrm>
            <a:off x="320040" y="105156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1097280" y="960120"/>
            <a:ext cx="5029200" cy="347472"/>
          </a:xfrm>
          <a:prstGeom prst="rect">
            <a:avLst/>
          </a:prstGeom>
          <a:noFill/>
          <a:ln/>
        </p:spPr>
        <p:txBody>
          <a:bodyPr wrap="square" lIns="0" tIns="0" rIns="0" bIns="0" rtlCol="0" anchor="ctr"/>
          <a:lstStyle/>
          <a:p>
            <a:pPr indent="0" marL="0">
              <a:buNone/>
            </a:pPr>
            <a:r>
              <a:rPr lang="en-US" sz="1200" b="1" dirty="0">
                <a:solidFill>
                  <a:srgbClr val="1368AA"/>
                </a:solidFill>
                <a:latin typeface="Calibri" pitchFamily="34" charset="0"/>
                <a:ea typeface="Calibri" pitchFamily="34" charset="-122"/>
                <a:cs typeface="Calibri" pitchFamily="34" charset="-120"/>
              </a:rPr>
              <a:t>Massive Transcriptomic Alarm</a:t>
            </a:r>
            <a:endParaRPr lang="en-US" sz="1200" dirty="0"/>
          </a:p>
        </p:txBody>
      </p:sp>
      <p:sp>
        <p:nvSpPr>
          <p:cNvPr id="11" name="Text 9"/>
          <p:cNvSpPr/>
          <p:nvPr/>
        </p:nvSpPr>
        <p:spPr>
          <a:xfrm>
            <a:off x="1097280" y="1335024"/>
            <a:ext cx="10607040" cy="45720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Acute ischemic stroke triggers 8,594 DEGs in circulating PBMCs — far exceeding typical immune stimulation signatures. The systemic immune response to stroke is extraordinary in scale.</a:t>
            </a:r>
            <a:endParaRPr lang="en-US" sz="1000" dirty="0"/>
          </a:p>
        </p:txBody>
      </p:sp>
      <p:sp>
        <p:nvSpPr>
          <p:cNvPr id="12" name="Shape 10"/>
          <p:cNvSpPr/>
          <p:nvPr/>
        </p:nvSpPr>
        <p:spPr>
          <a:xfrm>
            <a:off x="274320" y="2011680"/>
            <a:ext cx="11612880" cy="960120"/>
          </a:xfrm>
          <a:prstGeom prst="rect">
            <a:avLst/>
          </a:prstGeom>
          <a:solidFill>
            <a:srgbClr val="112B50"/>
          </a:solidFill>
          <a:ln w="12700">
            <a:solidFill>
              <a:srgbClr val="0D7377"/>
            </a:solidFill>
            <a:prstDash val="solid"/>
          </a:ln>
        </p:spPr>
      </p:sp>
      <p:sp>
        <p:nvSpPr>
          <p:cNvPr id="13" name="Shape 11"/>
          <p:cNvSpPr/>
          <p:nvPr/>
        </p:nvSpPr>
        <p:spPr>
          <a:xfrm>
            <a:off x="320040" y="2148840"/>
            <a:ext cx="658368" cy="658368"/>
          </a:xfrm>
          <a:prstGeom prst="oval">
            <a:avLst/>
          </a:prstGeom>
          <a:solidFill>
            <a:srgbClr val="0D7377"/>
          </a:solidFill>
          <a:ln w="12700">
            <a:solidFill>
              <a:srgbClr val="0D7377"/>
            </a:solidFill>
            <a:prstDash val="solid"/>
          </a:ln>
        </p:spPr>
      </p:sp>
      <p:sp>
        <p:nvSpPr>
          <p:cNvPr id="14" name="Text 12"/>
          <p:cNvSpPr/>
          <p:nvPr/>
        </p:nvSpPr>
        <p:spPr>
          <a:xfrm>
            <a:off x="320040" y="214884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1097280" y="2057400"/>
            <a:ext cx="5029200" cy="347472"/>
          </a:xfrm>
          <a:prstGeom prst="rect">
            <a:avLst/>
          </a:prstGeom>
          <a:noFill/>
          <a:ln/>
        </p:spPr>
        <p:txBody>
          <a:bodyPr wrap="square" lIns="0" tIns="0" rIns="0" bIns="0" rtlCol="0" anchor="ctr"/>
          <a:lstStyle/>
          <a:p>
            <a:pPr indent="0" marL="0">
              <a:buNone/>
            </a:pPr>
            <a:r>
              <a:rPr lang="en-US" sz="1200" b="1" dirty="0">
                <a:solidFill>
                  <a:srgbClr val="0D7377"/>
                </a:solidFill>
                <a:latin typeface="Calibri" pitchFamily="34" charset="0"/>
                <a:ea typeface="Calibri" pitchFamily="34" charset="-122"/>
                <a:cs typeface="Calibri" pitchFamily="34" charset="-120"/>
              </a:rPr>
              <a:t>Four Biological Themes</a:t>
            </a:r>
            <a:endParaRPr lang="en-US" sz="1200" dirty="0"/>
          </a:p>
        </p:txBody>
      </p:sp>
      <p:sp>
        <p:nvSpPr>
          <p:cNvPr id="16" name="Text 14"/>
          <p:cNvSpPr/>
          <p:nvPr/>
        </p:nvSpPr>
        <p:spPr>
          <a:xfrm>
            <a:off x="1097280" y="2432304"/>
            <a:ext cx="10607040" cy="45720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The acute response is dominated by: Ribosomal biogenesis (immune activation), NET formation (immunothrombosis), Mitochondrial metabolic reprogramming, and Antimicrobial chemokine release.</a:t>
            </a:r>
            <a:endParaRPr lang="en-US" sz="1000" dirty="0"/>
          </a:p>
        </p:txBody>
      </p:sp>
      <p:sp>
        <p:nvSpPr>
          <p:cNvPr id="17" name="Shape 15"/>
          <p:cNvSpPr/>
          <p:nvPr/>
        </p:nvSpPr>
        <p:spPr>
          <a:xfrm>
            <a:off x="274320" y="3108960"/>
            <a:ext cx="11612880" cy="960120"/>
          </a:xfrm>
          <a:prstGeom prst="rect">
            <a:avLst/>
          </a:prstGeom>
          <a:solidFill>
            <a:srgbClr val="112B50"/>
          </a:solidFill>
          <a:ln w="12700">
            <a:solidFill>
              <a:srgbClr val="F2A900"/>
            </a:solidFill>
            <a:prstDash val="solid"/>
          </a:ln>
        </p:spPr>
      </p:sp>
      <p:sp>
        <p:nvSpPr>
          <p:cNvPr id="18" name="Shape 16"/>
          <p:cNvSpPr/>
          <p:nvPr/>
        </p:nvSpPr>
        <p:spPr>
          <a:xfrm>
            <a:off x="320040" y="3246120"/>
            <a:ext cx="658368" cy="658368"/>
          </a:xfrm>
          <a:prstGeom prst="oval">
            <a:avLst/>
          </a:prstGeom>
          <a:solidFill>
            <a:srgbClr val="F2A900"/>
          </a:solidFill>
          <a:ln w="12700">
            <a:solidFill>
              <a:srgbClr val="F2A900"/>
            </a:solidFill>
            <a:prstDash val="solid"/>
          </a:ln>
        </p:spPr>
      </p:sp>
      <p:sp>
        <p:nvSpPr>
          <p:cNvPr id="19" name="Text 17"/>
          <p:cNvSpPr/>
          <p:nvPr/>
        </p:nvSpPr>
        <p:spPr>
          <a:xfrm>
            <a:off x="320040" y="324612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1097280" y="3154680"/>
            <a:ext cx="5029200" cy="347472"/>
          </a:xfrm>
          <a:prstGeom prst="rect">
            <a:avLst/>
          </a:prstGeom>
          <a:noFill/>
          <a:ln/>
        </p:spPr>
        <p:txBody>
          <a:bodyPr wrap="square" lIns="0" tIns="0" rIns="0" bIns="0" rtlCol="0" anchor="ctr"/>
          <a:lstStyle/>
          <a:p>
            <a:pPr indent="0" marL="0">
              <a:buNone/>
            </a:pPr>
            <a:r>
              <a:rPr lang="en-US" sz="1200" b="1" dirty="0">
                <a:solidFill>
                  <a:srgbClr val="F2A900"/>
                </a:solidFill>
                <a:latin typeface="Calibri" pitchFamily="34" charset="0"/>
                <a:ea typeface="Calibri" pitchFamily="34" charset="-122"/>
                <a:cs typeface="Calibri" pitchFamily="34" charset="-120"/>
              </a:rPr>
              <a:t>Rapid &amp; Largely Transient</a:t>
            </a:r>
            <a:endParaRPr lang="en-US" sz="1200" dirty="0"/>
          </a:p>
        </p:txBody>
      </p:sp>
      <p:sp>
        <p:nvSpPr>
          <p:cNvPr id="21" name="Text 19"/>
          <p:cNvSpPr/>
          <p:nvPr/>
        </p:nvSpPr>
        <p:spPr>
          <a:xfrm>
            <a:off x="1097280" y="3529584"/>
            <a:ext cx="10607040" cy="45720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By Day 2, only 60 genes remain dysregulated — a 143-fold reduction. The acute transcriptomic alarm is physiologically resolved within 24 hours, reflecting normal homeostatic mechanisms.</a:t>
            </a:r>
            <a:endParaRPr lang="en-US" sz="1000" dirty="0"/>
          </a:p>
        </p:txBody>
      </p:sp>
      <p:sp>
        <p:nvSpPr>
          <p:cNvPr id="22" name="Shape 20"/>
          <p:cNvSpPr/>
          <p:nvPr/>
        </p:nvSpPr>
        <p:spPr>
          <a:xfrm>
            <a:off x="274320" y="4206240"/>
            <a:ext cx="11612880" cy="960120"/>
          </a:xfrm>
          <a:prstGeom prst="rect">
            <a:avLst/>
          </a:prstGeom>
          <a:solidFill>
            <a:srgbClr val="112B50"/>
          </a:solidFill>
          <a:ln w="12700">
            <a:solidFill>
              <a:srgbClr val="EF4444"/>
            </a:solidFill>
            <a:prstDash val="solid"/>
          </a:ln>
        </p:spPr>
      </p:sp>
      <p:sp>
        <p:nvSpPr>
          <p:cNvPr id="23" name="Shape 21"/>
          <p:cNvSpPr/>
          <p:nvPr/>
        </p:nvSpPr>
        <p:spPr>
          <a:xfrm>
            <a:off x="320040" y="4343400"/>
            <a:ext cx="658368" cy="658368"/>
          </a:xfrm>
          <a:prstGeom prst="oval">
            <a:avLst/>
          </a:prstGeom>
          <a:solidFill>
            <a:srgbClr val="EF4444"/>
          </a:solidFill>
          <a:ln w="12700">
            <a:solidFill>
              <a:srgbClr val="EF4444"/>
            </a:solidFill>
            <a:prstDash val="solid"/>
          </a:ln>
        </p:spPr>
      </p:sp>
      <p:sp>
        <p:nvSpPr>
          <p:cNvPr id="24" name="Text 22"/>
          <p:cNvSpPr/>
          <p:nvPr/>
        </p:nvSpPr>
        <p:spPr>
          <a:xfrm>
            <a:off x="320040" y="434340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Text 23"/>
          <p:cNvSpPr/>
          <p:nvPr/>
        </p:nvSpPr>
        <p:spPr>
          <a:xfrm>
            <a:off x="1097280" y="4251960"/>
            <a:ext cx="5029200" cy="347472"/>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55 Persistent Biomarker Candidates</a:t>
            </a:r>
            <a:endParaRPr lang="en-US" sz="1200" dirty="0"/>
          </a:p>
        </p:txBody>
      </p:sp>
      <p:sp>
        <p:nvSpPr>
          <p:cNvPr id="26" name="Text 24"/>
          <p:cNvSpPr/>
          <p:nvPr/>
        </p:nvSpPr>
        <p:spPr>
          <a:xfrm>
            <a:off x="1097280" y="4626864"/>
            <a:ext cx="10607040" cy="45720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55 genes maintain altered expression at both timepoints, representing sustained post-stroke immune changes and candidate biomarkers for stroke severity and therapeutic targeting.</a:t>
            </a:r>
            <a:endParaRPr lang="en-US" sz="1000" dirty="0"/>
          </a:p>
        </p:txBody>
      </p:sp>
      <p:sp>
        <p:nvSpPr>
          <p:cNvPr id="27" name="Shape 25"/>
          <p:cNvSpPr/>
          <p:nvPr/>
        </p:nvSpPr>
        <p:spPr>
          <a:xfrm>
            <a:off x="274320" y="5303520"/>
            <a:ext cx="11612880" cy="960120"/>
          </a:xfrm>
          <a:prstGeom prst="rect">
            <a:avLst/>
          </a:prstGeom>
          <a:solidFill>
            <a:srgbClr val="112B50"/>
          </a:solidFill>
          <a:ln w="12700">
            <a:solidFill>
              <a:srgbClr val="00A878"/>
            </a:solidFill>
            <a:prstDash val="solid"/>
          </a:ln>
        </p:spPr>
      </p:sp>
      <p:sp>
        <p:nvSpPr>
          <p:cNvPr id="28" name="Shape 26"/>
          <p:cNvSpPr/>
          <p:nvPr/>
        </p:nvSpPr>
        <p:spPr>
          <a:xfrm>
            <a:off x="320040" y="5440680"/>
            <a:ext cx="658368" cy="658368"/>
          </a:xfrm>
          <a:prstGeom prst="oval">
            <a:avLst/>
          </a:prstGeom>
          <a:solidFill>
            <a:srgbClr val="00A878"/>
          </a:solidFill>
          <a:ln w="12700">
            <a:solidFill>
              <a:srgbClr val="00A878"/>
            </a:solidFill>
            <a:prstDash val="solid"/>
          </a:ln>
        </p:spPr>
      </p:sp>
      <p:sp>
        <p:nvSpPr>
          <p:cNvPr id="29" name="Text 27"/>
          <p:cNvSpPr/>
          <p:nvPr/>
        </p:nvSpPr>
        <p:spPr>
          <a:xfrm>
            <a:off x="320040" y="5440680"/>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0" name="Text 28"/>
          <p:cNvSpPr/>
          <p:nvPr/>
        </p:nvSpPr>
        <p:spPr>
          <a:xfrm>
            <a:off x="1097280" y="5349240"/>
            <a:ext cx="5029200" cy="347472"/>
          </a:xfrm>
          <a:prstGeom prst="rect">
            <a:avLst/>
          </a:prstGeom>
          <a:noFill/>
          <a:ln/>
        </p:spPr>
        <p:txBody>
          <a:bodyPr wrap="square" lIns="0" tIns="0" rIns="0" bIns="0" rtlCol="0" anchor="ctr"/>
          <a:lstStyle/>
          <a:p>
            <a:pPr indent="0" marL="0">
              <a:buNone/>
            </a:pPr>
            <a:r>
              <a:rPr lang="en-US" sz="1200" b="1" dirty="0">
                <a:solidFill>
                  <a:srgbClr val="00A878"/>
                </a:solidFill>
                <a:latin typeface="Calibri" pitchFamily="34" charset="0"/>
                <a:ea typeface="Calibri" pitchFamily="34" charset="-122"/>
                <a:cs typeface="Calibri" pitchFamily="34" charset="-120"/>
              </a:rPr>
              <a:t>Active Immune Resolution at Day 2</a:t>
            </a:r>
            <a:endParaRPr lang="en-US" sz="1200" dirty="0"/>
          </a:p>
        </p:txBody>
      </p:sp>
      <p:sp>
        <p:nvSpPr>
          <p:cNvPr id="31" name="Text 29"/>
          <p:cNvSpPr/>
          <p:nvPr/>
        </p:nvSpPr>
        <p:spPr>
          <a:xfrm>
            <a:off x="1097280" y="5724144"/>
            <a:ext cx="10607040" cy="45720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DUSP2/DUSP8 upregulation signals active MAP kinase suppression at Day 2. The efferocytosis pathway indicates macrophages are clearing immune debris. The immune system is not merely recovering — it is actively suppressing.</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F4FC"/>
        </a:solidFill>
      </p:bgPr>
    </p:bg>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1368AA"/>
          </a:solidFill>
          <a:ln w="12700">
            <a:solidFill>
              <a:srgbClr val="1368AA"/>
            </a:solidFill>
            <a:prstDash val="solid"/>
          </a:ln>
        </p:spPr>
      </p:sp>
      <p:sp>
        <p:nvSpPr>
          <p:cNvPr id="3" name="Text 1"/>
          <p:cNvSpPr/>
          <p:nvPr/>
        </p:nvSpPr>
        <p:spPr>
          <a:xfrm>
            <a:off x="274320" y="0"/>
            <a:ext cx="10972800" cy="5029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METHODS SUMMARY — SOFTWARE &amp; COMPUTATIONAL ENVIRONMENT</a:t>
            </a:r>
            <a:endParaRPr lang="en-US" sz="1100" dirty="0"/>
          </a:p>
        </p:txBody>
      </p:sp>
      <p:sp>
        <p:nvSpPr>
          <p:cNvPr id="4" name="Shape 2"/>
          <p:cNvSpPr/>
          <p:nvPr/>
        </p:nvSpPr>
        <p:spPr>
          <a:xfrm>
            <a:off x="0" y="6656832"/>
            <a:ext cx="12188952" cy="201168"/>
          </a:xfrm>
          <a:prstGeom prst="rect">
            <a:avLst/>
          </a:prstGeom>
          <a:solidFill>
            <a:srgbClr val="0B2545"/>
          </a:solidFill>
          <a:ln w="12700">
            <a:solidFill>
              <a:srgbClr val="0B2545"/>
            </a:solidFill>
            <a:prstDash val="solid"/>
          </a:ln>
        </p:spPr>
      </p:sp>
      <p:sp>
        <p:nvSpPr>
          <p:cNvPr id="5" name="Text 3"/>
          <p:cNvSpPr/>
          <p:nvPr/>
        </p:nvSpPr>
        <p:spPr>
          <a:xfrm>
            <a:off x="274320" y="6656832"/>
            <a:ext cx="9144000" cy="201168"/>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GSE122709 | PBMC RNA-seq in Acute Ischemic Stroke | DATA_SCI_8110</a:t>
            </a:r>
            <a:endParaRPr lang="en-US" sz="750" dirty="0"/>
          </a:p>
        </p:txBody>
      </p:sp>
      <p:sp>
        <p:nvSpPr>
          <p:cNvPr id="6" name="Text 4"/>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FFFFFF"/>
                </a:solidFill>
                <a:latin typeface="Calibri" pitchFamily="34" charset="0"/>
                <a:ea typeface="Calibri" pitchFamily="34" charset="-122"/>
                <a:cs typeface="Calibri" pitchFamily="34" charset="-120"/>
              </a:rPr>
              <a:t>21 / 22</a:t>
            </a:r>
            <a:endParaRPr lang="en-US" sz="750" dirty="0"/>
          </a:p>
        </p:txBody>
      </p:sp>
      <p:sp>
        <p:nvSpPr>
          <p:cNvPr id="7" name="Text 5"/>
          <p:cNvSpPr/>
          <p:nvPr/>
        </p:nvSpPr>
        <p:spPr>
          <a:xfrm>
            <a:off x="365760" y="594360"/>
            <a:ext cx="11430000" cy="548640"/>
          </a:xfrm>
          <a:prstGeom prst="rect">
            <a:avLst/>
          </a:prstGeom>
          <a:noFill/>
          <a:ln/>
        </p:spPr>
        <p:txBody>
          <a:bodyPr wrap="square" lIns="0" tIns="0" rIns="0" bIns="0" rtlCol="0" anchor="ctr"/>
          <a:lstStyle/>
          <a:p>
            <a:pPr indent="0" marL="0">
              <a:buNone/>
            </a:pPr>
            <a:r>
              <a:rPr lang="en-US" sz="2300" b="1" dirty="0">
                <a:solidFill>
                  <a:srgbClr val="0B2545"/>
                </a:solidFill>
                <a:latin typeface="Calibri" pitchFamily="34" charset="0"/>
                <a:ea typeface="Calibri" pitchFamily="34" charset="-122"/>
                <a:cs typeface="Calibri" pitchFamily="34" charset="-120"/>
              </a:rPr>
              <a:t>Complete Software Stack</a:t>
            </a:r>
            <a:endParaRPr lang="en-US" sz="2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274320" y="1261872"/>
          <a:ext cx="11612880" cy="4937760"/>
        </p:xfrm>
        <a:graphic>
          <a:graphicData uri="http://schemas.openxmlformats.org/drawingml/2006/table">
            <a:tbl>
              <a:tblPr/>
              <a:tblGrid>
                <a:gridCol w="2286000"/>
                <a:gridCol w="1463040"/>
                <a:gridCol w="2743200"/>
                <a:gridCol w="5120640"/>
              </a:tblGrid>
              <a:tr h="39319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Tool</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368A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368A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368A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Key Parameters</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368AA"/>
                    </a:solidFill>
                  </a:tcPr>
                </a:tc>
              </a:tr>
              <a:tr h="39319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SRA Toolkit</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v3.0.7</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Download raw FASTQ from NCBI SRA</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prefetch + fasterq-dump --split-3</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9319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FastQC</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v0.12.1</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Per-sample read quality control</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Default parameters, all 30 files</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9319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MultiQC</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v1.18</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Aggregate QC report</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--interactive flag</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9319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HISAT2</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v2.2.1</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Splice-aware alignment to GRCh38</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--dta -p 4, unstranded</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9319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SAMtools</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v1.18</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BAM sort, index, flagstat</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sort -m 512M -@ 2 (RAM limited)</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9319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featureCounts (Subread)</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v2.0.6</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Gene-level read counting</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 0 −p −B −C −t exon −g gene_id</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9319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GENCODE annotation</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v44</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Reference gene annotation</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62,700 features, GRCh38</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9319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DESeq2</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v1.42</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Differential expression</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~condition, apeglm LFC shrinkage</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9319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clusterProfiler</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v4.10</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GO, KEGG, GSEA enrichment</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org.Hs.eg.db, padj&lt;0.05</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9319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R</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v4.3.1</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Statistical computing</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Bioconductor ecosystem</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93192">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Ubuntu (WSL2)</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22.04</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Linux environment on Windows 11</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1E293B"/>
                          </a:solidFill>
                          <a:latin typeface="Calibri" pitchFamily="34" charset="0"/>
                          <a:ea typeface="Calibri" pitchFamily="34" charset="-122"/>
                          <a:cs typeface="Calibri" pitchFamily="34" charset="-120"/>
                        </a:rPr>
                        <a:t>16 GB RAM, sequential processing</a:t>
                      </a:r>
                      <a:endParaRPr lang="en-US" sz="10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368AA"/>
          </a:solidFill>
          <a:ln w="12700">
            <a:solidFill>
              <a:srgbClr val="1368AA"/>
            </a:solidFill>
            <a:prstDash val="solid"/>
          </a:ln>
        </p:spPr>
      </p:sp>
      <p:sp>
        <p:nvSpPr>
          <p:cNvPr id="3" name="Text 1"/>
          <p:cNvSpPr/>
          <p:nvPr/>
        </p:nvSpPr>
        <p:spPr>
          <a:xfrm>
            <a:off x="365760" y="0"/>
            <a:ext cx="11430000" cy="10058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Thank You  |  Questions &amp; Discussion</a:t>
            </a:r>
            <a:endParaRPr lang="en-US" sz="2600" dirty="0"/>
          </a:p>
        </p:txBody>
      </p:sp>
      <p:sp>
        <p:nvSpPr>
          <p:cNvPr id="4" name="Text 2"/>
          <p:cNvSpPr/>
          <p:nvPr/>
        </p:nvSpPr>
        <p:spPr>
          <a:xfrm>
            <a:off x="365760" y="1097280"/>
            <a:ext cx="7315200" cy="438912"/>
          </a:xfrm>
          <a:prstGeom prst="rect">
            <a:avLst/>
          </a:prstGeom>
          <a:noFill/>
          <a:ln/>
        </p:spPr>
        <p:txBody>
          <a:bodyPr wrap="square" lIns="0" tIns="0" rIns="0" bIns="0" rtlCol="0" anchor="ctr"/>
          <a:lstStyle/>
          <a:p>
            <a:pPr indent="0" marL="0">
              <a:buNone/>
            </a:pPr>
            <a:r>
              <a:rPr lang="en-US" sz="1600" b="1" dirty="0">
                <a:solidFill>
                  <a:srgbClr val="F2A900"/>
                </a:solidFill>
                <a:latin typeface="Calibri" pitchFamily="34" charset="0"/>
                <a:ea typeface="Calibri" pitchFamily="34" charset="-122"/>
                <a:cs typeface="Calibri" pitchFamily="34" charset="-120"/>
              </a:rPr>
              <a:t>Project Summary</a:t>
            </a:r>
            <a:endParaRPr lang="en-US" sz="1600" dirty="0"/>
          </a:p>
        </p:txBody>
      </p:sp>
      <p:sp>
        <p:nvSpPr>
          <p:cNvPr id="5" name="Text 3"/>
          <p:cNvSpPr/>
          <p:nvPr/>
        </p:nvSpPr>
        <p:spPr>
          <a:xfrm>
            <a:off x="365760" y="1600200"/>
            <a:ext cx="7498080" cy="3108960"/>
          </a:xfrm>
          <a:prstGeom prst="rect">
            <a:avLst/>
          </a:prstGeom>
          <a:noFill/>
          <a:ln/>
        </p:spPr>
        <p:txBody>
          <a:bodyPr wrap="square" lIns="0" tIns="0" rIns="0" bIns="0" rtlCol="0" anchor="t"/>
          <a:lstStyle/>
          <a:p>
            <a:pPr marL="342900" indent="-342900">
              <a:buSzPct val="100000"/>
              <a:buChar char="•"/>
            </a:pPr>
            <a:r>
              <a:rPr lang="en-US" sz="1150" dirty="0">
                <a:solidFill>
                  <a:srgbClr val="CBD5E1"/>
                </a:solidFill>
                <a:latin typeface="Calibri" pitchFamily="34" charset="0"/>
                <a:ea typeface="Calibri" pitchFamily="34" charset="-122"/>
                <a:cs typeface="Calibri" pitchFamily="34" charset="-120"/>
              </a:rPr>
              <a:t>Complete end-to-end bulk RNA-seq pipeline: raw FASTQ → biological interpretation</a:t>
            </a:r>
            <a:endParaRPr lang="en-US" sz="1150" dirty="0"/>
          </a:p>
          <a:p>
            <a:pPr marL="342900" indent="-342900">
              <a:buSzPct val="100000"/>
              <a:buChar char="•"/>
            </a:pPr>
            <a:r>
              <a:rPr lang="en-US" sz="1150" dirty="0">
                <a:solidFill>
                  <a:srgbClr val="CBD5E1"/>
                </a:solidFill>
                <a:latin typeface="Calibri" pitchFamily="34" charset="0"/>
                <a:ea typeface="Calibri" pitchFamily="34" charset="-122"/>
                <a:cs typeface="Calibri" pitchFamily="34" charset="-120"/>
              </a:rPr>
              <a:t>15 PBMC samples | GRCh38 alignment | GENCODE v44 annotation</a:t>
            </a:r>
            <a:endParaRPr lang="en-US" sz="1150" dirty="0"/>
          </a:p>
          <a:p>
            <a:pPr marL="342900" indent="-342900">
              <a:buSzPct val="100000"/>
              <a:buChar char="•"/>
            </a:pPr>
            <a:r>
              <a:rPr lang="en-US" sz="1150" dirty="0">
                <a:solidFill>
                  <a:srgbClr val="CBD5E1"/>
                </a:solidFill>
                <a:latin typeface="Calibri" pitchFamily="34" charset="0"/>
                <a:ea typeface="Calibri" pitchFamily="34" charset="-122"/>
                <a:cs typeface="Calibri" pitchFamily="34" charset="-120"/>
              </a:rPr>
              <a:t>8,594 DEGs at Day 1 (35.8% of expressed genome) → 60 DEGs at Day 2</a:t>
            </a:r>
            <a:endParaRPr lang="en-US" sz="1150" dirty="0"/>
          </a:p>
          <a:p>
            <a:pPr marL="342900" indent="-342900">
              <a:buSzPct val="100000"/>
              <a:buChar char="•"/>
            </a:pPr>
            <a:r>
              <a:rPr lang="en-US" sz="1150" dirty="0">
                <a:solidFill>
                  <a:srgbClr val="CBD5E1"/>
                </a:solidFill>
                <a:latin typeface="Calibri" pitchFamily="34" charset="0"/>
                <a:ea typeface="Calibri" pitchFamily="34" charset="-122"/>
                <a:cs typeface="Calibri" pitchFamily="34" charset="-120"/>
              </a:rPr>
              <a:t>Ribosomal biogenesis + NET formation dominate the acute immune response</a:t>
            </a:r>
            <a:endParaRPr lang="en-US" sz="1150" dirty="0"/>
          </a:p>
          <a:p>
            <a:pPr marL="342900" indent="-342900">
              <a:buSzPct val="100000"/>
              <a:buChar char="•"/>
            </a:pPr>
            <a:r>
              <a:rPr lang="en-US" sz="1150" dirty="0">
                <a:solidFill>
                  <a:srgbClr val="CBD5E1"/>
                </a:solidFill>
                <a:latin typeface="Calibri" pitchFamily="34" charset="0"/>
                <a:ea typeface="Calibri" pitchFamily="34" charset="-122"/>
                <a:cs typeface="Calibri" pitchFamily="34" charset="-120"/>
              </a:rPr>
              <a:t>DUSP2/DUSP8 upregulation signals active immune resolution at Day 2</a:t>
            </a:r>
            <a:endParaRPr lang="en-US" sz="1150" dirty="0"/>
          </a:p>
          <a:p>
            <a:pPr marL="342900" indent="-342900">
              <a:buSzPct val="100000"/>
              <a:buChar char="•"/>
            </a:pPr>
            <a:r>
              <a:rPr lang="en-US" sz="1150" dirty="0">
                <a:solidFill>
                  <a:srgbClr val="CBD5E1"/>
                </a:solidFill>
                <a:latin typeface="Calibri" pitchFamily="34" charset="0"/>
                <a:ea typeface="Calibri" pitchFamily="34" charset="-122"/>
                <a:cs typeface="Calibri" pitchFamily="34" charset="-120"/>
              </a:rPr>
              <a:t>55 persistent genes: candidate biomarkers &amp; mechanistic anchors</a:t>
            </a:r>
            <a:endParaRPr lang="en-US" sz="1150" dirty="0"/>
          </a:p>
        </p:txBody>
      </p:sp>
      <p:sp>
        <p:nvSpPr>
          <p:cNvPr id="6" name="Shape 4"/>
          <p:cNvSpPr/>
          <p:nvPr/>
        </p:nvSpPr>
        <p:spPr>
          <a:xfrm>
            <a:off x="365760" y="4846320"/>
            <a:ext cx="7498080" cy="1691640"/>
          </a:xfrm>
          <a:prstGeom prst="rect">
            <a:avLst/>
          </a:prstGeom>
          <a:solidFill>
            <a:srgbClr val="112B50"/>
          </a:solidFill>
          <a:ln w="12700">
            <a:solidFill>
              <a:srgbClr val="0D7377"/>
            </a:solidFill>
            <a:prstDash val="solid"/>
          </a:ln>
        </p:spPr>
      </p:sp>
      <p:sp>
        <p:nvSpPr>
          <p:cNvPr id="7" name="Text 5"/>
          <p:cNvSpPr/>
          <p:nvPr/>
        </p:nvSpPr>
        <p:spPr>
          <a:xfrm>
            <a:off x="457200" y="4892040"/>
            <a:ext cx="7315200" cy="347472"/>
          </a:xfrm>
          <a:prstGeom prst="rect">
            <a:avLst/>
          </a:prstGeom>
          <a:noFill/>
          <a:ln/>
        </p:spPr>
        <p:txBody>
          <a:bodyPr wrap="square" lIns="0" tIns="0" rIns="0" bIns="0" rtlCol="0" anchor="ctr"/>
          <a:lstStyle/>
          <a:p>
            <a:pPr indent="0" marL="0">
              <a:buNone/>
            </a:pPr>
            <a:r>
              <a:rPr lang="en-US" sz="1200" b="1" dirty="0">
                <a:solidFill>
                  <a:srgbClr val="0D7377"/>
                </a:solidFill>
                <a:latin typeface="Calibri" pitchFamily="34" charset="0"/>
                <a:ea typeface="Calibri" pitchFamily="34" charset="-122"/>
                <a:cs typeface="Calibri" pitchFamily="34" charset="-120"/>
              </a:rPr>
              <a:t>Data &amp; Reproducibility</a:t>
            </a:r>
            <a:endParaRPr lang="en-US" sz="1200" dirty="0"/>
          </a:p>
        </p:txBody>
      </p:sp>
      <p:sp>
        <p:nvSpPr>
          <p:cNvPr id="8" name="Text 6"/>
          <p:cNvSpPr/>
          <p:nvPr/>
        </p:nvSpPr>
        <p:spPr>
          <a:xfrm>
            <a:off x="457200" y="5285232"/>
            <a:ext cx="7315200" cy="1170432"/>
          </a:xfrm>
          <a:prstGeom prst="rect">
            <a:avLst/>
          </a:prstGeom>
          <a:noFill/>
          <a:ln/>
        </p:spPr>
        <p:txBody>
          <a:bodyPr wrap="square" lIns="0" tIns="0" rIns="0" bIns="0" rtlCol="0" anchor="t"/>
          <a:lstStyle/>
          <a:p>
            <a:pPr indent="0" marL="0">
              <a:buNone/>
            </a:pPr>
            <a:r>
              <a:rPr lang="en-US" sz="1050" b="1" dirty="0">
                <a:solidFill>
                  <a:srgbClr val="F2A900"/>
                </a:solidFill>
                <a:latin typeface="Calibri" pitchFamily="34" charset="0"/>
                <a:ea typeface="Calibri" pitchFamily="34" charset="-122"/>
                <a:cs typeface="Calibri" pitchFamily="34" charset="-120"/>
              </a:rPr>
              <a:t>Dataset: </a:t>
            </a:r>
            <a:pPr indent="0" marL="0">
              <a:buNone/>
            </a:pPr>
            <a:r>
              <a:rPr lang="en-US" sz="1050" dirty="0">
                <a:solidFill>
                  <a:srgbClr val="CBD5E1"/>
                </a:solidFill>
                <a:latin typeface="Calibri" pitchFamily="34" charset="0"/>
                <a:ea typeface="Calibri" pitchFamily="34" charset="-122"/>
                <a:cs typeface="Calibri" pitchFamily="34" charset="-120"/>
              </a:rPr>
              <a:t>NCBI GEO: GSE122709 | BioProject: PRJNA506047
</a:t>
            </a:r>
            <a:pPr indent="0" marL="0">
              <a:buNone/>
            </a:pPr>
            <a:r>
              <a:rPr lang="en-US" sz="1050" b="1" dirty="0">
                <a:solidFill>
                  <a:srgbClr val="F2A900"/>
                </a:solidFill>
                <a:latin typeface="Calibri" pitchFamily="34" charset="0"/>
                <a:ea typeface="Calibri" pitchFamily="34" charset="-122"/>
                <a:cs typeface="Calibri" pitchFamily="34" charset="-120"/>
              </a:rPr>
              <a:t>SRA Accessions: </a:t>
            </a:r>
            <a:pPr indent="0" marL="0">
              <a:buNone/>
            </a:pPr>
            <a:r>
              <a:rPr lang="en-US" sz="1050" dirty="0">
                <a:solidFill>
                  <a:srgbClr val="CBD5E1"/>
                </a:solidFill>
                <a:latin typeface="Calibri" pitchFamily="34" charset="0"/>
                <a:ea typeface="Calibri" pitchFamily="34" charset="-122"/>
                <a:cs typeface="Calibri" pitchFamily="34" charset="-120"/>
              </a:rPr>
              <a:t>SRR8207876 – SRR8207890
</a:t>
            </a:r>
            <a:pPr indent="0" marL="0">
              <a:buNone/>
            </a:pPr>
            <a:r>
              <a:rPr lang="en-US" sz="1050" b="1" dirty="0">
                <a:solidFill>
                  <a:srgbClr val="F2A900"/>
                </a:solidFill>
                <a:latin typeface="Calibri" pitchFamily="34" charset="0"/>
                <a:ea typeface="Calibri" pitchFamily="34" charset="-122"/>
                <a:cs typeface="Calibri" pitchFamily="34" charset="-120"/>
              </a:rPr>
              <a:t>Pipeline: </a:t>
            </a:r>
            <a:pPr indent="0" marL="0">
              <a:buNone/>
            </a:pPr>
            <a:r>
              <a:rPr lang="en-US" sz="1050" dirty="0">
                <a:solidFill>
                  <a:srgbClr val="CBD5E1"/>
                </a:solidFill>
                <a:latin typeface="Calibri" pitchFamily="34" charset="0"/>
                <a:ea typeface="Calibri" pitchFamily="34" charset="-122"/>
                <a:cs typeface="Calibri" pitchFamily="34" charset="-120"/>
              </a:rPr>
              <a:t>All scripts available in project directory (scripts/)
</a:t>
            </a:r>
            <a:pPr indent="0" marL="0">
              <a:buNone/>
            </a:pPr>
            <a:r>
              <a:rPr lang="en-US" sz="1050" b="1" dirty="0">
                <a:solidFill>
                  <a:srgbClr val="F2A900"/>
                </a:solidFill>
                <a:latin typeface="Calibri" pitchFamily="34" charset="0"/>
                <a:ea typeface="Calibri" pitchFamily="34" charset="-122"/>
                <a:cs typeface="Calibri" pitchFamily="34" charset="-120"/>
              </a:rPr>
              <a:t>Environment: </a:t>
            </a:r>
            <a:pPr indent="0" marL="0">
              <a:buNone/>
            </a:pPr>
            <a:r>
              <a:rPr lang="en-US" sz="1050" dirty="0">
                <a:solidFill>
                  <a:srgbClr val="CBD5E1"/>
                </a:solidFill>
                <a:latin typeface="Calibri" pitchFamily="34" charset="0"/>
                <a:ea typeface="Calibri" pitchFamily="34" charset="-122"/>
                <a:cs typeface="Calibri" pitchFamily="34" charset="-120"/>
              </a:rPr>
              <a:t>Conda env (rnaseq_stroke) | R 4.3.1 | Ubuntu 22.04 WSL2</a:t>
            </a:r>
            <a:endParaRPr lang="en-US" sz="1050" dirty="0"/>
          </a:p>
        </p:txBody>
      </p:sp>
      <p:sp>
        <p:nvSpPr>
          <p:cNvPr id="9" name="Shape 7"/>
          <p:cNvSpPr/>
          <p:nvPr/>
        </p:nvSpPr>
        <p:spPr>
          <a:xfrm>
            <a:off x="8046720" y="1097280"/>
            <a:ext cx="3931920" cy="5440680"/>
          </a:xfrm>
          <a:prstGeom prst="rect">
            <a:avLst/>
          </a:prstGeom>
          <a:solidFill>
            <a:srgbClr val="112B50"/>
          </a:solidFill>
          <a:ln w="12700">
            <a:solidFill>
              <a:srgbClr val="F2A900"/>
            </a:solidFill>
            <a:prstDash val="solid"/>
          </a:ln>
        </p:spPr>
      </p:sp>
      <p:sp>
        <p:nvSpPr>
          <p:cNvPr id="10" name="Text 8"/>
          <p:cNvSpPr/>
          <p:nvPr/>
        </p:nvSpPr>
        <p:spPr>
          <a:xfrm>
            <a:off x="8046720" y="1097280"/>
            <a:ext cx="3931920" cy="822960"/>
          </a:xfrm>
          <a:prstGeom prst="rect">
            <a:avLst/>
          </a:prstGeom>
          <a:noFill/>
          <a:ln/>
        </p:spPr>
        <p:txBody>
          <a:bodyPr wrap="square" lIns="0" tIns="0" rIns="0" bIns="0" rtlCol="0" anchor="ctr"/>
          <a:lstStyle/>
          <a:p>
            <a:pPr algn="ctr" indent="0" marL="0">
              <a:buNone/>
            </a:pPr>
            <a:r>
              <a:rPr lang="en-US" sz="1600" b="1" dirty="0">
                <a:solidFill>
                  <a:srgbClr val="F2A900"/>
                </a:solidFill>
                <a:latin typeface="Calibri" pitchFamily="34" charset="0"/>
                <a:ea typeface="Calibri" pitchFamily="34" charset="-122"/>
                <a:cs typeface="Calibri" pitchFamily="34" charset="-120"/>
              </a:rPr>
              <a:t>Discussion</a:t>
            </a:r>
            <a:endParaRPr lang="en-US" sz="1600" dirty="0"/>
          </a:p>
          <a:p>
            <a:pPr algn="ctr" indent="0" marL="0">
              <a:buNone/>
            </a:pPr>
            <a:r>
              <a:rPr lang="en-US" sz="1600" b="1" dirty="0">
                <a:solidFill>
                  <a:srgbClr val="F2A900"/>
                </a:solidFill>
                <a:latin typeface="Calibri" pitchFamily="34" charset="0"/>
                <a:ea typeface="Calibri" pitchFamily="34" charset="-122"/>
                <a:cs typeface="Calibri" pitchFamily="34" charset="-120"/>
              </a:rPr>
              <a:t>Questions</a:t>
            </a:r>
            <a:endParaRPr lang="en-US" sz="1600" dirty="0"/>
          </a:p>
        </p:txBody>
      </p:sp>
      <p:sp>
        <p:nvSpPr>
          <p:cNvPr id="11" name="Shape 9"/>
          <p:cNvSpPr/>
          <p:nvPr/>
        </p:nvSpPr>
        <p:spPr>
          <a:xfrm>
            <a:off x="8138160" y="2029968"/>
            <a:ext cx="3749040" cy="749808"/>
          </a:xfrm>
          <a:prstGeom prst="rect">
            <a:avLst/>
          </a:prstGeom>
          <a:solidFill>
            <a:srgbClr val="1A3A5C"/>
          </a:solidFill>
          <a:ln w="12700">
            <a:solidFill>
              <a:srgbClr val="0D7377"/>
            </a:solidFill>
            <a:prstDash val="solid"/>
          </a:ln>
        </p:spPr>
      </p:sp>
      <p:sp>
        <p:nvSpPr>
          <p:cNvPr id="12" name="Text 10"/>
          <p:cNvSpPr/>
          <p:nvPr/>
        </p:nvSpPr>
        <p:spPr>
          <a:xfrm>
            <a:off x="8229600" y="2057400"/>
            <a:ext cx="3566160" cy="694944"/>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Q1: Why did we choose bulk RNA-seq over single-cell?</a:t>
            </a:r>
            <a:endParaRPr lang="en-US" sz="1000" dirty="0"/>
          </a:p>
        </p:txBody>
      </p:sp>
      <p:sp>
        <p:nvSpPr>
          <p:cNvPr id="13" name="Shape 11"/>
          <p:cNvSpPr/>
          <p:nvPr/>
        </p:nvSpPr>
        <p:spPr>
          <a:xfrm>
            <a:off x="8138160" y="2898648"/>
            <a:ext cx="3749040" cy="749808"/>
          </a:xfrm>
          <a:prstGeom prst="rect">
            <a:avLst/>
          </a:prstGeom>
          <a:solidFill>
            <a:srgbClr val="1A3A5C"/>
          </a:solidFill>
          <a:ln w="12700">
            <a:solidFill>
              <a:srgbClr val="0D7377"/>
            </a:solidFill>
            <a:prstDash val="solid"/>
          </a:ln>
        </p:spPr>
      </p:sp>
      <p:sp>
        <p:nvSpPr>
          <p:cNvPr id="14" name="Text 12"/>
          <p:cNvSpPr/>
          <p:nvPr/>
        </p:nvSpPr>
        <p:spPr>
          <a:xfrm>
            <a:off x="8229600" y="2926080"/>
            <a:ext cx="3566160" cy="694944"/>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Q2: How would the results differ with n=50 per group?</a:t>
            </a:r>
            <a:endParaRPr lang="en-US" sz="1000" dirty="0"/>
          </a:p>
        </p:txBody>
      </p:sp>
      <p:sp>
        <p:nvSpPr>
          <p:cNvPr id="15" name="Shape 13"/>
          <p:cNvSpPr/>
          <p:nvPr/>
        </p:nvSpPr>
        <p:spPr>
          <a:xfrm>
            <a:off x="8138160" y="3767328"/>
            <a:ext cx="3749040" cy="749808"/>
          </a:xfrm>
          <a:prstGeom prst="rect">
            <a:avLst/>
          </a:prstGeom>
          <a:solidFill>
            <a:srgbClr val="1A3A5C"/>
          </a:solidFill>
          <a:ln w="12700">
            <a:solidFill>
              <a:srgbClr val="0D7377"/>
            </a:solidFill>
            <a:prstDash val="solid"/>
          </a:ln>
        </p:spPr>
      </p:sp>
      <p:sp>
        <p:nvSpPr>
          <p:cNvPr id="16" name="Text 14"/>
          <p:cNvSpPr/>
          <p:nvPr/>
        </p:nvSpPr>
        <p:spPr>
          <a:xfrm>
            <a:off x="8229600" y="3794760"/>
            <a:ext cx="3566160" cy="694944"/>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Q3: Can these 55 persistent genes be used as a stroke biomarker panel?</a:t>
            </a:r>
            <a:endParaRPr lang="en-US" sz="1000" dirty="0"/>
          </a:p>
        </p:txBody>
      </p:sp>
      <p:sp>
        <p:nvSpPr>
          <p:cNvPr id="17" name="Shape 15"/>
          <p:cNvSpPr/>
          <p:nvPr/>
        </p:nvSpPr>
        <p:spPr>
          <a:xfrm>
            <a:off x="8138160" y="4636008"/>
            <a:ext cx="3749040" cy="749808"/>
          </a:xfrm>
          <a:prstGeom prst="rect">
            <a:avLst/>
          </a:prstGeom>
          <a:solidFill>
            <a:srgbClr val="1A3A5C"/>
          </a:solidFill>
          <a:ln w="12700">
            <a:solidFill>
              <a:srgbClr val="0D7377"/>
            </a:solidFill>
            <a:prstDash val="solid"/>
          </a:ln>
        </p:spPr>
      </p:sp>
      <p:sp>
        <p:nvSpPr>
          <p:cNvPr id="18" name="Text 16"/>
          <p:cNvSpPr/>
          <p:nvPr/>
        </p:nvSpPr>
        <p:spPr>
          <a:xfrm>
            <a:off x="8229600" y="4663440"/>
            <a:ext cx="3566160" cy="694944"/>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Q4: What is the clinical actionability of the NET finding?</a:t>
            </a:r>
            <a:endParaRPr lang="en-US" sz="1000" dirty="0"/>
          </a:p>
        </p:txBody>
      </p:sp>
      <p:sp>
        <p:nvSpPr>
          <p:cNvPr id="19" name="Shape 17"/>
          <p:cNvSpPr/>
          <p:nvPr/>
        </p:nvSpPr>
        <p:spPr>
          <a:xfrm>
            <a:off x="8138160" y="5504688"/>
            <a:ext cx="3749040" cy="749808"/>
          </a:xfrm>
          <a:prstGeom prst="rect">
            <a:avLst/>
          </a:prstGeom>
          <a:solidFill>
            <a:srgbClr val="1A3A5C"/>
          </a:solidFill>
          <a:ln w="12700">
            <a:solidFill>
              <a:srgbClr val="0D7377"/>
            </a:solidFill>
            <a:prstDash val="solid"/>
          </a:ln>
        </p:spPr>
      </p:sp>
      <p:sp>
        <p:nvSpPr>
          <p:cNvPr id="20" name="Text 18"/>
          <p:cNvSpPr/>
          <p:nvPr/>
        </p:nvSpPr>
        <p:spPr>
          <a:xfrm>
            <a:off x="8229600" y="5532120"/>
            <a:ext cx="3566160" cy="694944"/>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Q5: How does the PBMC response compare to brain tissue?</a:t>
            </a:r>
            <a:endParaRPr lang="en-US" sz="1000" dirty="0"/>
          </a:p>
        </p:txBody>
      </p:sp>
      <p:sp>
        <p:nvSpPr>
          <p:cNvPr id="21" name="Shape 19"/>
          <p:cNvSpPr/>
          <p:nvPr/>
        </p:nvSpPr>
        <p:spPr>
          <a:xfrm>
            <a:off x="0" y="6656832"/>
            <a:ext cx="12188952" cy="201168"/>
          </a:xfrm>
          <a:prstGeom prst="rect">
            <a:avLst/>
          </a:prstGeom>
          <a:solidFill>
            <a:srgbClr val="060E1E"/>
          </a:solidFill>
          <a:ln w="12700">
            <a:solidFill>
              <a:srgbClr val="060E1E"/>
            </a:solidFill>
            <a:prstDash val="solid"/>
          </a:ln>
        </p:spPr>
      </p:sp>
      <p:sp>
        <p:nvSpPr>
          <p:cNvPr id="22" name="Text 20"/>
          <p:cNvSpPr/>
          <p:nvPr/>
        </p:nvSpPr>
        <p:spPr>
          <a:xfrm>
            <a:off x="274320" y="6656832"/>
            <a:ext cx="10972800" cy="201168"/>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DATA_SCI_8110  |  GSE122709  |  April 2026</a:t>
            </a:r>
            <a:endParaRPr lang="en-US" sz="750" dirty="0"/>
          </a:p>
        </p:txBody>
      </p:sp>
      <p:sp>
        <p:nvSpPr>
          <p:cNvPr id="23" name="Text 21"/>
          <p:cNvSpPr/>
          <p:nvPr/>
        </p:nvSpPr>
        <p:spPr>
          <a:xfrm>
            <a:off x="11430000" y="6656832"/>
            <a:ext cx="731520" cy="201168"/>
          </a:xfrm>
          <a:prstGeom prst="rect">
            <a:avLst/>
          </a:prstGeom>
          <a:noFill/>
          <a:ln/>
        </p:spPr>
        <p:txBody>
          <a:bodyPr wrap="square" lIns="0" tIns="0" rIns="0" bIns="0"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22 / 22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PBMC RNA-seq in Acute Ischemic Stroke</dc:title>
  <dc:subject>GSE122709 Differential Expression Analysis</dc:subject>
  <dc:creator>DATA_SCI_8110</dc:creator>
  <cp:lastModifiedBy>DATA_SCI_8110</cp:lastModifiedBy>
  <cp:revision>1</cp:revision>
  <dcterms:created xsi:type="dcterms:W3CDTF">2026-05-01T02:33:36Z</dcterms:created>
  <dcterms:modified xsi:type="dcterms:W3CDTF">2026-05-01T02:33:36Z</dcterms:modified>
</cp:coreProperties>
</file>