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introduction. This presentation walks through a complete bulk RNA-seq pipeline applied to publicly available PBMC samples from GSE122709. We compare gene expression in 5 healthy controls against 5 Day-1 (acute) and 5 Day-2 (subacute) ischemic stroke patients. The entire pipeline runs on a 16 GB Windows laptop via WSL2 — accessibility was a design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roadmap shows the eight sections of the presentation. Total of 26 slides — pacing target ~45 seconds per slide for a 20 minute talk plus 5 minutes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emphasizing scale: stroke is one of the leading causes of death and disability globally. Highlight that the systemic immune response — not just the local brain damage — matters for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PBMCs are easy to collect (a normal blood draw), survive freezing well, and can be processed in a standard hospital lab — making them practical for clinical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questions structure all downstream analysis — DEG discovery, temporal comparison, and pathway interpretation. Q1 and Q2 are descriptive; Q3 is interpretive.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GSE122709 is a publicly available dataset deposited to NCBI GEO. Highlight the balanced n=5 design — small but adequate for DESeq2's negative binomial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seven steps run from a single Bash master script (run_pipeline.sh). We deliberately chose HISAT2 over STAR because of the 16 GB RAM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SRA Toolkit v3.0.7 was used. The split-3 flag separates paired reads into R1/R2. We used pigz instead of gzip for multi-core compression — saves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checks 'fail' by FastQC defaults but are expected in RNA-seq: duplication and per-base content (random hexamer bias).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15 samples aligned with rates between 92.45% and 96.04% — uniformly excellent. We chose HISAT2 over STAR specifically because of the 16 GB RAM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featureCounts is part of the Subread package — fast, memory-light, deterministic. Pre-filtering is conservative.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DESeq2 v1.42. Both contrasts share the same dispersion estimate from the full model — much more accurate than running each pairwise comparison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 on VST counts. The clean three-group separation tells us the experimental design captures real biology. No batch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8,594 DEGs is huge — for context, LPS stimulation of monocytes typically yields 2,000–4,000 DEGs.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volcano plot makes it obvious that the acute stroke transcriptome is wildly different from controls. PPBP is a true outlier on the down-regulated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50 most significant DEGs across all 15 samples. Pheatmap performed hierarchical clustering. Some Day 2 samples cluster closer to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99% of Day 1 DEGs return toward baseline within 24 hours. DUSP2/DUSP8 are active brakes on the MAPK cytokine cascade.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55 shared genes are the most important biological set in this study — candidate biomarkers and drug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complementary methods. ORA requires hard DEG cutoff; GSEA captures coordinated subtle shifts. clusterProfiler v4.10 + org.Hs.eg.db.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Dotplot: dot size = gene count, dot color = adjusted p-value. Ribosome pathway dominates with 112 genes.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Convergence on innate-immune, neutrophil-activation, and ribosome-biogenesis terms — the four themes of the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 has 155 enriched terms despite only 60 DEGs — GSEA's rank-based design captures subtle coordinated shifts.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themes form a coherent biological narrative — each has independent literature support and clinical relevance.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55 persistent genes are the most exciting biomarker candidates. PIDS prediction is critical for prophylactic antibiotics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Single-cell follow-up would be the most informative — PBMC bulk averages mask which cell type drives each gene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concrete takeaways. Invite questions specifically on (1) methodology, (2) the 55 persistent genes, and (3) clinical translation.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146304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2E5C8A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DATA_SCI_8110  ·  GENOMICS ANALYTICS  ·  COURSE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Gene Expression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PBMC RNA-Seq in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Ischemic Stroke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41148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80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7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GSE122709 (NCBI GEO)  ·  BioProject PRJNA506047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  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7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PBMC samples  ·  5 Controls · 5 Day-1 Stroke · 5 Day-2 Stroke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7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Illumina HiSeq X Ten  ·  150 bp paired-end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7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FastQC → HISAT2 → featureCounts → DESeq2 → clusterProfiler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Samrat</a:t>
            </a:r>
            <a:pPr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FASTQ to biological insight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reproducible, low-resource RNA-seq workflow.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3063240"/>
            <a:ext cx="26974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3375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biology &amp; PBMCs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306324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3063240"/>
            <a:ext cx="26974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33375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776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primary objectives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306324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3063240"/>
            <a:ext cx="26974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3375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Cohort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GSE122709, n = 15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778240" y="306324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78240" y="3063240"/>
            <a:ext cx="26974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0" y="33375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611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55548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5548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sequential steps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48056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4480560"/>
            <a:ext cx="26974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7548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18872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88720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→ DEGs → Pathways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448056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4480560"/>
            <a:ext cx="26974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0" y="47548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3832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97764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977640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themes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9320" y="448056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89320" y="4480560"/>
            <a:ext cx="26974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47548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17220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76656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766560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NETs, biomarkers, therapy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778240" y="4480560"/>
            <a:ext cx="2697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778240" y="4480560"/>
            <a:ext cx="26974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61120" y="47548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96112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55548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555480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limits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Acute Ischemic Stroke?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566928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71600"/>
            <a:ext cx="73152" cy="4937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DEFINITION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clot blocks an artery feeding the brain — oxygen and nutrients are cut off and brain tissue dies within minutes.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BRAIN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triggers a powerful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immune cascade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the body. The systemic alarm spreads through blood within hours, activating neutrophils and monocytes, and changes the molecular state of every immune cell in circulation.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754880"/>
            <a:ext cx="5303520" cy="1417320"/>
          </a:xfrm>
          <a:prstGeom prst="rect">
            <a:avLst/>
          </a:prstGeom>
          <a:solidFill>
            <a:srgbClr val="F7F5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BURDEN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5166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12.2M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new strokes / year worldwide  ·  </a:t>
            </a:r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6.5M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deaths annually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8660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Time-Sensitive Emergency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1728216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“Time is brain.” Each minute without treatment ≈ 1.9 million neurons lost. Treatment window for thrombolysis: ≤ 4.5 hours.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2788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Immune Response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099816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brain damage, stroke triggers cytokine storms, neutrophil activation, and platelet hyperreactivity.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41605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Disability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4471416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is the leading cause of acquired adult disability. Post-stroke immune dysregulation affects recovery and infection risk.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5532120"/>
            <a:ext cx="534924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37960" y="5577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can’t easily biopsy the brain — but blood tells the story.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Sample Peripheral Blood?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50292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71600"/>
            <a:ext cx="73152" cy="4937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PBMCs — A WINDOW INTO STROKE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Blood Mononuclear Cells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Monocytes  ·  T cells  ·  B cells  ·  NK cells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COMPOSITION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lymphocytes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3200400"/>
            <a:ext cx="2286000" cy="1828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00400"/>
            <a:ext cx="160020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lymphocytes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3566160"/>
            <a:ext cx="2286000" cy="1828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3566160"/>
            <a:ext cx="342900" cy="18288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520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 cells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3931920"/>
            <a:ext cx="2286000" cy="1828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3931920"/>
            <a:ext cx="22860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886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Monocytes / dendritic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4297680"/>
            <a:ext cx="2286000" cy="1828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4297680"/>
            <a:ext cx="1143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251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4846320"/>
            <a:ext cx="4754880" cy="1325880"/>
          </a:xfrm>
          <a:prstGeom prst="rect">
            <a:avLst/>
          </a:prstGeom>
          <a:solidFill>
            <a:srgbClr val="EAF1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920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immune cell rewires its transcriptome within hours of stroke — measuring RNA reveals the hidden molecular alarm.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RNA-SEQ?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17830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high-throughput technology that quantifies expression of every gene simultaneously by sequencing complementary DNA from RNA.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834640"/>
            <a:ext cx="731520" cy="7315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9788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5669280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draw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75120" y="3108960"/>
            <a:ext cx="182880" cy="182880"/>
          </a:xfrm>
          <a:prstGeom prst="righ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2834640"/>
            <a:ext cx="731520" cy="7315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8660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858000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isolation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63840" y="3108960"/>
            <a:ext cx="182880" cy="182880"/>
          </a:xfrm>
          <a:prstGeom prst="righ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2834640"/>
            <a:ext cx="731520" cy="7315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27532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8046720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cDNA library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52560" y="3108960"/>
            <a:ext cx="182880" cy="182880"/>
          </a:xfrm>
          <a:prstGeom prst="righ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64040" y="2834640"/>
            <a:ext cx="731520" cy="7315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46404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9235440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241280" y="3108960"/>
            <a:ext cx="182880" cy="182880"/>
          </a:xfrm>
          <a:prstGeom prst="righ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52760" y="2834640"/>
            <a:ext cx="731520" cy="7315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65276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10424160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0" y="4251960"/>
            <a:ext cx="6080760" cy="2011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852160" y="43434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52160" y="4663440"/>
            <a:ext cx="5760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PBMC transcriptomes between healthy people and stroke patients reveals </a:t>
            </a:r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genes are activated or suppressed</a:t>
            </a:r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post-stroke immune response — and exposes molecular mechanisms that may serve as </a:t>
            </a:r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biomarkers or drug targets.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Research Questions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7490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3749040" cy="1280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genes are differentially expressed in acute stroke?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genes with significant up- or down-regulation in PBMCs from stroke patients vs healthy controls (padj &lt; 0.05, |log2FC| &gt; 1).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852160"/>
            <a:ext cx="3291840" cy="3657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852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 identification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417320"/>
            <a:ext cx="37490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417320"/>
            <a:ext cx="3749040" cy="1280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572000" y="28346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response evolve over time?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416052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transcriptomic signatures between Day 1 (acute) and Day 2 (subacute) post-stroke timepoints to characterize the temporal dynamics.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5852160"/>
            <a:ext cx="3291840" cy="3657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5852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dynamics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1417320"/>
            <a:ext cx="37490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75320" y="1417320"/>
            <a:ext cx="3749040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8503920" y="28346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biological pathways are enriched?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416052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GO, KEGG, and GSEA enrichment to the DEGs and uncover the systems-level biological themes.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5852160"/>
            <a:ext cx="3291840" cy="3657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5852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— PBMC RNA-seq Cohort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133856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63040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ID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GSE122709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92680" y="1463040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BIOPROJECT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92680" y="169164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PRJNA506047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82440" y="1463040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STUDY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82440" y="169164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SRP169610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1463040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72200" y="169164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Illumina HiSeq X Ten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61960" y="1463040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LENGTH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61960" y="169164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 bp paired-end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51720" y="1463040"/>
            <a:ext cx="170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SUBJECTS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951720" y="1691640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(5 + 5 + 5)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42316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GROUPS  &amp;  SAMPLE BREAKDOWN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834640"/>
            <a:ext cx="3749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834640"/>
            <a:ext cx="374904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Controls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611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594360" y="4480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754880"/>
            <a:ext cx="3749040" cy="10058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neurological disease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SRR8207876–SRR8207890 range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43400" y="2834640"/>
            <a:ext cx="3749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2834640"/>
            <a:ext cx="3749040" cy="502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2834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Stroke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26280" y="3611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4526280" y="4480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43400" y="4754880"/>
            <a:ext cx="3749040" cy="10058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post-ischemic stroke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2628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SRR8207876–SRR8207890 range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75320" y="2834640"/>
            <a:ext cx="37490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75320" y="2834640"/>
            <a:ext cx="374904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58200" y="2834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3544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Subacute Stroke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458200" y="3611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8458200" y="4480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75320" y="4754880"/>
            <a:ext cx="3749040" cy="10058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820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post-ischemic stroke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5820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SRR8207876–SRR8207890 range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" y="5897880"/>
            <a:ext cx="11338560" cy="502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5897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GB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FASTQ  ·  </a:t>
            </a:r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files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(R1+R2 per sample)  ·  </a:t>
            </a:r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41–51 M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pairs / sample  ·  </a:t>
            </a:r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bp PE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Pipeline — End to 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278892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Toolkit · prefetch · fasterq-dump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samples × 2 paired-end FASTQ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417320"/>
            <a:ext cx="2788920" cy="41148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0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2860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FastQC v0.12 · MultiQC v1.18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Per-base quality, adapter, GC, dup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141732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417320"/>
            <a:ext cx="278892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4964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Alignment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2860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HISAT2 v2.2.1 → SAMtools sort+index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GRCh38 splice-aware alignment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52560" y="141732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52560" y="1417320"/>
            <a:ext cx="278892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89720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89720" y="22860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featureCounts (Subread v2.0.6)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GENCODE v44 · 62,700 genes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93192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3931920"/>
            <a:ext cx="278892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8892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640" y="4434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Expression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48006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 v1.42 · ~ condition design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apeglm shrinkage · BH correction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91840" y="393192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3931920"/>
            <a:ext cx="2788920" cy="4114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429000" y="4434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Enrichment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29000" y="48006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clusterProfiler v4.10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+ KEGG + GSEA · org.Hs.eg.db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3931920"/>
            <a:ext cx="27889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72200" y="3931920"/>
            <a:ext cx="2788920" cy="41148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54964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309360" y="4434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09360" y="48006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· pheatmap · enrichplot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Volcano · Heatmap · GSEA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052560" y="3931920"/>
            <a:ext cx="2788920" cy="23317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189720" y="4069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RESOURCES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189720" y="45262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hrs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runtime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RAM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WSL2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GB disk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(SSD recommended)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11480" y="6400800"/>
            <a:ext cx="11338560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— SRA Download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4864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73152" cy="4937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WORKFLOW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esearch / efetch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GSE122709 → 15 SRR accessions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prefetch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30815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SRA archive files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3657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fasterq-dump --split-3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9502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 to FASTQ — split into R1/R2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25880" y="4526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pigz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48188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gzip compression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25880" y="5394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56875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checksum &amp; file count = 30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1417320"/>
            <a:ext cx="2743200" cy="1828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8076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1691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GB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080760" y="25511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compressed FASTQ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06840" y="1417320"/>
            <a:ext cx="2743200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00684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COUNT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06840" y="1691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9006840" y="25511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Paired-end FASTQ files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80760" y="3337560"/>
            <a:ext cx="2743200" cy="1828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80760" y="3410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3611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6080760" y="44714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samples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06840" y="3337560"/>
            <a:ext cx="2743200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006840" y="3410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006840" y="3611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hr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9006840" y="44714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time (parallel)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80760" y="5349240"/>
            <a:ext cx="56692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53949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COMMAND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63640" y="565099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prefetch SRR8207876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fasterq-dump SRR8207876 --split-3 --skip-technical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Quality Control — FastQC + MultiQC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RESULTS — ALL 30 FASTQ FILES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5943600" cy="320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48840"/>
            <a:ext cx="5943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length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 bp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66360" y="2203704"/>
            <a:ext cx="109728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2037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514600"/>
            <a:ext cx="5943600" cy="365760"/>
          </a:xfrm>
          <a:prstGeom prst="rect">
            <a:avLst/>
          </a:prstGeom>
          <a:solidFill>
            <a:srgbClr val="F7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 sample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41–51 M pairs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66360" y="2569464"/>
            <a:ext cx="109728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569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880360"/>
            <a:ext cx="5943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Per-base quality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9748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Q-score &gt; Q30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2935224"/>
            <a:ext cx="109728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935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246120"/>
            <a:ext cx="5943600" cy="365760"/>
          </a:xfrm>
          <a:prstGeom prst="rect">
            <a:avLst/>
          </a:prstGeom>
          <a:solidFill>
            <a:srgbClr val="F7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content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detected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66360" y="3300984"/>
            <a:ext cx="109728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300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611880"/>
            <a:ext cx="5943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content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9748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44–50%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66360" y="3666744"/>
            <a:ext cx="1097280" cy="25603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6667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977640"/>
            <a:ext cx="5943600" cy="365760"/>
          </a:xfrm>
          <a:prstGeom prst="rect">
            <a:avLst/>
          </a:prstGeom>
          <a:solidFill>
            <a:srgbClr val="F7F5F0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duplication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9748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Bio-expected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66360" y="4032504"/>
            <a:ext cx="109728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40325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FAIL*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343400"/>
            <a:ext cx="5943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Per-base content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69748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Hexamer bias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66360" y="4398264"/>
            <a:ext cx="109728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4398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FAIL*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47823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Expected biology in RNA-seq, not a quality issue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92240" y="1417320"/>
            <a:ext cx="52578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92240" y="1417320"/>
            <a:ext cx="73152" cy="4937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HIDING IN THE QC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75120" y="1874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duplication in stroke samples is a real biological signal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67512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(Controls)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595360" y="2624328"/>
            <a:ext cx="2286000" cy="1828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95360" y="2624328"/>
            <a:ext cx="1623060" cy="182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27080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7512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(Acute stroke)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595360" y="2990088"/>
            <a:ext cx="2286000" cy="1828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95360" y="2990088"/>
            <a:ext cx="1074420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2708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675120" y="3520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duplication = more diverse transcripts. Acute stroke patients show a broader, more activated transcriptional landscape.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675120" y="4663440"/>
            <a:ext cx="4937760" cy="1508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12280" y="4754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12280" y="50749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samples passed quality thresholds. No read trimming or sample exclusion. Proceed directly to alignment.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Alignment — HISAT2 → SAMtools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ALIGNMENT RATES (HISAT2 → GRCh38)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NC_1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25880" y="191109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911096"/>
            <a:ext cx="2424074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28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94.82%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NC_3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25880" y="218541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2185416"/>
            <a:ext cx="2871673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NC_4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25880" y="245973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2459736"/>
            <a:ext cx="2906878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3774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651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NC_5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25880" y="273405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5880" y="2734056"/>
            <a:ext cx="2610155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651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926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NC_6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25880" y="300837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5880" y="3008376"/>
            <a:ext cx="1232154" cy="118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D1_1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25880" y="328269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3282696"/>
            <a:ext cx="2655418" cy="1188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200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474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D1_2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25880" y="355701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5880" y="3557016"/>
            <a:ext cx="2942082" cy="1188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4747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D1_3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25880" y="383133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25880" y="3831336"/>
            <a:ext cx="2358695" cy="1188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749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94.69%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4023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D1_4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325880" y="410565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25880" y="4105656"/>
            <a:ext cx="2776118" cy="1188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40233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95.52%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4297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D1_5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325880" y="437997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4379976"/>
            <a:ext cx="2796235" cy="1188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4297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95.56%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4572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D2_1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325880" y="465429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25880" y="4654296"/>
            <a:ext cx="2756002" cy="118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4572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95.48%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4846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D2_2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325880" y="492861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25880" y="4928616"/>
            <a:ext cx="2725826" cy="118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4846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2920" y="5120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D2_3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325880" y="520293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25880" y="5202936"/>
            <a:ext cx="2625242" cy="118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5120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95.22%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02920" y="5394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D2_4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325880" y="547725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25880" y="5477256"/>
            <a:ext cx="2434133" cy="118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94.84%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02920" y="5669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D2_6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325880" y="5751576"/>
            <a:ext cx="5029200" cy="118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25880" y="5751576"/>
            <a:ext cx="3037637" cy="118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5669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96.04%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325880" y="5989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                                                       100 %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406640" y="1417320"/>
            <a:ext cx="4343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406640" y="1417320"/>
            <a:ext cx="73152" cy="2286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8952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HISAT2 PARAMETERS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589520" y="1828800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--dta      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downstream transcript-friendly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--rna-strandness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(paired reverse)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4       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alignment threads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 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GRCh38 (basic, no SNP)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406640" y="3840480"/>
            <a:ext cx="4343400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758952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ALIGNMENT RATE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589520" y="41605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95.1 %</a:t>
            </a:r>
            <a:endParaRPr lang="en-US" sz="3600" dirty="0"/>
          </a:p>
        </p:txBody>
      </p:sp>
      <p:sp>
        <p:nvSpPr>
          <p:cNvPr id="76" name="Shape 74"/>
          <p:cNvSpPr/>
          <p:nvPr/>
        </p:nvSpPr>
        <p:spPr>
          <a:xfrm>
            <a:off x="7406640" y="5120640"/>
            <a:ext cx="4343400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0" y="52120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589520" y="55321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HISAT2 loads the GRCh38 index (~8 GB) into RAM. Samples processed sequentially to fit within 16 GB system limit.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/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Quantification — featureCounts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4754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73152" cy="2926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FEATURECOUNTS PARAMETERS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4480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--countReadPairs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fragments, not reads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 0            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unstranded counting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-B              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reads must map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              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exclude chimeric pairs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 exon -g gene_id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exon-level → gene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          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GENCODE v44 GTF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1417320"/>
            <a:ext cx="320040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49240" y="1490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49240" y="1691640"/>
            <a:ext cx="3200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62,700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349240" y="2267712"/>
            <a:ext cx="3200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GENCODE genes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0" y="1417320"/>
            <a:ext cx="3154680" cy="137160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95360" y="14904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95360" y="1691640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23,995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595360" y="2267712"/>
            <a:ext cx="31546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after pre-filter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2926080"/>
            <a:ext cx="3200400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49240" y="2999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9240" y="3200400"/>
            <a:ext cx="3200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34–47%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349240" y="3776472"/>
            <a:ext cx="3200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assignment 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2926080"/>
            <a:ext cx="3154680" cy="13716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95360" y="299923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3200400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14–25 M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595360" y="3776472"/>
            <a:ext cx="31546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read pairs / sample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526280"/>
            <a:ext cx="11338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4526280"/>
            <a:ext cx="73152" cy="1828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617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PRE-FILTERING RATIONALE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93776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genes with &lt; 10 counts in fewer than 5 samples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removes ~62% of annotated features that are noise-only.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dramatically improves multiple-testing power without removing biology — DESeq2 still applies independent filtering downstream.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Expression — DESeq2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194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219456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031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factors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for library-size differences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10612" y="2331720"/>
            <a:ext cx="118872" cy="182880"/>
          </a:xfrm>
          <a:prstGeom prst="righ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417320"/>
            <a:ext cx="2194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0" y="1417320"/>
            <a:ext cx="2194560" cy="54864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348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432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80360" y="25146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per-gene biological variance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42332" y="2331720"/>
            <a:ext cx="118872" cy="182880"/>
          </a:xfrm>
          <a:prstGeom prst="righ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417320"/>
            <a:ext cx="2194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74920" y="1417320"/>
            <a:ext cx="21945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749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Fit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25146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 ~ condition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74052" y="2331720"/>
            <a:ext cx="118872" cy="182880"/>
          </a:xfrm>
          <a:prstGeom prst="righ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1417320"/>
            <a:ext cx="2194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06640" y="1417320"/>
            <a:ext cx="219456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0982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43800" y="25146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vs NC  &amp;  D2 vs NC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05772" y="2331720"/>
            <a:ext cx="118872" cy="182880"/>
          </a:xfrm>
          <a:prstGeom prst="righ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38360" y="1417320"/>
            <a:ext cx="21945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38360" y="1417320"/>
            <a:ext cx="2194560" cy="5486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29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14300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≣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7383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apeglm Shrink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875520" y="25146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log2 fold changes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3749040"/>
            <a:ext cx="55778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11480" y="3749040"/>
            <a:ext cx="73152" cy="2606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840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THRESHOLDS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" y="416052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padj &lt; 0.05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Benjamini-Hochberg FDR control
</a:t>
            </a:r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|log2FC| &gt; 1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At least 2-fold change
</a:t>
            </a:r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filtering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Auto-applied by DESeq2
</a:t>
            </a:r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Cook's distance flag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Outlier-driven genes excluded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172200" y="3749040"/>
            <a:ext cx="55778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3749040"/>
            <a:ext cx="73152" cy="2606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3840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FORMULA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55080" y="4160520"/>
            <a:ext cx="521208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dds &lt;- DESeqDataSetFromMatrix(counts, coldata,  ~ condition 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55080" y="480060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factor levels: </a:t>
            </a:r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stroke_d1 · stroke_d2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contrasts run on the same fitted model — preserves variance estimates and improves dispersion accuracy across all 15 samples.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Sample-Level Quality — PCA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68580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nice-vibrant-ramanujan/mnt/outputs/figures/pca_all_samp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667512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417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PCA?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52360" y="173736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24,000-dimensional gene-expression data into two summary axes (PC1, PC2). Samples that cluster together have similar transcriptomes.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2926080"/>
            <a:ext cx="429768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52360" y="342900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523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13816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 separate cleanly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38160" y="36941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captures most variance — controls vs stroke gradient.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52360" y="429768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523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13816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sits between NC and D1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38160" y="45628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partial transcriptomic recovery by Day 2.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52360" y="5166360"/>
            <a:ext cx="502920" cy="5029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45236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138160" y="5120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outliers detected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138160" y="54315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samples within group ellipses — no batch effect.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452360" y="5989320"/>
            <a:ext cx="4297680" cy="3657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5989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Biological signal dominates — proceed to DGE analysis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 Summary — Acute Stroke (D1 vs NC)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703320" cy="16916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9047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PADJ &lt; 0.05  ·  |LFC| &gt;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37033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8,594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466137"/>
            <a:ext cx="370332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703320" cy="16916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51960" y="149047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STROKE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51960" y="1691640"/>
            <a:ext cx="37033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4,890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251960" y="2466137"/>
            <a:ext cx="370332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Up-regulated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657600" cy="16916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92440" y="1490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 STROKE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92440" y="1691640"/>
            <a:ext cx="365760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092440" y="2466137"/>
            <a:ext cx="365760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Down-regulated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291840"/>
            <a:ext cx="1133856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91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35.8%</a:t>
            </a:r>
            <a:pPr indent="0" marL="0">
              <a:buNone/>
            </a:pPr>
            <a:r>
              <a:rPr lang="en-US" sz="16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all expressed genes are dysregulated  —  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extraordinary systemic alarm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411480" y="4434840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434840"/>
            <a:ext cx="73152" cy="1920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526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UP-REGULATED (selected)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84632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RPL/RPS family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ribosomal proteins · global translation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Histones (H1/H2A/H2B/H3/H4)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chromatin / NET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CXCL9, CXCL10, CXCL5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pro-inflammatory chemokines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ELANE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neutrophil elastase · NET formation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S100A12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alarmin · myeloid activation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434840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4434840"/>
            <a:ext cx="73152" cy="1920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526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DOWN-REGULATED (selected)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4846320"/>
            <a:ext cx="5303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PPBP (CXCL7)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chemokine · LFC = −4.69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RGS18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activation regulator · LFC = −3.2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CXCR4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chemokine receptor · lymphocyte trafficking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CD160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T/NK cell receptor · cytotoxicity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IL7R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 survival · immunosuppression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 — Acute Stroke (D1 vs NC)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76809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nice-vibrant-ramanujan/mnt/outputs/figures/volcano_D1_vs_N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749808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75320" y="17373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log2 fold 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−log10(adjusted p-value)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origin = significance × effect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75320" y="2834640"/>
            <a:ext cx="228600" cy="2286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Up-regulated DEG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75320" y="3200400"/>
            <a:ext cx="228600" cy="2286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Down-regulated DEG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75320" y="356616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75320" y="4023360"/>
            <a:ext cx="3474720" cy="23317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1248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412480" y="4434840"/>
            <a:ext cx="3291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Volcano is wide &amp; tall — extreme effect &amp; significance
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Right side dominated by ribosomal &amp; immune effectors
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Far left tail driven by PPBP and platelet transcripts
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padj approaches 10⁻²⁰⁰ for ribosomal RPL/RPS family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Top 50 DEGs Across All Samples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73152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nice-vibrant-ramanujan/mnt/outputs/figures/heatmap_top50_DEGs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713232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Z-SCORED EXPRESSION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09560" y="1737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gene, each column a sample. Colors show how many SD a sample is above (red) or below (blue) the gene's mean.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09560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458200" y="2971800"/>
            <a:ext cx="457200" cy="18288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15400" y="2971800"/>
            <a:ext cx="457200" cy="1828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72600" y="2971800"/>
            <a:ext cx="457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829800" y="2971800"/>
            <a:ext cx="4572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87000" y="2971800"/>
            <a:ext cx="457200" cy="182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909560" y="3429000"/>
            <a:ext cx="384048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REVEALS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09560" y="3931920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9095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59536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column blocks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595360" y="41970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vs control samples cluster cleanly.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909560" y="475488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9095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≣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595360" y="4709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row gene programs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595360" y="50200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vs down DEGs separate as horizontal bands.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09560" y="557784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90956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595360" y="5532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partially resembles NC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595360" y="58430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signature visible at 48 h post-stroke.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5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Subacute Phase — D2 vs NC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64008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nice-vibrant-ramanujan/mnt/outputs/figures/volcano_D2_vs_N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621792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951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COLLAPSE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9516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8,594 to 60 DEGs in 24 hours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95160" y="2331720"/>
            <a:ext cx="2286000" cy="1508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9516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8,594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99516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DEGs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326880" y="2926080"/>
            <a:ext cx="274320" cy="365760"/>
          </a:xfrm>
          <a:prstGeom prst="righ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46920" y="2331720"/>
            <a:ext cx="2103120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646920" y="2423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964692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DEGs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95160" y="4023360"/>
            <a:ext cx="475488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143× reduction in just 24 hours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995160" y="4663440"/>
            <a:ext cx="4754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95160" y="4663440"/>
            <a:ext cx="73152" cy="1691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78040" y="4754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DRIVING THE NORMALIZATION?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178040" y="50749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DUSP2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DUSP8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dual-specificity phosphatases — are upregulated. They actively dephosphorylate ERK and p38 MAPK to </a:t>
            </a:r>
            <a:pPr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down inflammatory signaling.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6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Overlap — Persistent vs Transient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∩  D2  DEG VENN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4754880" cy="4114800"/>
          </a:xfrm>
          <a:prstGeom prst="ellipse">
            <a:avLst/>
          </a:prstGeom>
          <a:solidFill>
            <a:srgbClr val="B91C1C">
              <a:alpha val="50000"/>
            </a:srgbClr>
          </a:solidFill>
          <a:ln w="25400">
            <a:solidFill>
              <a:srgbClr val="B91C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920240"/>
            <a:ext cx="4023360" cy="4114800"/>
          </a:xfrm>
          <a:prstGeom prst="ellipse">
            <a:avLst/>
          </a:prstGeom>
          <a:solidFill>
            <a:srgbClr val="D4A017">
              <a:alpha val="50000"/>
            </a:srgbClr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657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only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8,539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3657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only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(Acute)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(Subacute)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1417320"/>
            <a:ext cx="43434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06640" y="1417320"/>
            <a:ext cx="73152" cy="4937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READOUT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1920240"/>
            <a:ext cx="4023360" cy="1371600"/>
          </a:xfrm>
          <a:prstGeom prst="rect">
            <a:avLst/>
          </a:prstGeom>
          <a:solidFill>
            <a:srgbClr val="F7F5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920240"/>
            <a:ext cx="914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33272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33272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changes — prime candidates for biomarkers and therapeutic targets.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3429000"/>
            <a:ext cx="4023360" cy="1371600"/>
          </a:xfrm>
          <a:prstGeom prst="rect">
            <a:avLst/>
          </a:prstGeom>
          <a:solidFill>
            <a:srgbClr val="F7F5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3429000"/>
            <a:ext cx="91440" cy="13716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ACUTE-ONLY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32720" y="3474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8,539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33272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3840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transient alarm — resolves quickly. Time-of-sampling is critical.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4937760"/>
            <a:ext cx="4023360" cy="1371600"/>
          </a:xfrm>
          <a:prstGeom prst="rect">
            <a:avLst/>
          </a:prstGeom>
          <a:solidFill>
            <a:srgbClr val="F7F5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4937760"/>
            <a:ext cx="91440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4983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LATE-EMERGING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32720" y="4983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332720" y="5394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53492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altered at 48 h — recovery / resolution program.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/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Enrichment — Three Complementary Tests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7490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3749040" cy="11887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OVER-REPRESENTATION (ORA)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Ontology (GO)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DEGs are over-enriched for biological processes (BP), molecular functions (MF), or cellular components (CC) compared to chance. Hypergeometric test on background of all tested genes.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5852160"/>
            <a:ext cx="3291840" cy="36576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852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GO  /  6 GO  (D1 / D2)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1417320"/>
            <a:ext cx="37490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417320"/>
            <a:ext cx="3749040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PATHWAY-LEVEL ORA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43400" y="17830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34340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Pathways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333756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DEGs are over-enriched for curated KEGG pathway gene sets (e.g., NET formation, oxidative phosphorylation, TLR signaling). Provides systems-level interpretation of DEG lists.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5852160"/>
            <a:ext cx="3291840" cy="36576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5852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KEGG  /  2 KEGG  (D1 / D2)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5320" y="1417320"/>
            <a:ext cx="37490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75320" y="1417320"/>
            <a:ext cx="3749040" cy="1188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RANK-BASED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17830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827532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3920" y="333756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entire gene list ranked by sign(LFC) × −log10(p). Tests whether members of a gene set are coordinately enriched at the top or bottom of the ranking — no significance cutoff needed.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03920" y="5852160"/>
            <a:ext cx="3291840" cy="36576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5852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GSEA  /  155 GSEA  (D1 / D2)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7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Pathway Enrichment — Acute Stroke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64008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nice-vibrant-ramanujan/mnt/outputs/figures/kegg_dotplot_D1_vs_N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621792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9516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KEGG PATHWAYS  ·  D1 vs NC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95160" y="1783080"/>
            <a:ext cx="4754880" cy="320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555480" y="1783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3272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p.adj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995160" y="2103120"/>
            <a:ext cx="47548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95160" y="2103120"/>
            <a:ext cx="914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78040" y="2103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555480" y="21031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33272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5.7e-23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95160" y="2487168"/>
            <a:ext cx="4754880" cy="384048"/>
          </a:xfrm>
          <a:prstGeom prst="rect">
            <a:avLst/>
          </a:prstGeom>
          <a:solidFill>
            <a:srgbClr val="F7F5F0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95160" y="2487168"/>
            <a:ext cx="9144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78040" y="24871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lupus erythem.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555480" y="24871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79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33272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1.1e-16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95160" y="2871216"/>
            <a:ext cx="47548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95160" y="2871216"/>
            <a:ext cx="9144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78040" y="28712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Alcoholism (chromatin)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555480" y="28712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33272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9.3e-11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995160" y="3255264"/>
            <a:ext cx="4754880" cy="384048"/>
          </a:xfrm>
          <a:prstGeom prst="rect">
            <a:avLst/>
          </a:prstGeom>
          <a:solidFill>
            <a:srgbClr val="F7F5F0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95160" y="3255264"/>
            <a:ext cx="91440" cy="384048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78040" y="32552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555480" y="325526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92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33272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8.9e-07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995160" y="3639312"/>
            <a:ext cx="47548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95160" y="3639312"/>
            <a:ext cx="9144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78040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formation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9555480" y="36393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82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033272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1.0e-05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995160" y="4023360"/>
            <a:ext cx="4754880" cy="384048"/>
          </a:xfrm>
          <a:prstGeom prst="rect">
            <a:avLst/>
          </a:prstGeom>
          <a:solidFill>
            <a:srgbClr val="F7F5F0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995160" y="4023360"/>
            <a:ext cx="9144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78040" y="4023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 disease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555480" y="40233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92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332720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2.8e-03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995160" y="4407408"/>
            <a:ext cx="47548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995160" y="4407408"/>
            <a:ext cx="9144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178040" y="44074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Oxidative phosphorylation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9555480" y="44074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49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10332720" y="4407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1.4e-02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995160" y="4791456"/>
            <a:ext cx="4754880" cy="384048"/>
          </a:xfrm>
          <a:prstGeom prst="rect">
            <a:avLst/>
          </a:prstGeom>
          <a:solidFill>
            <a:srgbClr val="F7F5F0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995160" y="4791456"/>
            <a:ext cx="9144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178040" y="47914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Spliceosome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9555480" y="479145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72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1033272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4.2e-02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995160" y="5669280"/>
            <a:ext cx="4754880" cy="6858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6995160" y="5669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biological themes emerge → next slides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7B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Biological Process — Acute Stroke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73152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nice-vibrant-ramanujan/mnt/outputs/figures/go_dotplot_D1_vs_N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713232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09560" y="1417320"/>
            <a:ext cx="3840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09560" y="1417320"/>
            <a:ext cx="91440" cy="11887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92440" y="160020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92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4108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&amp; Ribosome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41080" y="1828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RPL/RPS genes coordinately upregulated → immune cell activation primes for rapid protein synthesis.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909560" y="2670048"/>
            <a:ext cx="3840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909560" y="2670048"/>
            <a:ext cx="91440" cy="1188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92440" y="2852928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924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641080" y="2761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Formation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41080" y="30815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genes including ELANE, histones, MPO → neutrophil web release into circulation.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909560" y="3922776"/>
            <a:ext cx="3840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09560" y="3922776"/>
            <a:ext cx="91440" cy="1188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4105656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09244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641080" y="4014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Oxidative Phosphorylation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641080" y="433425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mitochondrial genes upregulated → metabolic reprogramming for cytokine production.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909560" y="5175504"/>
            <a:ext cx="38404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909560" y="5175504"/>
            <a:ext cx="91440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92440" y="5358384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092440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641080" y="52669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Response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641080" y="558698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CXCL5/9/10, S100A12, ELANE → recruit and activate immune effectors.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8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GSEA — Coordinated Pathway Shifts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8521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sessions/nice-vibrant-ramanujan/mnt/outputs/figures/gsea_ridgeplot_D1_vs_NC-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5669280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6172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vs  NC  ·  189 enriched GO-BP terms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5080" y="1417320"/>
            <a:ext cx="53949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sessions/nice-vibrant-ramanujan/mnt/outputs/figures/gsea_ridgeplot_D2_vs_NC-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1508760"/>
            <a:ext cx="5212080" cy="4572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6172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vs  NC  ·  155 enriched GO-BP terms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Biological Themes — Synthesized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5321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109728" cy="23317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581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1828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Translational Machinery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immune cells dramatically upregulate ribosomal proteins to produce cytokines, surface receptors, and effectors. Translates directly into the systemic inflammatory profile measured in plasma.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337560"/>
            <a:ext cx="512064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  112 ribosomal genes (KEGG p = 5.7×10⁻²³)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5321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17320"/>
            <a:ext cx="109728" cy="2331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600200"/>
            <a:ext cx="640080" cy="6400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69480" y="1581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69480" y="18288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Neutrophil Extracellular Traps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377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neutrophils release web-like structures of decondensed chromatin and granule proteins. NETs promote thrombosis at the cerebral lesion and can damage the blood-brain barrier.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337560"/>
            <a:ext cx="512064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  Histone H1/H2A/H2B/H3/H4 + ELANE upregulated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931920"/>
            <a:ext cx="55321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931920"/>
            <a:ext cx="109728" cy="2331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114800"/>
            <a:ext cx="640080" cy="6400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46304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63040" y="4343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Mitochondrial Reprogramming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48920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PBMCs shift toward oxidative phosphorylation to meet the energy demand of immune activation. Coordinated upregulation of mtDNA-encoded and nuclear-encoded electron-transport chain genes.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5852160"/>
            <a:ext cx="512064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852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  OxPhos enriched (49 genes, padj = 0.014)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931920"/>
            <a:ext cx="55321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931920"/>
            <a:ext cx="109728" cy="2331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1148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26948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69480" y="4343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Effectors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2240" y="48920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Chemokine release (CXCL5/9/10), alarmins (S100A12), and granule proteases mobilize and activate immune defenders systemically — the classic 'sterile inflammation' of injury.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5852160"/>
            <a:ext cx="5120640" cy="320040"/>
          </a:xfrm>
          <a:prstGeom prst="rect">
            <a:avLst/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5852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  Antimicrobial humoral response (p = 5.4×10⁻⁵)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Bench to Bedside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7490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3749040" cy="12801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55 genes persistently dysregulated at 48 h could form a blood-based stroke severity / prognosis panel — feasible with a simple PCR or NanoString assay in any clinical lab.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7490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417320"/>
            <a:ext cx="3749040" cy="1280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343400" y="2834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Targets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3832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DNase I trials are exploring NET degradation as a stroke therapy. Our results validate the relevance of NET-related genes in peripheral blood as response markers.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75320" y="1417320"/>
            <a:ext cx="37490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1417320"/>
            <a:ext cx="3749040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600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8275320" y="2834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49640" y="33832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PIDS — post-stroke immunodepression syndrome — predisposes patients to pneumonia and UTIs. The DUSP2/DUSP8 signature at Day 2 may flag patients at highest risk.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5349240"/>
            <a:ext cx="11338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5349240"/>
            <a:ext cx="73152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440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 ·  PPBP (CXCL7) DOWNREGULATION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760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LFC = −4.69, padj = 1.2×10⁻⁵⁷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likely reflects platelet consumption at the thrombotic site and active suppression of platelet-derived neutrophil recruitment. </a:t>
            </a:r>
            <a:pPr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 single-gene marker of acute stroke biology in blood.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594360" cy="5943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OUTLOOK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658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Couldn't Answer  ·  What's Next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5778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557784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05740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0116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3042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 per group limits power; minor effects may be missed.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898648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↹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8529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PBMC heterogeneity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1455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averages mask which cell type drives each signal — single-cell would resolve this.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739896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69417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timepoints only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98678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beyond Day 2 — we cannot trace recovery dynamics out to weeks.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581144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45354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rate 34–47%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82803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ideal 60% benchmark — may reflect intronic reads / unstranded protocol.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5422392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5376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metadata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56692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stroke severity (NIHSS), or outcome data not linked here.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1417320"/>
            <a:ext cx="55778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1417320"/>
            <a:ext cx="5577840" cy="457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2057400"/>
            <a:ext cx="457200" cy="4572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55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49440" y="20116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 larger cohort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23042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persistent 55-gene signature in n ≥ 50 patient cohort.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2898648"/>
            <a:ext cx="457200" cy="4572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5508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49440" y="28529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 RNA-seq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49440" y="31455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which PBMC cell subset drives each signal.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5080" y="3739896"/>
            <a:ext cx="457200" cy="4572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5508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49440" y="369417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longitudinal sampling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49440" y="398678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Day 7, Month 1 and Month 3 timepoints.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4581144"/>
            <a:ext cx="457200" cy="4572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5508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949440" y="45354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to clinical outcomes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9440" y="482803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gene signatures with stroke severity, infections, 90-day mRS.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5422392"/>
            <a:ext cx="457200" cy="4572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5508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949440" y="5376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validation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49440" y="56692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DUSP2/DUSP8 knockdown in monocyte models.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GSE122709 · Differential Gene Expression in Acute Ischemic Stroke · DATA_SCI_8110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515600" y="6583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We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777240"/>
          </a:xfrm>
          <a:prstGeom prst="rect">
            <a:avLst/>
          </a:prstGeom>
          <a:solidFill>
            <a:srgbClr val="2E5C8A">
              <a:alpha val="3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47672"/>
            <a:ext cx="548640" cy="5486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8,594 DEGs at Day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20370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ischemic stroke triggers a transcriptomic alarm in PBMCs that exceeds typical immune stimulation by 2–4×.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2E5C8A">
              <a:alpha val="3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798064"/>
            <a:ext cx="548640" cy="5486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7249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convergent themes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05409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NET formation, oxidative phosphorylation, and antimicrobial effectors dominate the response.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2E5C8A">
              <a:alpha val="3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648456"/>
            <a:ext cx="548640" cy="5486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57530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Day-2 normalization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904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60 DEGs remain at 48 hours — over 99% of changes are transient.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79976"/>
            <a:ext cx="11064240" cy="777240"/>
          </a:xfrm>
          <a:prstGeom prst="rect">
            <a:avLst/>
          </a:prstGeom>
          <a:solidFill>
            <a:srgbClr val="2E5C8A">
              <a:alpha val="3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498848"/>
            <a:ext cx="548640" cy="5486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498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442569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persistent biomarker genes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754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at both timepoints — candidates for blood-based diagnostic / prognostic panels.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11064240" cy="777240"/>
          </a:xfrm>
          <a:prstGeom prst="rect">
            <a:avLst/>
          </a:prstGeom>
          <a:solidFill>
            <a:srgbClr val="2E5C8A">
              <a:alpha val="3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17320" y="527608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DUSP-driven resolution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56052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DUSP2/8 upregulation at Day 2 indicates active MAPK suppression — possibly underlying post-stroke immunodepression.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263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pPr indent="0" marL="0">
              <a:buNone/>
            </a:pPr>
            <a:r>
              <a:rPr lang="en-US" sz="13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Questions, critique, and methodological suggestions are most welcome.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PBMC RNA-seq in Acute Ischemic Stroke</dc:title>
  <dc:subject>GSE122709 Differential Gene Expression Analysis</dc:subject>
  <dc:creator>Samrat — DATA_SCI_8110</dc:creator>
  <cp:lastModifiedBy>Samrat — DATA_SCI_8110</cp:lastModifiedBy>
  <cp:revision>1</cp:revision>
  <dcterms:created xsi:type="dcterms:W3CDTF">2026-05-01T03:31:45Z</dcterms:created>
  <dcterms:modified xsi:type="dcterms:W3CDTF">2026-05-01T03:31:45Z</dcterms:modified>
</cp:coreProperties>
</file>